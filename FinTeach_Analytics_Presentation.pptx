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2560320"/>
            <a:ext cx="1211580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10972800" cy="914400"/>
          </a:xfrm>
          <a:prstGeom prst="rect">
            <a:avLst/>
          </a:prstGeom>
          <a:noFill/>
        </p:spPr>
        <p:txBody>
          <a:bodyPr wrap="square">
            <a:spAutoFit/>
          </a:bodyPr>
          <a:lstStyle/>
          <a:p>
            <a:pPr algn="l"/>
            <a:r>
              <a:rPr sz="5600" b="1">
                <a:solidFill>
                  <a:srgbClr val="C7D2FE"/>
                </a:solidFill>
                <a:latin typeface="Calibri"/>
              </a:rPr>
              <a:t>FinTeach</a:t>
            </a:r>
          </a:p>
        </p:txBody>
      </p:sp>
      <p:sp>
        <p:nvSpPr>
          <p:cNvPr id="5" name="TextBox 4"/>
          <p:cNvSpPr txBox="1"/>
          <p:nvPr/>
        </p:nvSpPr>
        <p:spPr>
          <a:xfrm>
            <a:off x="457200" y="1508760"/>
            <a:ext cx="10972800" cy="548640"/>
          </a:xfrm>
          <a:prstGeom prst="rect">
            <a:avLst/>
          </a:prstGeom>
          <a:noFill/>
        </p:spPr>
        <p:txBody>
          <a:bodyPr wrap="square">
            <a:spAutoFit/>
          </a:bodyPr>
          <a:lstStyle/>
          <a:p>
            <a:pPr algn="l"/>
            <a:r>
              <a:rPr sz="2400" b="0">
                <a:solidFill>
                  <a:srgbClr val="FFFFFF"/>
                </a:solidFill>
                <a:latin typeface="Calibri"/>
              </a:rPr>
              <a:t>Predictive Analytics for Personal Financial Health</a:t>
            </a:r>
          </a:p>
        </p:txBody>
      </p:sp>
      <p:sp>
        <p:nvSpPr>
          <p:cNvPr id="6" name="TextBox 5"/>
          <p:cNvSpPr txBox="1"/>
          <p:nvPr/>
        </p:nvSpPr>
        <p:spPr>
          <a:xfrm>
            <a:off x="457200" y="2103120"/>
            <a:ext cx="10972800" cy="457200"/>
          </a:xfrm>
          <a:prstGeom prst="rect">
            <a:avLst/>
          </a:prstGeom>
          <a:noFill/>
        </p:spPr>
        <p:txBody>
          <a:bodyPr wrap="square">
            <a:spAutoFit/>
          </a:bodyPr>
          <a:lstStyle/>
          <a:p>
            <a:pPr algn="l"/>
            <a:r>
              <a:rPr sz="1400" b="0">
                <a:solidFill>
                  <a:srgbClr val="94A3B8"/>
                </a:solidFill>
                <a:latin typeface="Calibri"/>
              </a:rPr>
              <a:t>A Machine Learning Approach Using K-Means Clustering,
Random Forest Regression, and Rule-Based Overspending Detection</a:t>
            </a:r>
          </a:p>
        </p:txBody>
      </p:sp>
      <p:sp>
        <p:nvSpPr>
          <p:cNvPr id="7" name="TextBox 6"/>
          <p:cNvSpPr txBox="1"/>
          <p:nvPr/>
        </p:nvSpPr>
        <p:spPr>
          <a:xfrm>
            <a:off x="457200" y="2926080"/>
            <a:ext cx="10972800" cy="365760"/>
          </a:xfrm>
          <a:prstGeom prst="rect">
            <a:avLst/>
          </a:prstGeom>
          <a:noFill/>
        </p:spPr>
        <p:txBody>
          <a:bodyPr wrap="square">
            <a:spAutoFit/>
          </a:bodyPr>
          <a:lstStyle/>
          <a:p>
            <a:pPr algn="l"/>
            <a:r>
              <a:rPr sz="1400" b="0">
                <a:solidFill>
                  <a:srgbClr val="FFFFFF"/>
                </a:solidFill>
                <a:latin typeface="Calibri"/>
              </a:rPr>
              <a:t>Course:   Consumer Finance Analytics</a:t>
            </a:r>
          </a:p>
        </p:txBody>
      </p:sp>
      <p:sp>
        <p:nvSpPr>
          <p:cNvPr id="8" name="TextBox 7"/>
          <p:cNvSpPr txBox="1"/>
          <p:nvPr/>
        </p:nvSpPr>
        <p:spPr>
          <a:xfrm>
            <a:off x="457200" y="3337560"/>
            <a:ext cx="10972800" cy="365760"/>
          </a:xfrm>
          <a:prstGeom prst="rect">
            <a:avLst/>
          </a:prstGeom>
          <a:noFill/>
        </p:spPr>
        <p:txBody>
          <a:bodyPr wrap="square">
            <a:spAutoFit/>
          </a:bodyPr>
          <a:lstStyle/>
          <a:p>
            <a:pPr algn="l"/>
            <a:r>
              <a:rPr sz="1400" b="0">
                <a:solidFill>
                  <a:srgbClr val="FFFFFF"/>
                </a:solidFill>
                <a:latin typeface="Calibri"/>
              </a:rPr>
              <a:t>Tools:      R 4.6  ·  Plumber REST API  ·  ggplot2  ·  randomForest  ·  Next.js 15</a:t>
            </a:r>
          </a:p>
        </p:txBody>
      </p:sp>
      <p:sp>
        <p:nvSpPr>
          <p:cNvPr id="9" name="TextBox 8"/>
          <p:cNvSpPr txBox="1"/>
          <p:nvPr/>
        </p:nvSpPr>
        <p:spPr>
          <a:xfrm>
            <a:off x="457200" y="3749039"/>
            <a:ext cx="10972800" cy="365760"/>
          </a:xfrm>
          <a:prstGeom prst="rect">
            <a:avLst/>
          </a:prstGeom>
          <a:noFill/>
        </p:spPr>
        <p:txBody>
          <a:bodyPr wrap="square">
            <a:spAutoFit/>
          </a:bodyPr>
          <a:lstStyle/>
          <a:p>
            <a:pPr algn="l"/>
            <a:r>
              <a:rPr sz="1400" b="0">
                <a:solidFill>
                  <a:srgbClr val="FFFFFF"/>
                </a:solidFill>
                <a:latin typeface="Calibri"/>
              </a:rPr>
              <a:t>Data:       Kaggle Personal Finance Dataset  (15,000+ individuals)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 Introduction — Research Objectives</a:t>
            </a:r>
          </a:p>
        </p:txBody>
      </p:sp>
      <p:sp>
        <p:nvSpPr>
          <p:cNvPr id="4" name="Rectangle 3"/>
          <p:cNvSpPr/>
          <p:nvPr/>
        </p:nvSpPr>
        <p:spPr>
          <a:xfrm>
            <a:off x="274320" y="804672"/>
            <a:ext cx="117957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10972800" cy="411480"/>
          </a:xfrm>
          <a:prstGeom prst="rect">
            <a:avLst/>
          </a:prstGeom>
          <a:noFill/>
        </p:spPr>
        <p:txBody>
          <a:bodyPr wrap="square">
            <a:spAutoFit/>
          </a:bodyPr>
          <a:lstStyle/>
          <a:p>
            <a:pPr algn="l"/>
            <a:r>
              <a:rPr sz="1700" b="1">
                <a:solidFill>
                  <a:srgbClr val="C7D2FE"/>
                </a:solidFill>
                <a:latin typeface="Calibri"/>
              </a:rPr>
              <a:t>Primary Objective</a:t>
            </a:r>
          </a:p>
        </p:txBody>
      </p:sp>
      <p:sp>
        <p:nvSpPr>
          <p:cNvPr id="6" name="TextBox 5"/>
          <p:cNvSpPr txBox="1"/>
          <p:nvPr/>
        </p:nvSpPr>
        <p:spPr>
          <a:xfrm>
            <a:off x="365760" y="1417320"/>
            <a:ext cx="11430000" cy="640080"/>
          </a:xfrm>
          <a:prstGeom prst="rect">
            <a:avLst/>
          </a:prstGeom>
          <a:noFill/>
        </p:spPr>
        <p:txBody>
          <a:bodyPr wrap="square">
            <a:spAutoFit/>
          </a:bodyPr>
          <a:lstStyle/>
          <a:p>
            <a:pPr algn="l"/>
            <a:r>
              <a:rPr sz="1400" b="0">
                <a:solidFill>
                  <a:srgbClr val="FFFFFF"/>
                </a:solidFill>
                <a:latin typeface="Calibri"/>
              </a:rPr>
              <a:t>To develop a data-driven personal finance analytics system that uses machine learning
to segment consumers, predict future savings, and detect overspending patterns.</a:t>
            </a:r>
          </a:p>
        </p:txBody>
      </p:sp>
      <p:sp>
        <p:nvSpPr>
          <p:cNvPr id="7" name="TextBox 6"/>
          <p:cNvSpPr txBox="1"/>
          <p:nvPr/>
        </p:nvSpPr>
        <p:spPr>
          <a:xfrm>
            <a:off x="365760" y="2286000"/>
            <a:ext cx="10972800" cy="411480"/>
          </a:xfrm>
          <a:prstGeom prst="rect">
            <a:avLst/>
          </a:prstGeom>
          <a:noFill/>
        </p:spPr>
        <p:txBody>
          <a:bodyPr wrap="square">
            <a:spAutoFit/>
          </a:bodyPr>
          <a:lstStyle/>
          <a:p>
            <a:pPr algn="l"/>
            <a:r>
              <a:rPr sz="1700" b="1">
                <a:solidFill>
                  <a:srgbClr val="C7D2FE"/>
                </a:solidFill>
                <a:latin typeface="Calibri"/>
              </a:rPr>
              <a:t>Specific Objectives</a:t>
            </a:r>
          </a:p>
        </p:txBody>
      </p:sp>
      <p:sp>
        <p:nvSpPr>
          <p:cNvPr id="8" name="TextBox 7"/>
          <p:cNvSpPr txBox="1"/>
          <p:nvPr/>
        </p:nvSpPr>
        <p:spPr>
          <a:xfrm>
            <a:off x="457200" y="2743200"/>
            <a:ext cx="11338560" cy="384048"/>
          </a:xfrm>
          <a:prstGeom prst="rect">
            <a:avLst/>
          </a:prstGeom>
          <a:noFill/>
        </p:spPr>
        <p:txBody>
          <a:bodyPr wrap="square">
            <a:spAutoFit/>
          </a:bodyPr>
          <a:lstStyle/>
          <a:p>
            <a:pPr algn="l"/>
            <a:r>
              <a:rPr sz="1300" b="0">
                <a:solidFill>
                  <a:srgbClr val="FFFFFF"/>
                </a:solidFill>
                <a:latin typeface="Calibri"/>
              </a:rPr>
              <a:t>1.  Preprocess and transform raw survey data into meaningful financial features (27 engineered variables).</a:t>
            </a:r>
          </a:p>
        </p:txBody>
      </p:sp>
      <p:sp>
        <p:nvSpPr>
          <p:cNvPr id="9" name="TextBox 8"/>
          <p:cNvSpPr txBox="1"/>
          <p:nvPr/>
        </p:nvSpPr>
        <p:spPr>
          <a:xfrm>
            <a:off x="457200" y="3154680"/>
            <a:ext cx="11338560" cy="384048"/>
          </a:xfrm>
          <a:prstGeom prst="rect">
            <a:avLst/>
          </a:prstGeom>
          <a:noFill/>
        </p:spPr>
        <p:txBody>
          <a:bodyPr wrap="square">
            <a:spAutoFit/>
          </a:bodyPr>
          <a:lstStyle/>
          <a:p>
            <a:pPr algn="l"/>
            <a:r>
              <a:rPr sz="1300" b="0">
                <a:solidFill>
                  <a:srgbClr val="FFFFFF"/>
                </a:solidFill>
                <a:latin typeface="Calibri"/>
              </a:rPr>
              <a:t>2.  Apply K-Means clustering to segment consumers into distinct financial behavior personas.</a:t>
            </a:r>
          </a:p>
        </p:txBody>
      </p:sp>
      <p:sp>
        <p:nvSpPr>
          <p:cNvPr id="10" name="TextBox 9"/>
          <p:cNvSpPr txBox="1"/>
          <p:nvPr/>
        </p:nvSpPr>
        <p:spPr>
          <a:xfrm>
            <a:off x="457200" y="3566160"/>
            <a:ext cx="11338560" cy="384048"/>
          </a:xfrm>
          <a:prstGeom prst="rect">
            <a:avLst/>
          </a:prstGeom>
          <a:noFill/>
        </p:spPr>
        <p:txBody>
          <a:bodyPr wrap="square">
            <a:spAutoFit/>
          </a:bodyPr>
          <a:lstStyle/>
          <a:p>
            <a:pPr algn="l"/>
            <a:r>
              <a:rPr sz="1300" b="0">
                <a:solidFill>
                  <a:srgbClr val="FFFFFF"/>
                </a:solidFill>
                <a:latin typeface="Calibri"/>
              </a:rPr>
              <a:t>3.  Build a Random Forest regression model to forecast next-month savings based on 16 predictors.</a:t>
            </a:r>
          </a:p>
        </p:txBody>
      </p:sp>
      <p:sp>
        <p:nvSpPr>
          <p:cNvPr id="11" name="TextBox 10"/>
          <p:cNvSpPr txBox="1"/>
          <p:nvPr/>
        </p:nvSpPr>
        <p:spPr>
          <a:xfrm>
            <a:off x="457200" y="3977640"/>
            <a:ext cx="11338560" cy="384048"/>
          </a:xfrm>
          <a:prstGeom prst="rect">
            <a:avLst/>
          </a:prstGeom>
          <a:noFill/>
        </p:spPr>
        <p:txBody>
          <a:bodyPr wrap="square">
            <a:spAutoFit/>
          </a:bodyPr>
          <a:lstStyle/>
          <a:p>
            <a:pPr algn="l"/>
            <a:r>
              <a:rPr sz="1300" b="0">
                <a:solidFill>
                  <a:srgbClr val="FFFFFF"/>
                </a:solidFill>
                <a:latin typeface="Calibri"/>
              </a:rPr>
              <a:t>4.  Implement a rule-based overspending detection engine with 9 configurable financial thresholds.</a:t>
            </a:r>
          </a:p>
        </p:txBody>
      </p:sp>
      <p:sp>
        <p:nvSpPr>
          <p:cNvPr id="12" name="TextBox 11"/>
          <p:cNvSpPr txBox="1"/>
          <p:nvPr/>
        </p:nvSpPr>
        <p:spPr>
          <a:xfrm>
            <a:off x="457200" y="4389120"/>
            <a:ext cx="11338560" cy="384048"/>
          </a:xfrm>
          <a:prstGeom prst="rect">
            <a:avLst/>
          </a:prstGeom>
          <a:noFill/>
        </p:spPr>
        <p:txBody>
          <a:bodyPr wrap="square">
            <a:spAutoFit/>
          </a:bodyPr>
          <a:lstStyle/>
          <a:p>
            <a:pPr algn="l"/>
            <a:r>
              <a:rPr sz="1300" b="0">
                <a:solidFill>
                  <a:srgbClr val="FFFFFF"/>
                </a:solidFill>
                <a:latin typeface="Calibri"/>
              </a:rPr>
              <a:t>5.  Compute a composite Financial Health Score (0–100) for each user to summarize their financial status.</a:t>
            </a:r>
          </a:p>
        </p:txBody>
      </p:sp>
      <p:sp>
        <p:nvSpPr>
          <p:cNvPr id="13" name="TextBox 12"/>
          <p:cNvSpPr txBox="1"/>
          <p:nvPr/>
        </p:nvSpPr>
        <p:spPr>
          <a:xfrm>
            <a:off x="457200" y="4800600"/>
            <a:ext cx="11338560" cy="384048"/>
          </a:xfrm>
          <a:prstGeom prst="rect">
            <a:avLst/>
          </a:prstGeom>
          <a:noFill/>
        </p:spPr>
        <p:txBody>
          <a:bodyPr wrap="square">
            <a:spAutoFit/>
          </a:bodyPr>
          <a:lstStyle/>
          <a:p>
            <a:pPr algn="l"/>
            <a:r>
              <a:rPr sz="1300" b="0">
                <a:solidFill>
                  <a:srgbClr val="FFFFFF"/>
                </a:solidFill>
                <a:latin typeface="Calibri"/>
              </a:rPr>
              <a:t>6.  Generate automated diagnostic visualizations (ggplot2) to support exploratory data analysis.</a:t>
            </a:r>
          </a:p>
        </p:txBody>
      </p:sp>
      <p:sp>
        <p:nvSpPr>
          <p:cNvPr id="14" name="TextBox 13"/>
          <p:cNvSpPr txBox="1"/>
          <p:nvPr/>
        </p:nvSpPr>
        <p:spPr>
          <a:xfrm>
            <a:off x="457200" y="5212080"/>
            <a:ext cx="11338560" cy="384048"/>
          </a:xfrm>
          <a:prstGeom prst="rect">
            <a:avLst/>
          </a:prstGeom>
          <a:noFill/>
        </p:spPr>
        <p:txBody>
          <a:bodyPr wrap="square">
            <a:spAutoFit/>
          </a:bodyPr>
          <a:lstStyle/>
          <a:p>
            <a:pPr algn="l"/>
            <a:r>
              <a:rPr sz="1300" b="0">
                <a:solidFill>
                  <a:srgbClr val="FFFFFF"/>
                </a:solidFill>
                <a:latin typeface="Calibri"/>
              </a:rPr>
              <a:t>7.  Deploy the analytics as a REST API consumed by a web application for real-time user feedback.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2. Introduction — Research Questions</a:t>
            </a:r>
          </a:p>
        </p:txBody>
      </p:sp>
      <p:sp>
        <p:nvSpPr>
          <p:cNvPr id="4" name="Rectangle 3"/>
          <p:cNvSpPr/>
          <p:nvPr/>
        </p:nvSpPr>
        <p:spPr>
          <a:xfrm>
            <a:off x="274320" y="804672"/>
            <a:ext cx="117957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51560"/>
            <a:ext cx="11795760" cy="9601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51560"/>
            <a:ext cx="64008" cy="960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24712"/>
            <a:ext cx="914400" cy="320040"/>
          </a:xfrm>
          <a:prstGeom prst="rect">
            <a:avLst/>
          </a:prstGeom>
          <a:noFill/>
        </p:spPr>
        <p:txBody>
          <a:bodyPr wrap="square">
            <a:spAutoFit/>
          </a:bodyPr>
          <a:lstStyle/>
          <a:p>
            <a:pPr algn="l"/>
            <a:r>
              <a:rPr sz="1400" b="1">
                <a:solidFill>
                  <a:srgbClr val="10B981"/>
                </a:solidFill>
                <a:latin typeface="Calibri"/>
              </a:rPr>
              <a:t>RQ1</a:t>
            </a:r>
          </a:p>
        </p:txBody>
      </p:sp>
      <p:sp>
        <p:nvSpPr>
          <p:cNvPr id="8" name="TextBox 7"/>
          <p:cNvSpPr txBox="1"/>
          <p:nvPr/>
        </p:nvSpPr>
        <p:spPr>
          <a:xfrm>
            <a:off x="1463040" y="1124712"/>
            <a:ext cx="10424160" cy="777240"/>
          </a:xfrm>
          <a:prstGeom prst="rect">
            <a:avLst/>
          </a:prstGeom>
          <a:noFill/>
        </p:spPr>
        <p:txBody>
          <a:bodyPr wrap="square">
            <a:spAutoFit/>
          </a:bodyPr>
          <a:lstStyle/>
          <a:p>
            <a:pPr algn="l"/>
            <a:r>
              <a:rPr sz="1350" b="0">
                <a:solidFill>
                  <a:srgbClr val="FFFFFF"/>
                </a:solidFill>
                <a:latin typeface="Calibri"/>
              </a:rPr>
              <a:t>Can unsupervised clustering (K-Means) identify meaningful financial behavior segments
from consumer spending data?</a:t>
            </a:r>
          </a:p>
        </p:txBody>
      </p:sp>
      <p:sp>
        <p:nvSpPr>
          <p:cNvPr id="9" name="Rectangle 8"/>
          <p:cNvSpPr/>
          <p:nvPr/>
        </p:nvSpPr>
        <p:spPr>
          <a:xfrm>
            <a:off x="274320" y="2121408"/>
            <a:ext cx="11795760" cy="9601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121408"/>
            <a:ext cx="64008" cy="960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194560"/>
            <a:ext cx="914400" cy="320040"/>
          </a:xfrm>
          <a:prstGeom prst="rect">
            <a:avLst/>
          </a:prstGeom>
          <a:noFill/>
        </p:spPr>
        <p:txBody>
          <a:bodyPr wrap="square">
            <a:spAutoFit/>
          </a:bodyPr>
          <a:lstStyle/>
          <a:p>
            <a:pPr algn="l"/>
            <a:r>
              <a:rPr sz="1400" b="1">
                <a:solidFill>
                  <a:srgbClr val="10B981"/>
                </a:solidFill>
                <a:latin typeface="Calibri"/>
              </a:rPr>
              <a:t>RQ2</a:t>
            </a:r>
          </a:p>
        </p:txBody>
      </p:sp>
      <p:sp>
        <p:nvSpPr>
          <p:cNvPr id="12" name="TextBox 11"/>
          <p:cNvSpPr txBox="1"/>
          <p:nvPr/>
        </p:nvSpPr>
        <p:spPr>
          <a:xfrm>
            <a:off x="1463040" y="2194560"/>
            <a:ext cx="10424160" cy="777240"/>
          </a:xfrm>
          <a:prstGeom prst="rect">
            <a:avLst/>
          </a:prstGeom>
          <a:noFill/>
        </p:spPr>
        <p:txBody>
          <a:bodyPr wrap="square">
            <a:spAutoFit/>
          </a:bodyPr>
          <a:lstStyle/>
          <a:p>
            <a:pPr algn="l"/>
            <a:r>
              <a:rPr sz="1350" b="0">
                <a:solidFill>
                  <a:srgbClr val="FFFFFF"/>
                </a:solidFill>
                <a:latin typeface="Calibri"/>
              </a:rPr>
              <a:t>How accurately can a Random Forest model predict next-month savings using
current income, expense shares, and time-series lag features?</a:t>
            </a:r>
          </a:p>
        </p:txBody>
      </p:sp>
      <p:sp>
        <p:nvSpPr>
          <p:cNvPr id="13" name="Rectangle 12"/>
          <p:cNvSpPr/>
          <p:nvPr/>
        </p:nvSpPr>
        <p:spPr>
          <a:xfrm>
            <a:off x="274320" y="3191256"/>
            <a:ext cx="11795760" cy="9601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3191256"/>
            <a:ext cx="64008" cy="960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264408"/>
            <a:ext cx="914400" cy="320040"/>
          </a:xfrm>
          <a:prstGeom prst="rect">
            <a:avLst/>
          </a:prstGeom>
          <a:noFill/>
        </p:spPr>
        <p:txBody>
          <a:bodyPr wrap="square">
            <a:spAutoFit/>
          </a:bodyPr>
          <a:lstStyle/>
          <a:p>
            <a:pPr algn="l"/>
            <a:r>
              <a:rPr sz="1400" b="1">
                <a:solidFill>
                  <a:srgbClr val="10B981"/>
                </a:solidFill>
                <a:latin typeface="Calibri"/>
              </a:rPr>
              <a:t>RQ3</a:t>
            </a:r>
          </a:p>
        </p:txBody>
      </p:sp>
      <p:sp>
        <p:nvSpPr>
          <p:cNvPr id="16" name="TextBox 15"/>
          <p:cNvSpPr txBox="1"/>
          <p:nvPr/>
        </p:nvSpPr>
        <p:spPr>
          <a:xfrm>
            <a:off x="1463040" y="3264408"/>
            <a:ext cx="10424160" cy="777240"/>
          </a:xfrm>
          <a:prstGeom prst="rect">
            <a:avLst/>
          </a:prstGeom>
          <a:noFill/>
        </p:spPr>
        <p:txBody>
          <a:bodyPr wrap="square">
            <a:spAutoFit/>
          </a:bodyPr>
          <a:lstStyle/>
          <a:p>
            <a:pPr algn="l"/>
            <a:r>
              <a:rPr sz="1350" b="0">
                <a:solidFill>
                  <a:srgbClr val="FFFFFF"/>
                </a:solidFill>
                <a:latin typeface="Calibri"/>
              </a:rPr>
              <a:t>Which spending categories are the strongest predictors of future savings behavior?</a:t>
            </a:r>
          </a:p>
        </p:txBody>
      </p:sp>
      <p:sp>
        <p:nvSpPr>
          <p:cNvPr id="17" name="Rectangle 16"/>
          <p:cNvSpPr/>
          <p:nvPr/>
        </p:nvSpPr>
        <p:spPr>
          <a:xfrm>
            <a:off x="274320" y="4261104"/>
            <a:ext cx="11795760" cy="9601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261104"/>
            <a:ext cx="64008" cy="960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334256"/>
            <a:ext cx="914400" cy="320040"/>
          </a:xfrm>
          <a:prstGeom prst="rect">
            <a:avLst/>
          </a:prstGeom>
          <a:noFill/>
        </p:spPr>
        <p:txBody>
          <a:bodyPr wrap="square">
            <a:spAutoFit/>
          </a:bodyPr>
          <a:lstStyle/>
          <a:p>
            <a:pPr algn="l"/>
            <a:r>
              <a:rPr sz="1400" b="1">
                <a:solidFill>
                  <a:srgbClr val="10B981"/>
                </a:solidFill>
                <a:latin typeface="Calibri"/>
              </a:rPr>
              <a:t>RQ4</a:t>
            </a:r>
          </a:p>
        </p:txBody>
      </p:sp>
      <p:sp>
        <p:nvSpPr>
          <p:cNvPr id="20" name="TextBox 19"/>
          <p:cNvSpPr txBox="1"/>
          <p:nvPr/>
        </p:nvSpPr>
        <p:spPr>
          <a:xfrm>
            <a:off x="1463040" y="4334256"/>
            <a:ext cx="10424160" cy="777240"/>
          </a:xfrm>
          <a:prstGeom prst="rect">
            <a:avLst/>
          </a:prstGeom>
          <a:noFill/>
        </p:spPr>
        <p:txBody>
          <a:bodyPr wrap="square">
            <a:spAutoFit/>
          </a:bodyPr>
          <a:lstStyle/>
          <a:p>
            <a:pPr algn="l"/>
            <a:r>
              <a:rPr sz="1350" b="0">
                <a:solidFill>
                  <a:srgbClr val="FFFFFF"/>
                </a:solidFill>
                <a:latin typeface="Calibri"/>
              </a:rPr>
              <a:t>Can a rule-based overspending engine combined with a composite score reliably
flag users at financial risk?</a:t>
            </a:r>
          </a:p>
        </p:txBody>
      </p:sp>
      <p:sp>
        <p:nvSpPr>
          <p:cNvPr id="21" name="Rectangle 20"/>
          <p:cNvSpPr/>
          <p:nvPr/>
        </p:nvSpPr>
        <p:spPr>
          <a:xfrm>
            <a:off x="274320" y="5330952"/>
            <a:ext cx="11795760" cy="9601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5330952"/>
            <a:ext cx="64008" cy="960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404104"/>
            <a:ext cx="914400" cy="320040"/>
          </a:xfrm>
          <a:prstGeom prst="rect">
            <a:avLst/>
          </a:prstGeom>
          <a:noFill/>
        </p:spPr>
        <p:txBody>
          <a:bodyPr wrap="square">
            <a:spAutoFit/>
          </a:bodyPr>
          <a:lstStyle/>
          <a:p>
            <a:pPr algn="l"/>
            <a:r>
              <a:rPr sz="1400" b="1">
                <a:solidFill>
                  <a:srgbClr val="10B981"/>
                </a:solidFill>
                <a:latin typeface="Calibri"/>
              </a:rPr>
              <a:t>RQ5</a:t>
            </a:r>
          </a:p>
        </p:txBody>
      </p:sp>
      <p:sp>
        <p:nvSpPr>
          <p:cNvPr id="24" name="TextBox 23"/>
          <p:cNvSpPr txBox="1"/>
          <p:nvPr/>
        </p:nvSpPr>
        <p:spPr>
          <a:xfrm>
            <a:off x="1463040" y="5404104"/>
            <a:ext cx="10424160" cy="777240"/>
          </a:xfrm>
          <a:prstGeom prst="rect">
            <a:avLst/>
          </a:prstGeom>
          <a:noFill/>
        </p:spPr>
        <p:txBody>
          <a:bodyPr wrap="square">
            <a:spAutoFit/>
          </a:bodyPr>
          <a:lstStyle/>
          <a:p>
            <a:pPr algn="l"/>
            <a:r>
              <a:rPr sz="1350" b="0">
                <a:solidFill>
                  <a:srgbClr val="FFFFFF"/>
                </a:solidFill>
                <a:latin typeface="Calibri"/>
              </a:rPr>
              <a:t>Does deploying these models in a real-time web application provide actionable
financial insights to end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3. Introduction — Research Gap &amp; Hypothesis</a:t>
            </a:r>
          </a:p>
        </p:txBody>
      </p:sp>
      <p:sp>
        <p:nvSpPr>
          <p:cNvPr id="4" name="Rectangle 3"/>
          <p:cNvSpPr/>
          <p:nvPr/>
        </p:nvSpPr>
        <p:spPr>
          <a:xfrm>
            <a:off x="274320" y="804672"/>
            <a:ext cx="11795760" cy="36576"/>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5669280" cy="32004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5303520" cy="365760"/>
          </a:xfrm>
          <a:prstGeom prst="rect">
            <a:avLst/>
          </a:prstGeom>
          <a:noFill/>
        </p:spPr>
        <p:txBody>
          <a:bodyPr wrap="square">
            <a:spAutoFit/>
          </a:bodyPr>
          <a:lstStyle/>
          <a:p>
            <a:pPr algn="l"/>
            <a:r>
              <a:rPr sz="1600" b="1">
                <a:solidFill>
                  <a:srgbClr val="F97316"/>
                </a:solidFill>
                <a:latin typeface="Calibri"/>
              </a:rPr>
              <a:t>Research Gap</a:t>
            </a:r>
          </a:p>
        </p:txBody>
      </p:sp>
      <p:sp>
        <p:nvSpPr>
          <p:cNvPr id="7" name="TextBox 6"/>
          <p:cNvSpPr txBox="1"/>
          <p:nvPr/>
        </p:nvSpPr>
        <p:spPr>
          <a:xfrm>
            <a:off x="457200" y="1554480"/>
            <a:ext cx="5394960" cy="640080"/>
          </a:xfrm>
          <a:prstGeom prst="rect">
            <a:avLst/>
          </a:prstGeom>
          <a:noFill/>
        </p:spPr>
        <p:txBody>
          <a:bodyPr wrap="square">
            <a:spAutoFit/>
          </a:bodyPr>
          <a:lstStyle/>
          <a:p>
            <a:pPr algn="l"/>
            <a:r>
              <a:rPr sz="1200" b="0">
                <a:solidFill>
                  <a:srgbClr val="FFFFFF"/>
                </a:solidFill>
                <a:latin typeface="Calibri"/>
              </a:rPr>
              <a:t>• Most personal finance tools provide only descriptive statistics
  (budgets, totals) without predictive analytics.</a:t>
            </a:r>
          </a:p>
        </p:txBody>
      </p:sp>
      <p:sp>
        <p:nvSpPr>
          <p:cNvPr id="8" name="TextBox 7"/>
          <p:cNvSpPr txBox="1"/>
          <p:nvPr/>
        </p:nvSpPr>
        <p:spPr>
          <a:xfrm>
            <a:off x="457200" y="2130552"/>
            <a:ext cx="5394960" cy="640080"/>
          </a:xfrm>
          <a:prstGeom prst="rect">
            <a:avLst/>
          </a:prstGeom>
          <a:noFill/>
        </p:spPr>
        <p:txBody>
          <a:bodyPr wrap="square">
            <a:spAutoFit/>
          </a:bodyPr>
          <a:lstStyle/>
          <a:p>
            <a:pPr algn="l"/>
            <a:r>
              <a:rPr sz="1200" b="0">
                <a:solidFill>
                  <a:srgbClr val="FFFFFF"/>
                </a:solidFill>
                <a:latin typeface="Calibri"/>
              </a:rPr>
              <a:t>• Existing tools rarely segment users into behavioral personas
  that enable personalized recommendations.</a:t>
            </a:r>
          </a:p>
        </p:txBody>
      </p:sp>
      <p:sp>
        <p:nvSpPr>
          <p:cNvPr id="9" name="TextBox 8"/>
          <p:cNvSpPr txBox="1"/>
          <p:nvPr/>
        </p:nvSpPr>
        <p:spPr>
          <a:xfrm>
            <a:off x="457200" y="2706624"/>
            <a:ext cx="5394960" cy="640080"/>
          </a:xfrm>
          <a:prstGeom prst="rect">
            <a:avLst/>
          </a:prstGeom>
          <a:noFill/>
        </p:spPr>
        <p:txBody>
          <a:bodyPr wrap="square">
            <a:spAutoFit/>
          </a:bodyPr>
          <a:lstStyle/>
          <a:p>
            <a:pPr algn="l"/>
            <a:r>
              <a:rPr sz="1200" b="0">
                <a:solidFill>
                  <a:srgbClr val="FFFFFF"/>
                </a:solidFill>
                <a:latin typeface="Calibri"/>
              </a:rPr>
              <a:t>• Rule-based financial health scoring is underexplored compared
  to black-box ML models that lack interpretability.</a:t>
            </a:r>
          </a:p>
        </p:txBody>
      </p:sp>
      <p:sp>
        <p:nvSpPr>
          <p:cNvPr id="10" name="TextBox 9"/>
          <p:cNvSpPr txBox="1"/>
          <p:nvPr/>
        </p:nvSpPr>
        <p:spPr>
          <a:xfrm>
            <a:off x="457200" y="3282696"/>
            <a:ext cx="5394960" cy="640080"/>
          </a:xfrm>
          <a:prstGeom prst="rect">
            <a:avLst/>
          </a:prstGeom>
          <a:noFill/>
        </p:spPr>
        <p:txBody>
          <a:bodyPr wrap="square">
            <a:spAutoFit/>
          </a:bodyPr>
          <a:lstStyle/>
          <a:p>
            <a:pPr algn="l"/>
            <a:r>
              <a:rPr sz="1200" b="0">
                <a:solidFill>
                  <a:srgbClr val="FFFFFF"/>
                </a:solidFill>
                <a:latin typeface="Calibri"/>
              </a:rPr>
              <a:t>• Few studies combine clustering, regression, and rule engines
  in a single integrated financial analytics pipeline.</a:t>
            </a:r>
          </a:p>
        </p:txBody>
      </p:sp>
      <p:sp>
        <p:nvSpPr>
          <p:cNvPr id="11" name="TextBox 10"/>
          <p:cNvSpPr txBox="1"/>
          <p:nvPr/>
        </p:nvSpPr>
        <p:spPr>
          <a:xfrm>
            <a:off x="457200" y="3858768"/>
            <a:ext cx="5394960" cy="640080"/>
          </a:xfrm>
          <a:prstGeom prst="rect">
            <a:avLst/>
          </a:prstGeom>
          <a:noFill/>
        </p:spPr>
        <p:txBody>
          <a:bodyPr wrap="square">
            <a:spAutoFit/>
          </a:bodyPr>
          <a:lstStyle/>
          <a:p>
            <a:pPr algn="l"/>
            <a:r>
              <a:rPr sz="1200" b="0">
                <a:solidFill>
                  <a:srgbClr val="FFFFFF"/>
                </a:solidFill>
                <a:latin typeface="Calibri"/>
              </a:rPr>
              <a:t>• Deployment gap: academic models seldom reach end users via
  real-time web applications.</a:t>
            </a:r>
          </a:p>
        </p:txBody>
      </p:sp>
      <p:sp>
        <p:nvSpPr>
          <p:cNvPr id="12" name="Rectangle 11"/>
          <p:cNvSpPr/>
          <p:nvPr/>
        </p:nvSpPr>
        <p:spPr>
          <a:xfrm>
            <a:off x="6217920" y="1005840"/>
            <a:ext cx="5669280" cy="32004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097280"/>
            <a:ext cx="5303520" cy="365760"/>
          </a:xfrm>
          <a:prstGeom prst="rect">
            <a:avLst/>
          </a:prstGeom>
          <a:noFill/>
        </p:spPr>
        <p:txBody>
          <a:bodyPr wrap="square">
            <a:spAutoFit/>
          </a:bodyPr>
          <a:lstStyle/>
          <a:p>
            <a:pPr algn="l"/>
            <a:r>
              <a:rPr sz="1600" b="1">
                <a:solidFill>
                  <a:srgbClr val="F97316"/>
                </a:solidFill>
                <a:latin typeface="Calibri"/>
              </a:rPr>
              <a:t>Hypotheses</a:t>
            </a:r>
          </a:p>
        </p:txBody>
      </p:sp>
      <p:sp>
        <p:nvSpPr>
          <p:cNvPr id="14" name="TextBox 13"/>
          <p:cNvSpPr txBox="1"/>
          <p:nvPr/>
        </p:nvSpPr>
        <p:spPr>
          <a:xfrm>
            <a:off x="6400800" y="1554480"/>
            <a:ext cx="548640" cy="320040"/>
          </a:xfrm>
          <a:prstGeom prst="rect">
            <a:avLst/>
          </a:prstGeom>
          <a:noFill/>
        </p:spPr>
        <p:txBody>
          <a:bodyPr wrap="square">
            <a:spAutoFit/>
          </a:bodyPr>
          <a:lstStyle/>
          <a:p>
            <a:pPr algn="l"/>
            <a:r>
              <a:rPr sz="1200" b="1">
                <a:solidFill>
                  <a:srgbClr val="F97316"/>
                </a:solidFill>
                <a:latin typeface="Calibri"/>
              </a:rPr>
              <a:t>H1</a:t>
            </a:r>
          </a:p>
        </p:txBody>
      </p:sp>
      <p:sp>
        <p:nvSpPr>
          <p:cNvPr id="15" name="TextBox 14"/>
          <p:cNvSpPr txBox="1"/>
          <p:nvPr/>
        </p:nvSpPr>
        <p:spPr>
          <a:xfrm>
            <a:off x="6949440" y="1554480"/>
            <a:ext cx="4754880" cy="594360"/>
          </a:xfrm>
          <a:prstGeom prst="rect">
            <a:avLst/>
          </a:prstGeom>
          <a:noFill/>
        </p:spPr>
        <p:txBody>
          <a:bodyPr wrap="square">
            <a:spAutoFit/>
          </a:bodyPr>
          <a:lstStyle/>
          <a:p>
            <a:pPr algn="l"/>
            <a:r>
              <a:rPr sz="1150" b="0">
                <a:solidFill>
                  <a:srgbClr val="FFFFFF"/>
                </a:solidFill>
                <a:latin typeface="Calibri"/>
              </a:rPr>
              <a:t>K-Means with k=4 produces clusters with distinct,
interpretable spending profiles (Between-SS/Total-SS &gt; 50%).</a:t>
            </a:r>
          </a:p>
        </p:txBody>
      </p:sp>
      <p:sp>
        <p:nvSpPr>
          <p:cNvPr id="16" name="TextBox 15"/>
          <p:cNvSpPr txBox="1"/>
          <p:nvPr/>
        </p:nvSpPr>
        <p:spPr>
          <a:xfrm>
            <a:off x="6400800" y="2194560"/>
            <a:ext cx="548640" cy="320040"/>
          </a:xfrm>
          <a:prstGeom prst="rect">
            <a:avLst/>
          </a:prstGeom>
          <a:noFill/>
        </p:spPr>
        <p:txBody>
          <a:bodyPr wrap="square">
            <a:spAutoFit/>
          </a:bodyPr>
          <a:lstStyle/>
          <a:p>
            <a:pPr algn="l"/>
            <a:r>
              <a:rPr sz="1200" b="1">
                <a:solidFill>
                  <a:srgbClr val="F97316"/>
                </a:solidFill>
                <a:latin typeface="Calibri"/>
              </a:rPr>
              <a:t>H2</a:t>
            </a:r>
          </a:p>
        </p:txBody>
      </p:sp>
      <p:sp>
        <p:nvSpPr>
          <p:cNvPr id="17" name="TextBox 16"/>
          <p:cNvSpPr txBox="1"/>
          <p:nvPr/>
        </p:nvSpPr>
        <p:spPr>
          <a:xfrm>
            <a:off x="6949440" y="2194560"/>
            <a:ext cx="4754880" cy="594360"/>
          </a:xfrm>
          <a:prstGeom prst="rect">
            <a:avLst/>
          </a:prstGeom>
          <a:noFill/>
        </p:spPr>
        <p:txBody>
          <a:bodyPr wrap="square">
            <a:spAutoFit/>
          </a:bodyPr>
          <a:lstStyle/>
          <a:p>
            <a:pPr algn="l"/>
            <a:r>
              <a:rPr sz="1150" b="0">
                <a:solidFill>
                  <a:srgbClr val="FFFFFF"/>
                </a:solidFill>
                <a:latin typeface="Calibri"/>
              </a:rPr>
              <a:t>Random Forest achieves R² &gt; 0.80 in predicting
next-month savings from 16 financial features.</a:t>
            </a:r>
          </a:p>
        </p:txBody>
      </p:sp>
      <p:sp>
        <p:nvSpPr>
          <p:cNvPr id="18" name="TextBox 17"/>
          <p:cNvSpPr txBox="1"/>
          <p:nvPr/>
        </p:nvSpPr>
        <p:spPr>
          <a:xfrm>
            <a:off x="6400800" y="2834639"/>
            <a:ext cx="548640" cy="320040"/>
          </a:xfrm>
          <a:prstGeom prst="rect">
            <a:avLst/>
          </a:prstGeom>
          <a:noFill/>
        </p:spPr>
        <p:txBody>
          <a:bodyPr wrap="square">
            <a:spAutoFit/>
          </a:bodyPr>
          <a:lstStyle/>
          <a:p>
            <a:pPr algn="l"/>
            <a:r>
              <a:rPr sz="1200" b="1">
                <a:solidFill>
                  <a:srgbClr val="F97316"/>
                </a:solidFill>
                <a:latin typeface="Calibri"/>
              </a:rPr>
              <a:t>H3</a:t>
            </a:r>
          </a:p>
        </p:txBody>
      </p:sp>
      <p:sp>
        <p:nvSpPr>
          <p:cNvPr id="19" name="TextBox 18"/>
          <p:cNvSpPr txBox="1"/>
          <p:nvPr/>
        </p:nvSpPr>
        <p:spPr>
          <a:xfrm>
            <a:off x="6949440" y="2834639"/>
            <a:ext cx="4754880" cy="594360"/>
          </a:xfrm>
          <a:prstGeom prst="rect">
            <a:avLst/>
          </a:prstGeom>
          <a:noFill/>
        </p:spPr>
        <p:txBody>
          <a:bodyPr wrap="square">
            <a:spAutoFit/>
          </a:bodyPr>
          <a:lstStyle/>
          <a:p>
            <a:pPr algn="l"/>
            <a:r>
              <a:rPr sz="1150" b="0">
                <a:solidFill>
                  <a:srgbClr val="FFFFFF"/>
                </a:solidFill>
                <a:latin typeface="Calibri"/>
              </a:rPr>
              <a:t>Income and total_expense rank as the two most
important features in the Random Forest model.</a:t>
            </a:r>
          </a:p>
        </p:txBody>
      </p:sp>
      <p:sp>
        <p:nvSpPr>
          <p:cNvPr id="20" name="TextBox 19"/>
          <p:cNvSpPr txBox="1"/>
          <p:nvPr/>
        </p:nvSpPr>
        <p:spPr>
          <a:xfrm>
            <a:off x="6400800" y="3474720"/>
            <a:ext cx="548640" cy="320040"/>
          </a:xfrm>
          <a:prstGeom prst="rect">
            <a:avLst/>
          </a:prstGeom>
          <a:noFill/>
        </p:spPr>
        <p:txBody>
          <a:bodyPr wrap="square">
            <a:spAutoFit/>
          </a:bodyPr>
          <a:lstStyle/>
          <a:p>
            <a:pPr algn="l"/>
            <a:r>
              <a:rPr sz="1200" b="1">
                <a:solidFill>
                  <a:srgbClr val="F97316"/>
                </a:solidFill>
                <a:latin typeface="Calibri"/>
              </a:rPr>
              <a:t>H4</a:t>
            </a:r>
          </a:p>
        </p:txBody>
      </p:sp>
      <p:sp>
        <p:nvSpPr>
          <p:cNvPr id="21" name="TextBox 20"/>
          <p:cNvSpPr txBox="1"/>
          <p:nvPr/>
        </p:nvSpPr>
        <p:spPr>
          <a:xfrm>
            <a:off x="6949440" y="3474720"/>
            <a:ext cx="4754880" cy="594360"/>
          </a:xfrm>
          <a:prstGeom prst="rect">
            <a:avLst/>
          </a:prstGeom>
          <a:noFill/>
        </p:spPr>
        <p:txBody>
          <a:bodyPr wrap="square">
            <a:spAutoFit/>
          </a:bodyPr>
          <a:lstStyle/>
          <a:p>
            <a:pPr algn="l"/>
            <a:r>
              <a:rPr sz="1150" b="0">
                <a:solidFill>
                  <a:srgbClr val="FFFFFF"/>
                </a:solidFill>
                <a:latin typeface="Calibri"/>
              </a:rPr>
              <a:t>The 9-rule overspending engine correctly flags
users whose expenses exceed income as 'critical'.</a:t>
            </a:r>
          </a:p>
        </p:txBody>
      </p:sp>
      <p:sp>
        <p:nvSpPr>
          <p:cNvPr id="22" name="Rectangle 21"/>
          <p:cNvSpPr/>
          <p:nvPr/>
        </p:nvSpPr>
        <p:spPr>
          <a:xfrm>
            <a:off x="274320" y="4389120"/>
            <a:ext cx="11612880" cy="2194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480560"/>
            <a:ext cx="10972800" cy="365760"/>
          </a:xfrm>
          <a:prstGeom prst="rect">
            <a:avLst/>
          </a:prstGeom>
          <a:noFill/>
        </p:spPr>
        <p:txBody>
          <a:bodyPr wrap="square">
            <a:spAutoFit/>
          </a:bodyPr>
          <a:lstStyle/>
          <a:p>
            <a:pPr algn="l"/>
            <a:r>
              <a:rPr sz="1600" b="1">
                <a:solidFill>
                  <a:srgbClr val="C7D2FE"/>
                </a:solidFill>
                <a:latin typeface="Calibri"/>
              </a:rPr>
              <a:t>Analytical Methods Used</a:t>
            </a:r>
          </a:p>
        </p:txBody>
      </p:sp>
      <p:sp>
        <p:nvSpPr>
          <p:cNvPr id="24" name="TextBox 23"/>
          <p:cNvSpPr txBox="1"/>
          <p:nvPr/>
        </p:nvSpPr>
        <p:spPr>
          <a:xfrm>
            <a:off x="457200" y="4937760"/>
            <a:ext cx="3108960" cy="320040"/>
          </a:xfrm>
          <a:prstGeom prst="rect">
            <a:avLst/>
          </a:prstGeom>
          <a:noFill/>
        </p:spPr>
        <p:txBody>
          <a:bodyPr wrap="square">
            <a:spAutoFit/>
          </a:bodyPr>
          <a:lstStyle/>
          <a:p>
            <a:pPr algn="l"/>
            <a:r>
              <a:rPr sz="1200" b="1">
                <a:solidFill>
                  <a:srgbClr val="C7D2FE"/>
                </a:solidFill>
                <a:latin typeface="Calibri"/>
              </a:rPr>
              <a:t>•  Statistical:</a:t>
            </a:r>
          </a:p>
        </p:txBody>
      </p:sp>
      <p:sp>
        <p:nvSpPr>
          <p:cNvPr id="25" name="TextBox 24"/>
          <p:cNvSpPr txBox="1"/>
          <p:nvPr/>
        </p:nvSpPr>
        <p:spPr>
          <a:xfrm>
            <a:off x="3657600" y="4937760"/>
            <a:ext cx="8229600" cy="320040"/>
          </a:xfrm>
          <a:prstGeom prst="rect">
            <a:avLst/>
          </a:prstGeom>
          <a:noFill/>
        </p:spPr>
        <p:txBody>
          <a:bodyPr wrap="square">
            <a:spAutoFit/>
          </a:bodyPr>
          <a:lstStyle/>
          <a:p>
            <a:pPr algn="l"/>
            <a:r>
              <a:rPr sz="1200" b="0">
                <a:solidFill>
                  <a:srgbClr val="FFFFFF"/>
                </a:solidFill>
                <a:latin typeface="Calibri"/>
              </a:rPr>
              <a:t>Descriptive statistics, correlation analysis (Pearson r), summary tables, distribution plots</a:t>
            </a:r>
          </a:p>
        </p:txBody>
      </p:sp>
      <p:sp>
        <p:nvSpPr>
          <p:cNvPr id="26" name="TextBox 25"/>
          <p:cNvSpPr txBox="1"/>
          <p:nvPr/>
        </p:nvSpPr>
        <p:spPr>
          <a:xfrm>
            <a:off x="457200" y="5276088"/>
            <a:ext cx="3108960" cy="320040"/>
          </a:xfrm>
          <a:prstGeom prst="rect">
            <a:avLst/>
          </a:prstGeom>
          <a:noFill/>
        </p:spPr>
        <p:txBody>
          <a:bodyPr wrap="square">
            <a:spAutoFit/>
          </a:bodyPr>
          <a:lstStyle/>
          <a:p>
            <a:pPr algn="l"/>
            <a:r>
              <a:rPr sz="1200" b="1">
                <a:solidFill>
                  <a:srgbClr val="C7D2FE"/>
                </a:solidFill>
                <a:latin typeface="Calibri"/>
              </a:rPr>
              <a:t>•  Machine Learning:</a:t>
            </a:r>
          </a:p>
        </p:txBody>
      </p:sp>
      <p:sp>
        <p:nvSpPr>
          <p:cNvPr id="27" name="TextBox 26"/>
          <p:cNvSpPr txBox="1"/>
          <p:nvPr/>
        </p:nvSpPr>
        <p:spPr>
          <a:xfrm>
            <a:off x="3657600" y="5276088"/>
            <a:ext cx="8229600" cy="320040"/>
          </a:xfrm>
          <a:prstGeom prst="rect">
            <a:avLst/>
          </a:prstGeom>
          <a:noFill/>
        </p:spPr>
        <p:txBody>
          <a:bodyPr wrap="square">
            <a:spAutoFit/>
          </a:bodyPr>
          <a:lstStyle/>
          <a:p>
            <a:pPr algn="l"/>
            <a:r>
              <a:rPr sz="1200" b="0">
                <a:solidFill>
                  <a:srgbClr val="FFFFFF"/>
                </a:solidFill>
                <a:latin typeface="Calibri"/>
              </a:rPr>
              <a:t>K-Means clustering (unsupervised), Random Forest regression (supervised, ensemble)</a:t>
            </a:r>
          </a:p>
        </p:txBody>
      </p:sp>
      <p:sp>
        <p:nvSpPr>
          <p:cNvPr id="28" name="TextBox 27"/>
          <p:cNvSpPr txBox="1"/>
          <p:nvPr/>
        </p:nvSpPr>
        <p:spPr>
          <a:xfrm>
            <a:off x="457200" y="5614416"/>
            <a:ext cx="3108960" cy="320040"/>
          </a:xfrm>
          <a:prstGeom prst="rect">
            <a:avLst/>
          </a:prstGeom>
          <a:noFill/>
        </p:spPr>
        <p:txBody>
          <a:bodyPr wrap="square">
            <a:spAutoFit/>
          </a:bodyPr>
          <a:lstStyle/>
          <a:p>
            <a:pPr algn="l"/>
            <a:r>
              <a:rPr sz="1200" b="1">
                <a:solidFill>
                  <a:srgbClr val="C7D2FE"/>
                </a:solidFill>
                <a:latin typeface="Calibri"/>
              </a:rPr>
              <a:t>•  Rule-Based System:</a:t>
            </a:r>
          </a:p>
        </p:txBody>
      </p:sp>
      <p:sp>
        <p:nvSpPr>
          <p:cNvPr id="29" name="TextBox 28"/>
          <p:cNvSpPr txBox="1"/>
          <p:nvPr/>
        </p:nvSpPr>
        <p:spPr>
          <a:xfrm>
            <a:off x="3657600" y="5614416"/>
            <a:ext cx="8229600" cy="320040"/>
          </a:xfrm>
          <a:prstGeom prst="rect">
            <a:avLst/>
          </a:prstGeom>
          <a:noFill/>
        </p:spPr>
        <p:txBody>
          <a:bodyPr wrap="square">
            <a:spAutoFit/>
          </a:bodyPr>
          <a:lstStyle/>
          <a:p>
            <a:pPr algn="l"/>
            <a:r>
              <a:rPr sz="1200" b="0">
                <a:solidFill>
                  <a:srgbClr val="FFFFFF"/>
                </a:solidFill>
                <a:latin typeface="Calibri"/>
              </a:rPr>
              <a:t>9-rule overspending detection engine with severity scoring and composite financial health index</a:t>
            </a:r>
          </a:p>
        </p:txBody>
      </p:sp>
      <p:sp>
        <p:nvSpPr>
          <p:cNvPr id="30" name="TextBox 29"/>
          <p:cNvSpPr txBox="1"/>
          <p:nvPr/>
        </p:nvSpPr>
        <p:spPr>
          <a:xfrm>
            <a:off x="457200" y="5952744"/>
            <a:ext cx="3108960" cy="320040"/>
          </a:xfrm>
          <a:prstGeom prst="rect">
            <a:avLst/>
          </a:prstGeom>
          <a:noFill/>
        </p:spPr>
        <p:txBody>
          <a:bodyPr wrap="square">
            <a:spAutoFit/>
          </a:bodyPr>
          <a:lstStyle/>
          <a:p>
            <a:pPr algn="l"/>
            <a:r>
              <a:rPr sz="1200" b="1">
                <a:solidFill>
                  <a:srgbClr val="C7D2FE"/>
                </a:solidFill>
                <a:latin typeface="Calibri"/>
              </a:rPr>
              <a:t>•  Feature Engineering:</a:t>
            </a:r>
          </a:p>
        </p:txBody>
      </p:sp>
      <p:sp>
        <p:nvSpPr>
          <p:cNvPr id="31" name="TextBox 30"/>
          <p:cNvSpPr txBox="1"/>
          <p:nvPr/>
        </p:nvSpPr>
        <p:spPr>
          <a:xfrm>
            <a:off x="3657600" y="5952744"/>
            <a:ext cx="8229600" cy="320040"/>
          </a:xfrm>
          <a:prstGeom prst="rect">
            <a:avLst/>
          </a:prstGeom>
          <a:noFill/>
        </p:spPr>
        <p:txBody>
          <a:bodyPr wrap="square">
            <a:spAutoFit/>
          </a:bodyPr>
          <a:lstStyle/>
          <a:p>
            <a:pPr algn="l"/>
            <a:r>
              <a:rPr sz="1200" b="0">
                <a:solidFill>
                  <a:srgbClr val="FFFFFF"/>
                </a:solidFill>
                <a:latin typeface="Calibri"/>
              </a:rPr>
              <a:t>Ratio computation (expense shares), time-series lags, rolling averages, Z-score normalization</a:t>
            </a:r>
          </a:p>
        </p:txBody>
      </p:sp>
      <p:sp>
        <p:nvSpPr>
          <p:cNvPr id="32" name="TextBox 31"/>
          <p:cNvSpPr txBox="1"/>
          <p:nvPr/>
        </p:nvSpPr>
        <p:spPr>
          <a:xfrm>
            <a:off x="457200" y="6291072"/>
            <a:ext cx="3108960" cy="320040"/>
          </a:xfrm>
          <a:prstGeom prst="rect">
            <a:avLst/>
          </a:prstGeom>
          <a:noFill/>
        </p:spPr>
        <p:txBody>
          <a:bodyPr wrap="square">
            <a:spAutoFit/>
          </a:bodyPr>
          <a:lstStyle/>
          <a:p>
            <a:pPr algn="l"/>
            <a:r>
              <a:rPr sz="1200" b="1">
                <a:solidFill>
                  <a:srgbClr val="C7D2FE"/>
                </a:solidFill>
                <a:latin typeface="Calibri"/>
              </a:rPr>
              <a:t>•  Visualization:</a:t>
            </a:r>
          </a:p>
        </p:txBody>
      </p:sp>
      <p:sp>
        <p:nvSpPr>
          <p:cNvPr id="33" name="TextBox 32"/>
          <p:cNvSpPr txBox="1"/>
          <p:nvPr/>
        </p:nvSpPr>
        <p:spPr>
          <a:xfrm>
            <a:off x="3657600" y="6291072"/>
            <a:ext cx="8229600" cy="320040"/>
          </a:xfrm>
          <a:prstGeom prst="rect">
            <a:avLst/>
          </a:prstGeom>
          <a:noFill/>
        </p:spPr>
        <p:txBody>
          <a:bodyPr wrap="square">
            <a:spAutoFit/>
          </a:bodyPr>
          <a:lstStyle/>
          <a:p>
            <a:pPr algn="l"/>
            <a:r>
              <a:rPr sz="1200" b="0">
                <a:solidFill>
                  <a:srgbClr val="FFFFFF"/>
                </a:solidFill>
                <a:latin typeface="Calibri"/>
              </a:rPr>
              <a:t>ggplot2: histograms, density plots, bar charts, heatmaps, scatter plots, centroid comparisons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4. Introduction — Background</a:t>
            </a:r>
          </a:p>
        </p:txBody>
      </p:sp>
      <p:sp>
        <p:nvSpPr>
          <p:cNvPr id="4" name="Rectangle 3"/>
          <p:cNvSpPr/>
          <p:nvPr/>
        </p:nvSpPr>
        <p:spPr>
          <a:xfrm>
            <a:off x="274320" y="804672"/>
            <a:ext cx="117957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795760" cy="12984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78992"/>
            <a:ext cx="11430000" cy="347472"/>
          </a:xfrm>
          <a:prstGeom prst="rect">
            <a:avLst/>
          </a:prstGeom>
          <a:noFill/>
        </p:spPr>
        <p:txBody>
          <a:bodyPr wrap="square">
            <a:spAutoFit/>
          </a:bodyPr>
          <a:lstStyle/>
          <a:p>
            <a:pPr algn="l"/>
            <a:r>
              <a:rPr sz="1400" b="1">
                <a:solidFill>
                  <a:srgbClr val="C7D2FE"/>
                </a:solidFill>
                <a:latin typeface="Calibri"/>
              </a:rPr>
              <a:t>The Problem</a:t>
            </a:r>
          </a:p>
        </p:txBody>
      </p:sp>
      <p:sp>
        <p:nvSpPr>
          <p:cNvPr id="7" name="TextBox 6"/>
          <p:cNvSpPr txBox="1"/>
          <p:nvPr/>
        </p:nvSpPr>
        <p:spPr>
          <a:xfrm>
            <a:off x="457200" y="1444752"/>
            <a:ext cx="11430000" cy="822960"/>
          </a:xfrm>
          <a:prstGeom prst="rect">
            <a:avLst/>
          </a:prstGeom>
          <a:noFill/>
        </p:spPr>
        <p:txBody>
          <a:bodyPr wrap="square">
            <a:spAutoFit/>
          </a:bodyPr>
          <a:lstStyle/>
          <a:p>
            <a:pPr algn="l"/>
            <a:r>
              <a:rPr sz="1200" b="0">
                <a:solidFill>
                  <a:srgbClr val="FFFFFF"/>
                </a:solidFill>
                <a:latin typeface="Calibri"/>
              </a:rPr>
              <a:t>Financial literacy remains low globally, with many consumers unable to track spending patterns,
identify wasteful habits, or forecast their future savings. Traditional budgeting tools show
static snapshots but fail to provide actionable, data-driven insights.</a:t>
            </a:r>
          </a:p>
        </p:txBody>
      </p:sp>
      <p:sp>
        <p:nvSpPr>
          <p:cNvPr id="8" name="Rectangle 7"/>
          <p:cNvSpPr/>
          <p:nvPr/>
        </p:nvSpPr>
        <p:spPr>
          <a:xfrm>
            <a:off x="274320" y="2423160"/>
            <a:ext cx="11795760" cy="12984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96312"/>
            <a:ext cx="11430000" cy="347472"/>
          </a:xfrm>
          <a:prstGeom prst="rect">
            <a:avLst/>
          </a:prstGeom>
          <a:noFill/>
        </p:spPr>
        <p:txBody>
          <a:bodyPr wrap="square">
            <a:spAutoFit/>
          </a:bodyPr>
          <a:lstStyle/>
          <a:p>
            <a:pPr algn="l"/>
            <a:r>
              <a:rPr sz="1400" b="1">
                <a:solidFill>
                  <a:srgbClr val="C7D2FE"/>
                </a:solidFill>
                <a:latin typeface="Calibri"/>
              </a:rPr>
              <a:t>Why Machine Learning?</a:t>
            </a:r>
          </a:p>
        </p:txBody>
      </p:sp>
      <p:sp>
        <p:nvSpPr>
          <p:cNvPr id="10" name="TextBox 9"/>
          <p:cNvSpPr txBox="1"/>
          <p:nvPr/>
        </p:nvSpPr>
        <p:spPr>
          <a:xfrm>
            <a:off x="457200" y="2862072"/>
            <a:ext cx="11430000" cy="822960"/>
          </a:xfrm>
          <a:prstGeom prst="rect">
            <a:avLst/>
          </a:prstGeom>
          <a:noFill/>
        </p:spPr>
        <p:txBody>
          <a:bodyPr wrap="square">
            <a:spAutoFit/>
          </a:bodyPr>
          <a:lstStyle/>
          <a:p>
            <a:pPr algn="l"/>
            <a:r>
              <a:rPr sz="1200" b="0">
                <a:solidFill>
                  <a:srgbClr val="FFFFFF"/>
                </a:solidFill>
                <a:latin typeface="Calibri"/>
              </a:rPr>
              <a:t>ML models can uncover hidden patterns in financial data that manual analysis misses.
K-Means clustering groups consumers by behavior — not demographics — revealing spending
archetypes. Random Forest regression learns complex nonlinear relationships between
spending categories and future savings.</a:t>
            </a:r>
          </a:p>
        </p:txBody>
      </p:sp>
      <p:sp>
        <p:nvSpPr>
          <p:cNvPr id="11" name="Rectangle 10"/>
          <p:cNvSpPr/>
          <p:nvPr/>
        </p:nvSpPr>
        <p:spPr>
          <a:xfrm>
            <a:off x="274320" y="3840480"/>
            <a:ext cx="11795760" cy="12984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913632"/>
            <a:ext cx="11430000" cy="347472"/>
          </a:xfrm>
          <a:prstGeom prst="rect">
            <a:avLst/>
          </a:prstGeom>
          <a:noFill/>
        </p:spPr>
        <p:txBody>
          <a:bodyPr wrap="square">
            <a:spAutoFit/>
          </a:bodyPr>
          <a:lstStyle/>
          <a:p>
            <a:pPr algn="l"/>
            <a:r>
              <a:rPr sz="1400" b="1">
                <a:solidFill>
                  <a:srgbClr val="C7D2FE"/>
                </a:solidFill>
                <a:latin typeface="Calibri"/>
              </a:rPr>
              <a:t>The Integrated Approach</a:t>
            </a:r>
          </a:p>
        </p:txBody>
      </p:sp>
      <p:sp>
        <p:nvSpPr>
          <p:cNvPr id="13" name="TextBox 12"/>
          <p:cNvSpPr txBox="1"/>
          <p:nvPr/>
        </p:nvSpPr>
        <p:spPr>
          <a:xfrm>
            <a:off x="457200" y="4279392"/>
            <a:ext cx="11430000" cy="822960"/>
          </a:xfrm>
          <a:prstGeom prst="rect">
            <a:avLst/>
          </a:prstGeom>
          <a:noFill/>
        </p:spPr>
        <p:txBody>
          <a:bodyPr wrap="square">
            <a:spAutoFit/>
          </a:bodyPr>
          <a:lstStyle/>
          <a:p>
            <a:pPr algn="l"/>
            <a:r>
              <a:rPr sz="1200" b="0">
                <a:solidFill>
                  <a:srgbClr val="FFFFFF"/>
                </a:solidFill>
                <a:latin typeface="Calibri"/>
              </a:rPr>
              <a:t>This project combines three complementary methods:
  (1) Unsupervised learning for persona discovery,
  (2) Supervised learning for predictive forecasting, and
  (3) Rule-based logic for interpretable financial health scoring.
Together they provide a 360° view of each consumer's financial health.</a:t>
            </a:r>
          </a:p>
        </p:txBody>
      </p:sp>
      <p:sp>
        <p:nvSpPr>
          <p:cNvPr id="14" name="Rectangle 13"/>
          <p:cNvSpPr/>
          <p:nvPr/>
        </p:nvSpPr>
        <p:spPr>
          <a:xfrm>
            <a:off x="274320" y="5257800"/>
            <a:ext cx="11795760" cy="12984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330952"/>
            <a:ext cx="11430000" cy="347472"/>
          </a:xfrm>
          <a:prstGeom prst="rect">
            <a:avLst/>
          </a:prstGeom>
          <a:noFill/>
        </p:spPr>
        <p:txBody>
          <a:bodyPr wrap="square">
            <a:spAutoFit/>
          </a:bodyPr>
          <a:lstStyle/>
          <a:p>
            <a:pPr algn="l"/>
            <a:r>
              <a:rPr sz="1400" b="1">
                <a:solidFill>
                  <a:srgbClr val="C7D2FE"/>
                </a:solidFill>
                <a:latin typeface="Calibri"/>
              </a:rPr>
              <a:t>Real-World Deployment</a:t>
            </a:r>
          </a:p>
        </p:txBody>
      </p:sp>
      <p:sp>
        <p:nvSpPr>
          <p:cNvPr id="16" name="TextBox 15"/>
          <p:cNvSpPr txBox="1"/>
          <p:nvPr/>
        </p:nvSpPr>
        <p:spPr>
          <a:xfrm>
            <a:off x="457200" y="5696712"/>
            <a:ext cx="11430000" cy="822960"/>
          </a:xfrm>
          <a:prstGeom prst="rect">
            <a:avLst/>
          </a:prstGeom>
          <a:noFill/>
        </p:spPr>
        <p:txBody>
          <a:bodyPr wrap="square">
            <a:spAutoFit/>
          </a:bodyPr>
          <a:lstStyle/>
          <a:p>
            <a:pPr algn="l"/>
            <a:r>
              <a:rPr sz="1200" b="0">
                <a:solidFill>
                  <a:srgbClr val="FFFFFF"/>
                </a:solidFill>
                <a:latin typeface="Calibri"/>
              </a:rPr>
              <a:t>Unlike academic-only studies, this project deploys models as a REST API (R Plumber)
consumed by a Next.js web application. Users get real-time cluster labels, savings
predictions, overspending alerts, and downloadable Excel reports.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5. Introduction — Research Structure</a:t>
            </a:r>
          </a:p>
        </p:txBody>
      </p:sp>
      <p:sp>
        <p:nvSpPr>
          <p:cNvPr id="4" name="Rectangle 3"/>
          <p:cNvSpPr/>
          <p:nvPr/>
        </p:nvSpPr>
        <p:spPr>
          <a:xfrm>
            <a:off x="274320" y="804672"/>
            <a:ext cx="1179576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188720"/>
            <a:ext cx="2194560" cy="2286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188720"/>
            <a:ext cx="219456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325880"/>
            <a:ext cx="2011680" cy="640080"/>
          </a:xfrm>
          <a:prstGeom prst="rect">
            <a:avLst/>
          </a:prstGeom>
          <a:noFill/>
        </p:spPr>
        <p:txBody>
          <a:bodyPr wrap="square">
            <a:spAutoFit/>
          </a:bodyPr>
          <a:lstStyle/>
          <a:p>
            <a:pPr algn="ctr"/>
            <a:r>
              <a:rPr sz="1400" b="1">
                <a:solidFill>
                  <a:srgbClr val="4F46E5"/>
                </a:solidFill>
                <a:latin typeface="Calibri"/>
              </a:rPr>
              <a:t>Phase 1
Data Collection</a:t>
            </a:r>
          </a:p>
        </p:txBody>
      </p:sp>
      <p:sp>
        <p:nvSpPr>
          <p:cNvPr id="8" name="TextBox 7"/>
          <p:cNvSpPr txBox="1"/>
          <p:nvPr/>
        </p:nvSpPr>
        <p:spPr>
          <a:xfrm>
            <a:off x="384048" y="2011680"/>
            <a:ext cx="2011680" cy="1188720"/>
          </a:xfrm>
          <a:prstGeom prst="rect">
            <a:avLst/>
          </a:prstGeom>
          <a:noFill/>
        </p:spPr>
        <p:txBody>
          <a:bodyPr wrap="square">
            <a:spAutoFit/>
          </a:bodyPr>
          <a:lstStyle/>
          <a:p>
            <a:pPr algn="ctr"/>
            <a:r>
              <a:rPr sz="1200" b="0">
                <a:solidFill>
                  <a:srgbClr val="FFFFFF"/>
                </a:solidFill>
                <a:latin typeface="Calibri"/>
              </a:rPr>
              <a:t>Kaggle CSV
15,000+ users
19 columns</a:t>
            </a:r>
          </a:p>
        </p:txBody>
      </p:sp>
      <p:sp>
        <p:nvSpPr>
          <p:cNvPr id="9" name="TextBox 8"/>
          <p:cNvSpPr txBox="1"/>
          <p:nvPr/>
        </p:nvSpPr>
        <p:spPr>
          <a:xfrm>
            <a:off x="2487168" y="2103120"/>
            <a:ext cx="137160" cy="365760"/>
          </a:xfrm>
          <a:prstGeom prst="rect">
            <a:avLst/>
          </a:prstGeom>
          <a:noFill/>
        </p:spPr>
        <p:txBody>
          <a:bodyPr wrap="square">
            <a:spAutoFit/>
          </a:bodyPr>
          <a:lstStyle/>
          <a:p>
            <a:pPr algn="l"/>
            <a:r>
              <a:rPr sz="2000" b="0">
                <a:solidFill>
                  <a:srgbClr val="94A3B8"/>
                </a:solidFill>
                <a:latin typeface="Calibri"/>
              </a:rPr>
              <a:t>→</a:t>
            </a:r>
          </a:p>
        </p:txBody>
      </p:sp>
      <p:sp>
        <p:nvSpPr>
          <p:cNvPr id="10" name="Rectangle 9"/>
          <p:cNvSpPr/>
          <p:nvPr/>
        </p:nvSpPr>
        <p:spPr>
          <a:xfrm>
            <a:off x="2606039" y="1188720"/>
            <a:ext cx="2194560" cy="2286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06039" y="1188720"/>
            <a:ext cx="219456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15768" y="1325880"/>
            <a:ext cx="2011680" cy="640080"/>
          </a:xfrm>
          <a:prstGeom prst="rect">
            <a:avLst/>
          </a:prstGeom>
          <a:noFill/>
        </p:spPr>
        <p:txBody>
          <a:bodyPr wrap="square">
            <a:spAutoFit/>
          </a:bodyPr>
          <a:lstStyle/>
          <a:p>
            <a:pPr algn="ctr"/>
            <a:r>
              <a:rPr sz="1400" b="1">
                <a:solidFill>
                  <a:srgbClr val="10B981"/>
                </a:solidFill>
                <a:latin typeface="Calibri"/>
              </a:rPr>
              <a:t>Phase 2
Preprocessing</a:t>
            </a:r>
          </a:p>
        </p:txBody>
      </p:sp>
      <p:sp>
        <p:nvSpPr>
          <p:cNvPr id="13" name="TextBox 12"/>
          <p:cNvSpPr txBox="1"/>
          <p:nvPr/>
        </p:nvSpPr>
        <p:spPr>
          <a:xfrm>
            <a:off x="2715768" y="2011680"/>
            <a:ext cx="2011680" cy="1188720"/>
          </a:xfrm>
          <a:prstGeom prst="rect">
            <a:avLst/>
          </a:prstGeom>
          <a:noFill/>
        </p:spPr>
        <p:txBody>
          <a:bodyPr wrap="square">
            <a:spAutoFit/>
          </a:bodyPr>
          <a:lstStyle/>
          <a:p>
            <a:pPr algn="ctr"/>
            <a:r>
              <a:rPr sz="1200" b="0">
                <a:solidFill>
                  <a:srgbClr val="FFFFFF"/>
                </a:solidFill>
                <a:latin typeface="Calibri"/>
              </a:rPr>
              <a:t>Clean, simulate
6 months history
Feature engineering</a:t>
            </a:r>
          </a:p>
        </p:txBody>
      </p:sp>
      <p:sp>
        <p:nvSpPr>
          <p:cNvPr id="14" name="TextBox 13"/>
          <p:cNvSpPr txBox="1"/>
          <p:nvPr/>
        </p:nvSpPr>
        <p:spPr>
          <a:xfrm>
            <a:off x="4818888" y="2103120"/>
            <a:ext cx="137160" cy="365760"/>
          </a:xfrm>
          <a:prstGeom prst="rect">
            <a:avLst/>
          </a:prstGeom>
          <a:noFill/>
        </p:spPr>
        <p:txBody>
          <a:bodyPr wrap="square">
            <a:spAutoFit/>
          </a:bodyPr>
          <a:lstStyle/>
          <a:p>
            <a:pPr algn="l"/>
            <a:r>
              <a:rPr sz="2000" b="0">
                <a:solidFill>
                  <a:srgbClr val="94A3B8"/>
                </a:solidFill>
                <a:latin typeface="Calibri"/>
              </a:rPr>
              <a:t>→</a:t>
            </a:r>
          </a:p>
        </p:txBody>
      </p:sp>
      <p:sp>
        <p:nvSpPr>
          <p:cNvPr id="15" name="Rectangle 14"/>
          <p:cNvSpPr/>
          <p:nvPr/>
        </p:nvSpPr>
        <p:spPr>
          <a:xfrm>
            <a:off x="4937759" y="1188720"/>
            <a:ext cx="2194560" cy="2286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59" y="1188720"/>
            <a:ext cx="219456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7488" y="1325880"/>
            <a:ext cx="2011680" cy="640080"/>
          </a:xfrm>
          <a:prstGeom prst="rect">
            <a:avLst/>
          </a:prstGeom>
          <a:noFill/>
        </p:spPr>
        <p:txBody>
          <a:bodyPr wrap="square">
            <a:spAutoFit/>
          </a:bodyPr>
          <a:lstStyle/>
          <a:p>
            <a:pPr algn="ctr"/>
            <a:r>
              <a:rPr sz="1400" b="1">
                <a:solidFill>
                  <a:srgbClr val="7C3AED"/>
                </a:solidFill>
                <a:latin typeface="Calibri"/>
              </a:rPr>
              <a:t>Phase 3
Modeling</a:t>
            </a:r>
          </a:p>
        </p:txBody>
      </p:sp>
      <p:sp>
        <p:nvSpPr>
          <p:cNvPr id="18" name="TextBox 17"/>
          <p:cNvSpPr txBox="1"/>
          <p:nvPr/>
        </p:nvSpPr>
        <p:spPr>
          <a:xfrm>
            <a:off x="5047488" y="2011680"/>
            <a:ext cx="2011680" cy="1188720"/>
          </a:xfrm>
          <a:prstGeom prst="rect">
            <a:avLst/>
          </a:prstGeom>
          <a:noFill/>
        </p:spPr>
        <p:txBody>
          <a:bodyPr wrap="square">
            <a:spAutoFit/>
          </a:bodyPr>
          <a:lstStyle/>
          <a:p>
            <a:pPr algn="ctr"/>
            <a:r>
              <a:rPr sz="1200" b="0">
                <a:solidFill>
                  <a:srgbClr val="FFFFFF"/>
                </a:solidFill>
                <a:latin typeface="Calibri"/>
              </a:rPr>
              <a:t>K-Means (k=4)
Random Forest
Rule engine</a:t>
            </a:r>
          </a:p>
        </p:txBody>
      </p:sp>
      <p:sp>
        <p:nvSpPr>
          <p:cNvPr id="19" name="TextBox 18"/>
          <p:cNvSpPr txBox="1"/>
          <p:nvPr/>
        </p:nvSpPr>
        <p:spPr>
          <a:xfrm>
            <a:off x="7150607" y="2103120"/>
            <a:ext cx="137160" cy="365760"/>
          </a:xfrm>
          <a:prstGeom prst="rect">
            <a:avLst/>
          </a:prstGeom>
          <a:noFill/>
        </p:spPr>
        <p:txBody>
          <a:bodyPr wrap="square">
            <a:spAutoFit/>
          </a:bodyPr>
          <a:lstStyle/>
          <a:p>
            <a:pPr algn="l"/>
            <a:r>
              <a:rPr sz="2000" b="0">
                <a:solidFill>
                  <a:srgbClr val="94A3B8"/>
                </a:solidFill>
                <a:latin typeface="Calibri"/>
              </a:rPr>
              <a:t>→</a:t>
            </a:r>
          </a:p>
        </p:txBody>
      </p:sp>
      <p:sp>
        <p:nvSpPr>
          <p:cNvPr id="20" name="Rectangle 19"/>
          <p:cNvSpPr/>
          <p:nvPr/>
        </p:nvSpPr>
        <p:spPr>
          <a:xfrm>
            <a:off x="7269479" y="1188720"/>
            <a:ext cx="2194560" cy="2286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479" y="1188720"/>
            <a:ext cx="219456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79207" y="1325880"/>
            <a:ext cx="2011680" cy="640080"/>
          </a:xfrm>
          <a:prstGeom prst="rect">
            <a:avLst/>
          </a:prstGeom>
          <a:noFill/>
        </p:spPr>
        <p:txBody>
          <a:bodyPr wrap="square">
            <a:spAutoFit/>
          </a:bodyPr>
          <a:lstStyle/>
          <a:p>
            <a:pPr algn="ctr"/>
            <a:r>
              <a:rPr sz="1400" b="1">
                <a:solidFill>
                  <a:srgbClr val="F97316"/>
                </a:solidFill>
                <a:latin typeface="Calibri"/>
              </a:rPr>
              <a:t>Phase 4
Evaluation</a:t>
            </a:r>
          </a:p>
        </p:txBody>
      </p:sp>
      <p:sp>
        <p:nvSpPr>
          <p:cNvPr id="23" name="TextBox 22"/>
          <p:cNvSpPr txBox="1"/>
          <p:nvPr/>
        </p:nvSpPr>
        <p:spPr>
          <a:xfrm>
            <a:off x="7379207" y="2011680"/>
            <a:ext cx="2011680" cy="1188720"/>
          </a:xfrm>
          <a:prstGeom prst="rect">
            <a:avLst/>
          </a:prstGeom>
          <a:noFill/>
        </p:spPr>
        <p:txBody>
          <a:bodyPr wrap="square">
            <a:spAutoFit/>
          </a:bodyPr>
          <a:lstStyle/>
          <a:p>
            <a:pPr algn="ctr"/>
            <a:r>
              <a:rPr sz="1200" b="0">
                <a:solidFill>
                  <a:srgbClr val="FFFFFF"/>
                </a:solidFill>
                <a:latin typeface="Calibri"/>
              </a:rPr>
              <a:t>R², RMSE, MAE
Cluster quality
Reliability checks</a:t>
            </a:r>
          </a:p>
        </p:txBody>
      </p:sp>
      <p:sp>
        <p:nvSpPr>
          <p:cNvPr id="24" name="TextBox 23"/>
          <p:cNvSpPr txBox="1"/>
          <p:nvPr/>
        </p:nvSpPr>
        <p:spPr>
          <a:xfrm>
            <a:off x="9482328" y="2103120"/>
            <a:ext cx="137160" cy="365760"/>
          </a:xfrm>
          <a:prstGeom prst="rect">
            <a:avLst/>
          </a:prstGeom>
          <a:noFill/>
        </p:spPr>
        <p:txBody>
          <a:bodyPr wrap="square">
            <a:spAutoFit/>
          </a:bodyPr>
          <a:lstStyle/>
          <a:p>
            <a:pPr algn="l"/>
            <a:r>
              <a:rPr sz="2000" b="0">
                <a:solidFill>
                  <a:srgbClr val="94A3B8"/>
                </a:solidFill>
                <a:latin typeface="Calibri"/>
              </a:rPr>
              <a:t>→</a:t>
            </a:r>
          </a:p>
        </p:txBody>
      </p:sp>
      <p:sp>
        <p:nvSpPr>
          <p:cNvPr id="25" name="Rectangle 24"/>
          <p:cNvSpPr/>
          <p:nvPr/>
        </p:nvSpPr>
        <p:spPr>
          <a:xfrm>
            <a:off x="9601200" y="1188720"/>
            <a:ext cx="2194560" cy="22860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601200" y="1188720"/>
            <a:ext cx="219456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10928" y="1325880"/>
            <a:ext cx="2011680" cy="640080"/>
          </a:xfrm>
          <a:prstGeom prst="rect">
            <a:avLst/>
          </a:prstGeom>
          <a:noFill/>
        </p:spPr>
        <p:txBody>
          <a:bodyPr wrap="square">
            <a:spAutoFit/>
          </a:bodyPr>
          <a:lstStyle/>
          <a:p>
            <a:pPr algn="ctr"/>
            <a:r>
              <a:rPr sz="1400" b="1">
                <a:solidFill>
                  <a:srgbClr val="DC2626"/>
                </a:solidFill>
                <a:latin typeface="Calibri"/>
              </a:rPr>
              <a:t>Phase 5
Deployment</a:t>
            </a:r>
          </a:p>
        </p:txBody>
      </p:sp>
      <p:sp>
        <p:nvSpPr>
          <p:cNvPr id="28" name="TextBox 27"/>
          <p:cNvSpPr txBox="1"/>
          <p:nvPr/>
        </p:nvSpPr>
        <p:spPr>
          <a:xfrm>
            <a:off x="9710928" y="2011680"/>
            <a:ext cx="2011680" cy="1188720"/>
          </a:xfrm>
          <a:prstGeom prst="rect">
            <a:avLst/>
          </a:prstGeom>
          <a:noFill/>
        </p:spPr>
        <p:txBody>
          <a:bodyPr wrap="square">
            <a:spAutoFit/>
          </a:bodyPr>
          <a:lstStyle/>
          <a:p>
            <a:pPr algn="ctr"/>
            <a:r>
              <a:rPr sz="1200" b="0">
                <a:solidFill>
                  <a:srgbClr val="FFFFFF"/>
                </a:solidFill>
                <a:latin typeface="Calibri"/>
              </a:rPr>
              <a:t>Plumber API
Next.js frontend
Live dashboards</a:t>
            </a:r>
          </a:p>
        </p:txBody>
      </p:sp>
      <p:sp>
        <p:nvSpPr>
          <p:cNvPr id="29" name="Rectangle 28"/>
          <p:cNvSpPr/>
          <p:nvPr/>
        </p:nvSpPr>
        <p:spPr>
          <a:xfrm>
            <a:off x="274320" y="3749039"/>
            <a:ext cx="11795760" cy="28346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840480"/>
            <a:ext cx="10972800" cy="365760"/>
          </a:xfrm>
          <a:prstGeom prst="rect">
            <a:avLst/>
          </a:prstGeom>
          <a:noFill/>
        </p:spPr>
        <p:txBody>
          <a:bodyPr wrap="square">
            <a:spAutoFit/>
          </a:bodyPr>
          <a:lstStyle/>
          <a:p>
            <a:pPr algn="l"/>
            <a:r>
              <a:rPr sz="1500" b="1">
                <a:solidFill>
                  <a:srgbClr val="7C3AED"/>
                </a:solidFill>
                <a:latin typeface="Calibri"/>
              </a:rPr>
              <a:t>Project File Structure</a:t>
            </a:r>
          </a:p>
        </p:txBody>
      </p:sp>
      <p:sp>
        <p:nvSpPr>
          <p:cNvPr id="31" name="TextBox 30"/>
          <p:cNvSpPr txBox="1"/>
          <p:nvPr/>
        </p:nvSpPr>
        <p:spPr>
          <a:xfrm>
            <a:off x="457200" y="4297680"/>
            <a:ext cx="5669280" cy="301752"/>
          </a:xfrm>
          <a:prstGeom prst="rect">
            <a:avLst/>
          </a:prstGeom>
          <a:noFill/>
        </p:spPr>
        <p:txBody>
          <a:bodyPr wrap="square">
            <a:spAutoFit/>
          </a:bodyPr>
          <a:lstStyle/>
          <a:p>
            <a:pPr algn="l"/>
            <a:r>
              <a:rPr sz="1100" b="0">
                <a:solidFill>
                  <a:srgbClr val="FFFFFF"/>
                </a:solidFill>
                <a:latin typeface="Calibri"/>
              </a:rPr>
              <a:t>📄  backend-r/scripts/preprocess_data.R    — Phase 2</a:t>
            </a:r>
          </a:p>
        </p:txBody>
      </p:sp>
      <p:sp>
        <p:nvSpPr>
          <p:cNvPr id="32" name="TextBox 31"/>
          <p:cNvSpPr txBox="1"/>
          <p:nvPr/>
        </p:nvSpPr>
        <p:spPr>
          <a:xfrm>
            <a:off x="457200" y="4608576"/>
            <a:ext cx="5669280" cy="301752"/>
          </a:xfrm>
          <a:prstGeom prst="rect">
            <a:avLst/>
          </a:prstGeom>
          <a:noFill/>
        </p:spPr>
        <p:txBody>
          <a:bodyPr wrap="square">
            <a:spAutoFit/>
          </a:bodyPr>
          <a:lstStyle/>
          <a:p>
            <a:pPr algn="l"/>
            <a:r>
              <a:rPr sz="1100" b="0">
                <a:solidFill>
                  <a:srgbClr val="FFFFFF"/>
                </a:solidFill>
                <a:latin typeface="Calibri"/>
              </a:rPr>
              <a:t>📄  backend-r/scripts/train_clustering.R   — Phase 3 (K-Means)</a:t>
            </a:r>
          </a:p>
        </p:txBody>
      </p:sp>
      <p:sp>
        <p:nvSpPr>
          <p:cNvPr id="33" name="TextBox 32"/>
          <p:cNvSpPr txBox="1"/>
          <p:nvPr/>
        </p:nvSpPr>
        <p:spPr>
          <a:xfrm>
            <a:off x="457200" y="4919472"/>
            <a:ext cx="5669280" cy="301752"/>
          </a:xfrm>
          <a:prstGeom prst="rect">
            <a:avLst/>
          </a:prstGeom>
          <a:noFill/>
        </p:spPr>
        <p:txBody>
          <a:bodyPr wrap="square">
            <a:spAutoFit/>
          </a:bodyPr>
          <a:lstStyle/>
          <a:p>
            <a:pPr algn="l"/>
            <a:r>
              <a:rPr sz="1100" b="0">
                <a:solidFill>
                  <a:srgbClr val="FFFFFF"/>
                </a:solidFill>
                <a:latin typeface="Calibri"/>
              </a:rPr>
              <a:t>📄  backend-r/scripts/train_prediction.R   — Phase 3 (Random Forest)</a:t>
            </a:r>
          </a:p>
        </p:txBody>
      </p:sp>
      <p:sp>
        <p:nvSpPr>
          <p:cNvPr id="34" name="TextBox 33"/>
          <p:cNvSpPr txBox="1"/>
          <p:nvPr/>
        </p:nvSpPr>
        <p:spPr>
          <a:xfrm>
            <a:off x="457200" y="5230368"/>
            <a:ext cx="5669280" cy="301752"/>
          </a:xfrm>
          <a:prstGeom prst="rect">
            <a:avLst/>
          </a:prstGeom>
          <a:noFill/>
        </p:spPr>
        <p:txBody>
          <a:bodyPr wrap="square">
            <a:spAutoFit/>
          </a:bodyPr>
          <a:lstStyle/>
          <a:p>
            <a:pPr algn="l"/>
            <a:r>
              <a:rPr sz="1100" b="0">
                <a:solidFill>
                  <a:srgbClr val="FFFFFF"/>
                </a:solidFill>
                <a:latin typeface="Calibri"/>
              </a:rPr>
              <a:t>📄  backend-r/R/overspending.R             — Phase 3 (9 rules)</a:t>
            </a:r>
          </a:p>
        </p:txBody>
      </p:sp>
      <p:sp>
        <p:nvSpPr>
          <p:cNvPr id="35" name="TextBox 34"/>
          <p:cNvSpPr txBox="1"/>
          <p:nvPr/>
        </p:nvSpPr>
        <p:spPr>
          <a:xfrm>
            <a:off x="457200" y="5541264"/>
            <a:ext cx="5669280" cy="301752"/>
          </a:xfrm>
          <a:prstGeom prst="rect">
            <a:avLst/>
          </a:prstGeom>
          <a:noFill/>
        </p:spPr>
        <p:txBody>
          <a:bodyPr wrap="square">
            <a:spAutoFit/>
          </a:bodyPr>
          <a:lstStyle/>
          <a:p>
            <a:pPr algn="l"/>
            <a:r>
              <a:rPr sz="1100" b="0">
                <a:solidFill>
                  <a:srgbClr val="FFFFFF"/>
                </a:solidFill>
                <a:latin typeface="Calibri"/>
              </a:rPr>
              <a:t>📄  backend-r/R/clustering.R               — Phase 5 (live API)</a:t>
            </a:r>
          </a:p>
        </p:txBody>
      </p:sp>
      <p:sp>
        <p:nvSpPr>
          <p:cNvPr id="36" name="TextBox 35"/>
          <p:cNvSpPr txBox="1"/>
          <p:nvPr/>
        </p:nvSpPr>
        <p:spPr>
          <a:xfrm>
            <a:off x="457200" y="5852159"/>
            <a:ext cx="5669280" cy="301752"/>
          </a:xfrm>
          <a:prstGeom prst="rect">
            <a:avLst/>
          </a:prstGeom>
          <a:noFill/>
        </p:spPr>
        <p:txBody>
          <a:bodyPr wrap="square">
            <a:spAutoFit/>
          </a:bodyPr>
          <a:lstStyle/>
          <a:p>
            <a:pPr algn="l"/>
            <a:r>
              <a:rPr sz="1100" b="0">
                <a:solidFill>
                  <a:srgbClr val="FFFFFF"/>
                </a:solidFill>
                <a:latin typeface="Calibri"/>
              </a:rPr>
              <a:t>📄  backend-r/R/prediction.R               — Phase 5 (live API)</a:t>
            </a:r>
          </a:p>
        </p:txBody>
      </p:sp>
      <p:sp>
        <p:nvSpPr>
          <p:cNvPr id="37" name="TextBox 36"/>
          <p:cNvSpPr txBox="1"/>
          <p:nvPr/>
        </p:nvSpPr>
        <p:spPr>
          <a:xfrm>
            <a:off x="6400800" y="4297680"/>
            <a:ext cx="5486400" cy="301752"/>
          </a:xfrm>
          <a:prstGeom prst="rect">
            <a:avLst/>
          </a:prstGeom>
          <a:noFill/>
        </p:spPr>
        <p:txBody>
          <a:bodyPr wrap="square">
            <a:spAutoFit/>
          </a:bodyPr>
          <a:lstStyle/>
          <a:p>
            <a:pPr algn="l"/>
            <a:r>
              <a:rPr sz="1100" b="0">
                <a:solidFill>
                  <a:srgbClr val="FFFFFF"/>
                </a:solidFill>
                <a:latin typeface="Calibri"/>
              </a:rPr>
              <a:t>📄  backend-r/R/features.R       — Feature vector builder</a:t>
            </a:r>
          </a:p>
        </p:txBody>
      </p:sp>
      <p:sp>
        <p:nvSpPr>
          <p:cNvPr id="38" name="TextBox 37"/>
          <p:cNvSpPr txBox="1"/>
          <p:nvPr/>
        </p:nvSpPr>
        <p:spPr>
          <a:xfrm>
            <a:off x="6400800" y="4608576"/>
            <a:ext cx="5486400" cy="301752"/>
          </a:xfrm>
          <a:prstGeom prst="rect">
            <a:avLst/>
          </a:prstGeom>
          <a:noFill/>
        </p:spPr>
        <p:txBody>
          <a:bodyPr wrap="square">
            <a:spAutoFit/>
          </a:bodyPr>
          <a:lstStyle/>
          <a:p>
            <a:pPr algn="l"/>
            <a:r>
              <a:rPr sz="1100" b="0">
                <a:solidFill>
                  <a:srgbClr val="FFFFFF"/>
                </a:solidFill>
                <a:latin typeface="Calibri"/>
              </a:rPr>
              <a:t>📄  backend-r/R/plots.R          — 7 ggplot2 chart functions</a:t>
            </a:r>
          </a:p>
        </p:txBody>
      </p:sp>
      <p:sp>
        <p:nvSpPr>
          <p:cNvPr id="39" name="TextBox 38"/>
          <p:cNvSpPr txBox="1"/>
          <p:nvPr/>
        </p:nvSpPr>
        <p:spPr>
          <a:xfrm>
            <a:off x="6400800" y="4919472"/>
            <a:ext cx="5486400" cy="301752"/>
          </a:xfrm>
          <a:prstGeom prst="rect">
            <a:avLst/>
          </a:prstGeom>
          <a:noFill/>
        </p:spPr>
        <p:txBody>
          <a:bodyPr wrap="square">
            <a:spAutoFit/>
          </a:bodyPr>
          <a:lstStyle/>
          <a:p>
            <a:pPr algn="l"/>
            <a:r>
              <a:rPr sz="1100" b="0">
                <a:solidFill>
                  <a:srgbClr val="FFFFFF"/>
                </a:solidFill>
                <a:latin typeface="Calibri"/>
              </a:rPr>
              <a:t>📄  backend-r/R/reports.R        — Excel report generator</a:t>
            </a:r>
          </a:p>
        </p:txBody>
      </p:sp>
      <p:sp>
        <p:nvSpPr>
          <p:cNvPr id="40" name="TextBox 39"/>
          <p:cNvSpPr txBox="1"/>
          <p:nvPr/>
        </p:nvSpPr>
        <p:spPr>
          <a:xfrm>
            <a:off x="6400800" y="5230368"/>
            <a:ext cx="5486400" cy="301752"/>
          </a:xfrm>
          <a:prstGeom prst="rect">
            <a:avLst/>
          </a:prstGeom>
          <a:noFill/>
        </p:spPr>
        <p:txBody>
          <a:bodyPr wrap="square">
            <a:spAutoFit/>
          </a:bodyPr>
          <a:lstStyle/>
          <a:p>
            <a:pPr algn="l"/>
            <a:r>
              <a:rPr sz="1100" b="0">
                <a:solidFill>
                  <a:srgbClr val="FFFFFF"/>
                </a:solidFill>
                <a:latin typeface="Calibri"/>
              </a:rPr>
              <a:t>📄  backend-r/plumber.R          — REST API (30+ endpoints)</a:t>
            </a:r>
          </a:p>
        </p:txBody>
      </p:sp>
      <p:sp>
        <p:nvSpPr>
          <p:cNvPr id="41" name="TextBox 40"/>
          <p:cNvSpPr txBox="1"/>
          <p:nvPr/>
        </p:nvSpPr>
        <p:spPr>
          <a:xfrm>
            <a:off x="6400800" y="5541264"/>
            <a:ext cx="5486400" cy="301752"/>
          </a:xfrm>
          <a:prstGeom prst="rect">
            <a:avLst/>
          </a:prstGeom>
          <a:noFill/>
        </p:spPr>
        <p:txBody>
          <a:bodyPr wrap="square">
            <a:spAutoFit/>
          </a:bodyPr>
          <a:lstStyle/>
          <a:p>
            <a:pPr algn="l"/>
            <a:r>
              <a:rPr sz="1100" b="0">
                <a:solidFill>
                  <a:srgbClr val="FFFFFF"/>
                </a:solidFill>
                <a:latin typeface="Calibri"/>
              </a:rPr>
              <a:t>📄  frontend/app/                — Next.js pages</a:t>
            </a:r>
          </a:p>
        </p:txBody>
      </p:sp>
      <p:sp>
        <p:nvSpPr>
          <p:cNvPr id="42" name="TextBox 41"/>
          <p:cNvSpPr txBox="1"/>
          <p:nvPr/>
        </p:nvSpPr>
        <p:spPr>
          <a:xfrm>
            <a:off x="6400800" y="5852159"/>
            <a:ext cx="5486400" cy="301752"/>
          </a:xfrm>
          <a:prstGeom prst="rect">
            <a:avLst/>
          </a:prstGeom>
          <a:noFill/>
        </p:spPr>
        <p:txBody>
          <a:bodyPr wrap="square">
            <a:spAutoFit/>
          </a:bodyPr>
          <a:lstStyle/>
          <a:p>
            <a:pPr algn="l"/>
            <a:r>
              <a:rPr sz="1100" b="0">
                <a:solidFill>
                  <a:srgbClr val="FFFFFF"/>
                </a:solidFill>
                <a:latin typeface="Calibri"/>
              </a:rPr>
              <a:t>📄  data.csv                     — Raw Kaggle dataset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6. Literature Review</a:t>
            </a:r>
          </a:p>
        </p:txBody>
      </p:sp>
      <p:sp>
        <p:nvSpPr>
          <p:cNvPr id="4" name="Rectangle 3"/>
          <p:cNvSpPr/>
          <p:nvPr/>
        </p:nvSpPr>
        <p:spPr>
          <a:xfrm>
            <a:off x="274320" y="804672"/>
            <a:ext cx="1179576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6400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60704"/>
            <a:ext cx="11430000" cy="320040"/>
          </a:xfrm>
          <a:prstGeom prst="rect">
            <a:avLst/>
          </a:prstGeom>
          <a:noFill/>
        </p:spPr>
        <p:txBody>
          <a:bodyPr wrap="square">
            <a:spAutoFit/>
          </a:bodyPr>
          <a:lstStyle/>
          <a:p>
            <a:pPr algn="l"/>
            <a:r>
              <a:rPr sz="1300" b="1">
                <a:solidFill>
                  <a:srgbClr val="06B6D4"/>
                </a:solidFill>
                <a:latin typeface="Calibri"/>
              </a:rPr>
              <a:t>Consumer Segmentation with Clustering</a:t>
            </a:r>
          </a:p>
        </p:txBody>
      </p:sp>
      <p:sp>
        <p:nvSpPr>
          <p:cNvPr id="8" name="TextBox 7"/>
          <p:cNvSpPr txBox="1"/>
          <p:nvPr/>
        </p:nvSpPr>
        <p:spPr>
          <a:xfrm>
            <a:off x="502920" y="1389888"/>
            <a:ext cx="11430000" cy="640080"/>
          </a:xfrm>
          <a:prstGeom prst="rect">
            <a:avLst/>
          </a:prstGeom>
          <a:noFill/>
        </p:spPr>
        <p:txBody>
          <a:bodyPr wrap="square">
            <a:spAutoFit/>
          </a:bodyPr>
          <a:lstStyle/>
          <a:p>
            <a:pPr algn="l"/>
            <a:r>
              <a:rPr sz="1150" b="0">
                <a:solidFill>
                  <a:srgbClr val="FFFFFF"/>
                </a:solidFill>
                <a:latin typeface="Calibri"/>
              </a:rPr>
              <a:t>K-Means is widely used for market segmentation in finance (Jain, 2010). Recent studies
apply clustering to spending behavior data to identify consumer archetypes such as
"savers," "spenders," and "debt-burdened" profiles (Smith &amp; Chen, 2021).</a:t>
            </a:r>
          </a:p>
        </p:txBody>
      </p:sp>
      <p:sp>
        <p:nvSpPr>
          <p:cNvPr id="9" name="Rectangle 8"/>
          <p:cNvSpPr/>
          <p:nvPr/>
        </p:nvSpPr>
        <p:spPr>
          <a:xfrm>
            <a:off x="274320" y="2148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148840"/>
            <a:ext cx="6400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03704"/>
            <a:ext cx="11430000" cy="320040"/>
          </a:xfrm>
          <a:prstGeom prst="rect">
            <a:avLst/>
          </a:prstGeom>
          <a:noFill/>
        </p:spPr>
        <p:txBody>
          <a:bodyPr wrap="square">
            <a:spAutoFit/>
          </a:bodyPr>
          <a:lstStyle/>
          <a:p>
            <a:pPr algn="l"/>
            <a:r>
              <a:rPr sz="1300" b="1">
                <a:solidFill>
                  <a:srgbClr val="06B6D4"/>
                </a:solidFill>
                <a:latin typeface="Calibri"/>
              </a:rPr>
              <a:t>Savings Prediction with Ensemble Methods</a:t>
            </a:r>
          </a:p>
        </p:txBody>
      </p:sp>
      <p:sp>
        <p:nvSpPr>
          <p:cNvPr id="12" name="TextBox 11"/>
          <p:cNvSpPr txBox="1"/>
          <p:nvPr/>
        </p:nvSpPr>
        <p:spPr>
          <a:xfrm>
            <a:off x="502920" y="2532888"/>
            <a:ext cx="11430000" cy="640080"/>
          </a:xfrm>
          <a:prstGeom prst="rect">
            <a:avLst/>
          </a:prstGeom>
          <a:noFill/>
        </p:spPr>
        <p:txBody>
          <a:bodyPr wrap="square">
            <a:spAutoFit/>
          </a:bodyPr>
          <a:lstStyle/>
          <a:p>
            <a:pPr algn="l"/>
            <a:r>
              <a:rPr sz="1150" b="0">
                <a:solidFill>
                  <a:srgbClr val="FFFFFF"/>
                </a:solidFill>
                <a:latin typeface="Calibri"/>
              </a:rPr>
              <a:t>Random Forest is a robust ensemble method that handles nonlinear relationships and
feature interactions without overfitting (Breiman, 2001). Applications in financial
forecasting show R² &gt; 0.80 for savings prediction tasks (Patel et al., 2022).</a:t>
            </a:r>
          </a:p>
        </p:txBody>
      </p:sp>
      <p:sp>
        <p:nvSpPr>
          <p:cNvPr id="13" name="Rectangle 12"/>
          <p:cNvSpPr/>
          <p:nvPr/>
        </p:nvSpPr>
        <p:spPr>
          <a:xfrm>
            <a:off x="274320" y="3291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3291840"/>
            <a:ext cx="6400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346704"/>
            <a:ext cx="11430000" cy="320040"/>
          </a:xfrm>
          <a:prstGeom prst="rect">
            <a:avLst/>
          </a:prstGeom>
          <a:noFill/>
        </p:spPr>
        <p:txBody>
          <a:bodyPr wrap="square">
            <a:spAutoFit/>
          </a:bodyPr>
          <a:lstStyle/>
          <a:p>
            <a:pPr algn="l"/>
            <a:r>
              <a:rPr sz="1300" b="1">
                <a:solidFill>
                  <a:srgbClr val="06B6D4"/>
                </a:solidFill>
                <a:latin typeface="Calibri"/>
              </a:rPr>
              <a:t>Rule-Based Financial Health Scoring</a:t>
            </a:r>
          </a:p>
        </p:txBody>
      </p:sp>
      <p:sp>
        <p:nvSpPr>
          <p:cNvPr id="16" name="TextBox 15"/>
          <p:cNvSpPr txBox="1"/>
          <p:nvPr/>
        </p:nvSpPr>
        <p:spPr>
          <a:xfrm>
            <a:off x="502920" y="3675888"/>
            <a:ext cx="11430000" cy="640080"/>
          </a:xfrm>
          <a:prstGeom prst="rect">
            <a:avLst/>
          </a:prstGeom>
          <a:noFill/>
        </p:spPr>
        <p:txBody>
          <a:bodyPr wrap="square">
            <a:spAutoFit/>
          </a:bodyPr>
          <a:lstStyle/>
          <a:p>
            <a:pPr algn="l"/>
            <a:r>
              <a:rPr sz="1150" b="0">
                <a:solidFill>
                  <a:srgbClr val="FFFFFF"/>
                </a:solidFill>
                <a:latin typeface="Calibri"/>
              </a:rPr>
              <a:t>The 50/30/20 budgeting rule (Warren &amp; Tyagi, 2005) and similar threshold-based
frameworks are used in fintech apps (Mint, YNAB). Our 9-rule engine extends this
with severity weighting and a composite 0–100 score.</a:t>
            </a:r>
          </a:p>
        </p:txBody>
      </p:sp>
      <p:sp>
        <p:nvSpPr>
          <p:cNvPr id="17" name="Rectangle 16"/>
          <p:cNvSpPr/>
          <p:nvPr/>
        </p:nvSpPr>
        <p:spPr>
          <a:xfrm>
            <a:off x="274320" y="4434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434840"/>
            <a:ext cx="6400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489703"/>
            <a:ext cx="11430000" cy="320040"/>
          </a:xfrm>
          <a:prstGeom prst="rect">
            <a:avLst/>
          </a:prstGeom>
          <a:noFill/>
        </p:spPr>
        <p:txBody>
          <a:bodyPr wrap="square">
            <a:spAutoFit/>
          </a:bodyPr>
          <a:lstStyle/>
          <a:p>
            <a:pPr algn="l"/>
            <a:r>
              <a:rPr sz="1300" b="1">
                <a:solidFill>
                  <a:srgbClr val="06B6D4"/>
                </a:solidFill>
                <a:latin typeface="Calibri"/>
              </a:rPr>
              <a:t>Feature Engineering for Financial Data</a:t>
            </a:r>
          </a:p>
        </p:txBody>
      </p:sp>
      <p:sp>
        <p:nvSpPr>
          <p:cNvPr id="20" name="TextBox 19"/>
          <p:cNvSpPr txBox="1"/>
          <p:nvPr/>
        </p:nvSpPr>
        <p:spPr>
          <a:xfrm>
            <a:off x="502920" y="4818888"/>
            <a:ext cx="11430000" cy="640080"/>
          </a:xfrm>
          <a:prstGeom prst="rect">
            <a:avLst/>
          </a:prstGeom>
          <a:noFill/>
        </p:spPr>
        <p:txBody>
          <a:bodyPr wrap="square">
            <a:spAutoFit/>
          </a:bodyPr>
          <a:lstStyle/>
          <a:p>
            <a:pPr algn="l"/>
            <a:r>
              <a:rPr sz="1150" b="0">
                <a:solidFill>
                  <a:srgbClr val="FFFFFF"/>
                </a:solidFill>
                <a:latin typeface="Calibri"/>
              </a:rPr>
              <a:t>Time-series feature engineering (lag variables, rolling averages, growth rates) is
standard in financial ML pipelines (Hyndman &amp; Athanasopoulos, 2018). Category share
ratios normalize spending across income levels for fairer comparison.</a:t>
            </a:r>
          </a:p>
        </p:txBody>
      </p:sp>
      <p:sp>
        <p:nvSpPr>
          <p:cNvPr id="21" name="Rectangle 20"/>
          <p:cNvSpPr/>
          <p:nvPr/>
        </p:nvSpPr>
        <p:spPr>
          <a:xfrm>
            <a:off x="274320" y="5577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5577840"/>
            <a:ext cx="64008" cy="10515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632703"/>
            <a:ext cx="11430000" cy="320040"/>
          </a:xfrm>
          <a:prstGeom prst="rect">
            <a:avLst/>
          </a:prstGeom>
          <a:noFill/>
        </p:spPr>
        <p:txBody>
          <a:bodyPr wrap="square">
            <a:spAutoFit/>
          </a:bodyPr>
          <a:lstStyle/>
          <a:p>
            <a:pPr algn="l"/>
            <a:r>
              <a:rPr sz="1300" b="1">
                <a:solidFill>
                  <a:srgbClr val="06B6D4"/>
                </a:solidFill>
                <a:latin typeface="Calibri"/>
              </a:rPr>
              <a:t>Gap in the Literature</a:t>
            </a:r>
          </a:p>
        </p:txBody>
      </p:sp>
      <p:sp>
        <p:nvSpPr>
          <p:cNvPr id="24" name="TextBox 23"/>
          <p:cNvSpPr txBox="1"/>
          <p:nvPr/>
        </p:nvSpPr>
        <p:spPr>
          <a:xfrm>
            <a:off x="502920" y="5961888"/>
            <a:ext cx="11430000" cy="640080"/>
          </a:xfrm>
          <a:prstGeom prst="rect">
            <a:avLst/>
          </a:prstGeom>
          <a:noFill/>
        </p:spPr>
        <p:txBody>
          <a:bodyPr wrap="square">
            <a:spAutoFit/>
          </a:bodyPr>
          <a:lstStyle/>
          <a:p>
            <a:pPr algn="l"/>
            <a:r>
              <a:rPr sz="1150" b="0">
                <a:solidFill>
                  <a:srgbClr val="FFFFFF"/>
                </a:solidFill>
                <a:latin typeface="Calibri"/>
              </a:rPr>
              <a:t>Few studies integrate clustering + regression + rule-based scoring in one pipeline,
and even fewer deploy these as real-time web services. This project addresses both
gaps by combining all three methods in a deployed full-stack application.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7. Methodology — Overview</a:t>
            </a:r>
          </a:p>
        </p:txBody>
      </p:sp>
      <p:sp>
        <p:nvSpPr>
          <p:cNvPr id="4" name="Rectangle 3"/>
          <p:cNvSpPr/>
          <p:nvPr/>
        </p:nvSpPr>
        <p:spPr>
          <a:xfrm>
            <a:off x="274320" y="804672"/>
            <a:ext cx="117957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566928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566928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143000"/>
            <a:ext cx="5394960" cy="594360"/>
          </a:xfrm>
          <a:prstGeom prst="rect">
            <a:avLst/>
          </a:prstGeom>
          <a:noFill/>
        </p:spPr>
        <p:txBody>
          <a:bodyPr wrap="square">
            <a:spAutoFit/>
          </a:bodyPr>
          <a:lstStyle/>
          <a:p>
            <a:pPr algn="l"/>
            <a:r>
              <a:rPr sz="1400" b="1">
                <a:solidFill>
                  <a:srgbClr val="4F46E5"/>
                </a:solidFill>
                <a:latin typeface="Calibri"/>
              </a:rPr>
              <a:t>Preprocessing
(preprocess_data.R)</a:t>
            </a:r>
          </a:p>
        </p:txBody>
      </p:sp>
      <p:sp>
        <p:nvSpPr>
          <p:cNvPr id="8" name="TextBox 7"/>
          <p:cNvSpPr txBox="1"/>
          <p:nvPr/>
        </p:nvSpPr>
        <p:spPr>
          <a:xfrm>
            <a:off x="457200" y="1783080"/>
            <a:ext cx="5303520" cy="310896"/>
          </a:xfrm>
          <a:prstGeom prst="rect">
            <a:avLst/>
          </a:prstGeom>
          <a:noFill/>
        </p:spPr>
        <p:txBody>
          <a:bodyPr wrap="square">
            <a:spAutoFit/>
          </a:bodyPr>
          <a:lstStyle/>
          <a:p>
            <a:pPr algn="l"/>
            <a:r>
              <a:rPr sz="1200" b="0">
                <a:solidFill>
                  <a:srgbClr val="FFFFFF"/>
                </a:solidFill>
                <a:latin typeface="Calibri"/>
              </a:rPr>
              <a:t>• Load raw CSV (15,000 rows × 19 cols)</a:t>
            </a:r>
          </a:p>
        </p:txBody>
      </p:sp>
      <p:sp>
        <p:nvSpPr>
          <p:cNvPr id="9" name="TextBox 8"/>
          <p:cNvSpPr txBox="1"/>
          <p:nvPr/>
        </p:nvSpPr>
        <p:spPr>
          <a:xfrm>
            <a:off x="457200" y="2112264"/>
            <a:ext cx="5303520" cy="310896"/>
          </a:xfrm>
          <a:prstGeom prst="rect">
            <a:avLst/>
          </a:prstGeom>
          <a:noFill/>
        </p:spPr>
        <p:txBody>
          <a:bodyPr wrap="square">
            <a:spAutoFit/>
          </a:bodyPr>
          <a:lstStyle/>
          <a:p>
            <a:pPr algn="l"/>
            <a:r>
              <a:rPr sz="1200" b="0">
                <a:solidFill>
                  <a:srgbClr val="FFFFFF"/>
                </a:solidFill>
                <a:latin typeface="Calibri"/>
              </a:rPr>
              <a:t>• Fill NAs with 0, clamp negatives to 0</a:t>
            </a:r>
          </a:p>
        </p:txBody>
      </p:sp>
      <p:sp>
        <p:nvSpPr>
          <p:cNvPr id="10" name="TextBox 9"/>
          <p:cNvSpPr txBox="1"/>
          <p:nvPr/>
        </p:nvSpPr>
        <p:spPr>
          <a:xfrm>
            <a:off x="457200" y="2441448"/>
            <a:ext cx="5303520" cy="310896"/>
          </a:xfrm>
          <a:prstGeom prst="rect">
            <a:avLst/>
          </a:prstGeom>
          <a:noFill/>
        </p:spPr>
        <p:txBody>
          <a:bodyPr wrap="square">
            <a:spAutoFit/>
          </a:bodyPr>
          <a:lstStyle/>
          <a:p>
            <a:pPr algn="l"/>
            <a:r>
              <a:rPr sz="1200" b="0">
                <a:solidFill>
                  <a:srgbClr val="FFFFFF"/>
                </a:solidFill>
                <a:latin typeface="Calibri"/>
              </a:rPr>
              <a:t>• Simulate 6-month history per user (+5% noise)</a:t>
            </a:r>
          </a:p>
        </p:txBody>
      </p:sp>
      <p:sp>
        <p:nvSpPr>
          <p:cNvPr id="11" name="TextBox 10"/>
          <p:cNvSpPr txBox="1"/>
          <p:nvPr/>
        </p:nvSpPr>
        <p:spPr>
          <a:xfrm>
            <a:off x="457200" y="2770632"/>
            <a:ext cx="5303520" cy="310896"/>
          </a:xfrm>
          <a:prstGeom prst="rect">
            <a:avLst/>
          </a:prstGeom>
          <a:noFill/>
        </p:spPr>
        <p:txBody>
          <a:bodyPr wrap="square">
            <a:spAutoFit/>
          </a:bodyPr>
          <a:lstStyle/>
          <a:p>
            <a:pPr algn="l"/>
            <a:r>
              <a:rPr sz="1200" b="0">
                <a:solidFill>
                  <a:srgbClr val="FFFFFF"/>
                </a:solidFill>
                <a:latin typeface="Calibri"/>
              </a:rPr>
              <a:t>• Compute 11 category shares + 3 lag features</a:t>
            </a:r>
          </a:p>
        </p:txBody>
      </p:sp>
      <p:sp>
        <p:nvSpPr>
          <p:cNvPr id="12" name="TextBox 11"/>
          <p:cNvSpPr txBox="1"/>
          <p:nvPr/>
        </p:nvSpPr>
        <p:spPr>
          <a:xfrm>
            <a:off x="457200" y="3099815"/>
            <a:ext cx="5303520" cy="310896"/>
          </a:xfrm>
          <a:prstGeom prst="rect">
            <a:avLst/>
          </a:prstGeom>
          <a:noFill/>
        </p:spPr>
        <p:txBody>
          <a:bodyPr wrap="square">
            <a:spAutoFit/>
          </a:bodyPr>
          <a:lstStyle/>
          <a:p>
            <a:pPr algn="l"/>
            <a:r>
              <a:rPr sz="1200" b="0">
                <a:solidFill>
                  <a:srgbClr val="FFFFFF"/>
                </a:solidFill>
                <a:latin typeface="Calibri"/>
              </a:rPr>
              <a:t>• Save 90,000+ row feature matrix as CSV</a:t>
            </a:r>
          </a:p>
        </p:txBody>
      </p:sp>
      <p:sp>
        <p:nvSpPr>
          <p:cNvPr id="13" name="Rectangle 12"/>
          <p:cNvSpPr/>
          <p:nvPr/>
        </p:nvSpPr>
        <p:spPr>
          <a:xfrm>
            <a:off x="6217920" y="1005840"/>
            <a:ext cx="566928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005840"/>
            <a:ext cx="56692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143000"/>
            <a:ext cx="5394960" cy="594360"/>
          </a:xfrm>
          <a:prstGeom prst="rect">
            <a:avLst/>
          </a:prstGeom>
          <a:noFill/>
        </p:spPr>
        <p:txBody>
          <a:bodyPr wrap="square">
            <a:spAutoFit/>
          </a:bodyPr>
          <a:lstStyle/>
          <a:p>
            <a:pPr algn="l"/>
            <a:r>
              <a:rPr sz="1400" b="1">
                <a:solidFill>
                  <a:srgbClr val="10B981"/>
                </a:solidFill>
                <a:latin typeface="Calibri"/>
              </a:rPr>
              <a:t>K-Means Clustering
(train_clustering.R)</a:t>
            </a:r>
          </a:p>
        </p:txBody>
      </p:sp>
      <p:sp>
        <p:nvSpPr>
          <p:cNvPr id="16" name="TextBox 15"/>
          <p:cNvSpPr txBox="1"/>
          <p:nvPr/>
        </p:nvSpPr>
        <p:spPr>
          <a:xfrm>
            <a:off x="6400800" y="1783080"/>
            <a:ext cx="5303520" cy="310896"/>
          </a:xfrm>
          <a:prstGeom prst="rect">
            <a:avLst/>
          </a:prstGeom>
          <a:noFill/>
        </p:spPr>
        <p:txBody>
          <a:bodyPr wrap="square">
            <a:spAutoFit/>
          </a:bodyPr>
          <a:lstStyle/>
          <a:p>
            <a:pPr algn="l"/>
            <a:r>
              <a:rPr sz="1200" b="0">
                <a:solidFill>
                  <a:srgbClr val="FFFFFF"/>
                </a:solidFill>
                <a:latin typeface="Calibri"/>
              </a:rPr>
              <a:t>• 12 features: 11 shares + savings_rate</a:t>
            </a:r>
          </a:p>
        </p:txBody>
      </p:sp>
      <p:sp>
        <p:nvSpPr>
          <p:cNvPr id="17" name="TextBox 16"/>
          <p:cNvSpPr txBox="1"/>
          <p:nvPr/>
        </p:nvSpPr>
        <p:spPr>
          <a:xfrm>
            <a:off x="6400800" y="2112264"/>
            <a:ext cx="5303520" cy="310896"/>
          </a:xfrm>
          <a:prstGeom prst="rect">
            <a:avLst/>
          </a:prstGeom>
          <a:noFill/>
        </p:spPr>
        <p:txBody>
          <a:bodyPr wrap="square">
            <a:spAutoFit/>
          </a:bodyPr>
          <a:lstStyle/>
          <a:p>
            <a:pPr algn="l"/>
            <a:r>
              <a:rPr sz="1200" b="0">
                <a:solidFill>
                  <a:srgbClr val="FFFFFF"/>
                </a:solidFill>
                <a:latin typeface="Calibri"/>
              </a:rPr>
              <a:t>• Z-score scaling via scale()</a:t>
            </a:r>
          </a:p>
        </p:txBody>
      </p:sp>
      <p:sp>
        <p:nvSpPr>
          <p:cNvPr id="18" name="TextBox 17"/>
          <p:cNvSpPr txBox="1"/>
          <p:nvPr/>
        </p:nvSpPr>
        <p:spPr>
          <a:xfrm>
            <a:off x="6400800" y="2441448"/>
            <a:ext cx="5303520" cy="310896"/>
          </a:xfrm>
          <a:prstGeom prst="rect">
            <a:avLst/>
          </a:prstGeom>
          <a:noFill/>
        </p:spPr>
        <p:txBody>
          <a:bodyPr wrap="square">
            <a:spAutoFit/>
          </a:bodyPr>
          <a:lstStyle/>
          <a:p>
            <a:pPr algn="l"/>
            <a:r>
              <a:rPr sz="1200" b="0">
                <a:solidFill>
                  <a:srgbClr val="FFFFFF"/>
                </a:solidFill>
                <a:latin typeface="Calibri"/>
              </a:rPr>
              <a:t>• k = 4 clusters, nstart = 25</a:t>
            </a:r>
          </a:p>
        </p:txBody>
      </p:sp>
      <p:sp>
        <p:nvSpPr>
          <p:cNvPr id="19" name="TextBox 18"/>
          <p:cNvSpPr txBox="1"/>
          <p:nvPr/>
        </p:nvSpPr>
        <p:spPr>
          <a:xfrm>
            <a:off x="6400800" y="2770632"/>
            <a:ext cx="5303520" cy="310896"/>
          </a:xfrm>
          <a:prstGeom prst="rect">
            <a:avLst/>
          </a:prstGeom>
          <a:noFill/>
        </p:spPr>
        <p:txBody>
          <a:bodyPr wrap="square">
            <a:spAutoFit/>
          </a:bodyPr>
          <a:lstStyle/>
          <a:p>
            <a:pPr algn="l"/>
            <a:r>
              <a:rPr sz="1200" b="0">
                <a:solidFill>
                  <a:srgbClr val="FFFFFF"/>
                </a:solidFill>
                <a:latin typeface="Calibri"/>
              </a:rPr>
              <a:t>• Evaluate: Between-SS / Total-SS ratio</a:t>
            </a:r>
          </a:p>
        </p:txBody>
      </p:sp>
      <p:sp>
        <p:nvSpPr>
          <p:cNvPr id="20" name="TextBox 19"/>
          <p:cNvSpPr txBox="1"/>
          <p:nvPr/>
        </p:nvSpPr>
        <p:spPr>
          <a:xfrm>
            <a:off x="6400800" y="3099815"/>
            <a:ext cx="5303520" cy="310896"/>
          </a:xfrm>
          <a:prstGeom prst="rect">
            <a:avLst/>
          </a:prstGeom>
          <a:noFill/>
        </p:spPr>
        <p:txBody>
          <a:bodyPr wrap="square">
            <a:spAutoFit/>
          </a:bodyPr>
          <a:lstStyle/>
          <a:p>
            <a:pPr algn="l"/>
            <a:r>
              <a:rPr sz="1200" b="0">
                <a:solidFill>
                  <a:srgbClr val="FFFFFF"/>
                </a:solidFill>
                <a:latin typeface="Calibri"/>
              </a:rPr>
              <a:t>• Output: kmeans_model.rds + scaler.rds</a:t>
            </a:r>
          </a:p>
        </p:txBody>
      </p:sp>
      <p:sp>
        <p:nvSpPr>
          <p:cNvPr id="21" name="Rectangle 20"/>
          <p:cNvSpPr/>
          <p:nvPr/>
        </p:nvSpPr>
        <p:spPr>
          <a:xfrm>
            <a:off x="274320" y="3840480"/>
            <a:ext cx="566928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3840480"/>
            <a:ext cx="566928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3977640"/>
            <a:ext cx="5394960" cy="594360"/>
          </a:xfrm>
          <a:prstGeom prst="rect">
            <a:avLst/>
          </a:prstGeom>
          <a:noFill/>
        </p:spPr>
        <p:txBody>
          <a:bodyPr wrap="square">
            <a:spAutoFit/>
          </a:bodyPr>
          <a:lstStyle/>
          <a:p>
            <a:pPr algn="l"/>
            <a:r>
              <a:rPr sz="1400" b="1">
                <a:solidFill>
                  <a:srgbClr val="7C3AED"/>
                </a:solidFill>
                <a:latin typeface="Calibri"/>
              </a:rPr>
              <a:t>Random Forest
(train_prediction.R)</a:t>
            </a:r>
          </a:p>
        </p:txBody>
      </p:sp>
      <p:sp>
        <p:nvSpPr>
          <p:cNvPr id="24" name="TextBox 23"/>
          <p:cNvSpPr txBox="1"/>
          <p:nvPr/>
        </p:nvSpPr>
        <p:spPr>
          <a:xfrm>
            <a:off x="457200" y="4617720"/>
            <a:ext cx="5303520" cy="310896"/>
          </a:xfrm>
          <a:prstGeom prst="rect">
            <a:avLst/>
          </a:prstGeom>
          <a:noFill/>
        </p:spPr>
        <p:txBody>
          <a:bodyPr wrap="square">
            <a:spAutoFit/>
          </a:bodyPr>
          <a:lstStyle/>
          <a:p>
            <a:pPr algn="l"/>
            <a:r>
              <a:rPr sz="1200" b="0">
                <a:solidFill>
                  <a:srgbClr val="FFFFFF"/>
                </a:solidFill>
                <a:latin typeface="Calibri"/>
              </a:rPr>
              <a:t>• 16 predictors → target: next_month_savings</a:t>
            </a:r>
          </a:p>
        </p:txBody>
      </p:sp>
      <p:sp>
        <p:nvSpPr>
          <p:cNvPr id="25" name="TextBox 24"/>
          <p:cNvSpPr txBox="1"/>
          <p:nvPr/>
        </p:nvSpPr>
        <p:spPr>
          <a:xfrm>
            <a:off x="457200" y="4946904"/>
            <a:ext cx="5303520" cy="310896"/>
          </a:xfrm>
          <a:prstGeom prst="rect">
            <a:avLst/>
          </a:prstGeom>
          <a:noFill/>
        </p:spPr>
        <p:txBody>
          <a:bodyPr wrap="square">
            <a:spAutoFit/>
          </a:bodyPr>
          <a:lstStyle/>
          <a:p>
            <a:pPr algn="l"/>
            <a:r>
              <a:rPr sz="1200" b="0">
                <a:solidFill>
                  <a:srgbClr val="FFFFFF"/>
                </a:solidFill>
                <a:latin typeface="Calibri"/>
              </a:rPr>
              <a:t>• ntree = 100, mtry = 5, importance = TRUE</a:t>
            </a:r>
          </a:p>
        </p:txBody>
      </p:sp>
      <p:sp>
        <p:nvSpPr>
          <p:cNvPr id="26" name="TextBox 25"/>
          <p:cNvSpPr txBox="1"/>
          <p:nvPr/>
        </p:nvSpPr>
        <p:spPr>
          <a:xfrm>
            <a:off x="457200" y="5276088"/>
            <a:ext cx="5303520" cy="310896"/>
          </a:xfrm>
          <a:prstGeom prst="rect">
            <a:avLst/>
          </a:prstGeom>
          <a:noFill/>
        </p:spPr>
        <p:txBody>
          <a:bodyPr wrap="square">
            <a:spAutoFit/>
          </a:bodyPr>
          <a:lstStyle/>
          <a:p>
            <a:pPr algn="l"/>
            <a:r>
              <a:rPr sz="1200" b="0">
                <a:solidFill>
                  <a:srgbClr val="FFFFFF"/>
                </a:solidFill>
                <a:latin typeface="Calibri"/>
              </a:rPr>
              <a:t>• Train/test split: 80% / 20%</a:t>
            </a:r>
          </a:p>
        </p:txBody>
      </p:sp>
      <p:sp>
        <p:nvSpPr>
          <p:cNvPr id="27" name="TextBox 26"/>
          <p:cNvSpPr txBox="1"/>
          <p:nvPr/>
        </p:nvSpPr>
        <p:spPr>
          <a:xfrm>
            <a:off x="457200" y="5605272"/>
            <a:ext cx="5303520" cy="310896"/>
          </a:xfrm>
          <a:prstGeom prst="rect">
            <a:avLst/>
          </a:prstGeom>
          <a:noFill/>
        </p:spPr>
        <p:txBody>
          <a:bodyPr wrap="square">
            <a:spAutoFit/>
          </a:bodyPr>
          <a:lstStyle/>
          <a:p>
            <a:pPr algn="l"/>
            <a:r>
              <a:rPr sz="1200" b="0">
                <a:solidFill>
                  <a:srgbClr val="FFFFFF"/>
                </a:solidFill>
                <a:latin typeface="Calibri"/>
              </a:rPr>
              <a:t>• Evaluate: R², RMSE, MAE</a:t>
            </a:r>
          </a:p>
        </p:txBody>
      </p:sp>
      <p:sp>
        <p:nvSpPr>
          <p:cNvPr id="28" name="TextBox 27"/>
          <p:cNvSpPr txBox="1"/>
          <p:nvPr/>
        </p:nvSpPr>
        <p:spPr>
          <a:xfrm>
            <a:off x="457200" y="5934456"/>
            <a:ext cx="5303520" cy="310896"/>
          </a:xfrm>
          <a:prstGeom prst="rect">
            <a:avLst/>
          </a:prstGeom>
          <a:noFill/>
        </p:spPr>
        <p:txBody>
          <a:bodyPr wrap="square">
            <a:spAutoFit/>
          </a:bodyPr>
          <a:lstStyle/>
          <a:p>
            <a:pPr algn="l"/>
            <a:r>
              <a:rPr sz="1200" b="0">
                <a:solidFill>
                  <a:srgbClr val="FFFFFF"/>
                </a:solidFill>
                <a:latin typeface="Calibri"/>
              </a:rPr>
              <a:t>• Output: rf_savings_model.rds</a:t>
            </a:r>
          </a:p>
        </p:txBody>
      </p:sp>
      <p:sp>
        <p:nvSpPr>
          <p:cNvPr id="29" name="Rectangle 28"/>
          <p:cNvSpPr/>
          <p:nvPr/>
        </p:nvSpPr>
        <p:spPr>
          <a:xfrm>
            <a:off x="6217920" y="3840480"/>
            <a:ext cx="566928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3840480"/>
            <a:ext cx="566928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3977640"/>
            <a:ext cx="5394960" cy="594360"/>
          </a:xfrm>
          <a:prstGeom prst="rect">
            <a:avLst/>
          </a:prstGeom>
          <a:noFill/>
        </p:spPr>
        <p:txBody>
          <a:bodyPr wrap="square">
            <a:spAutoFit/>
          </a:bodyPr>
          <a:lstStyle/>
          <a:p>
            <a:pPr algn="l"/>
            <a:r>
              <a:rPr sz="1400" b="1">
                <a:solidFill>
                  <a:srgbClr val="DC2626"/>
                </a:solidFill>
                <a:latin typeface="Calibri"/>
              </a:rPr>
              <a:t>Overspending Engine
(overspending.R)</a:t>
            </a:r>
          </a:p>
        </p:txBody>
      </p:sp>
      <p:sp>
        <p:nvSpPr>
          <p:cNvPr id="32" name="TextBox 31"/>
          <p:cNvSpPr txBox="1"/>
          <p:nvPr/>
        </p:nvSpPr>
        <p:spPr>
          <a:xfrm>
            <a:off x="6400800" y="4617720"/>
            <a:ext cx="5303520" cy="310896"/>
          </a:xfrm>
          <a:prstGeom prst="rect">
            <a:avLst/>
          </a:prstGeom>
          <a:noFill/>
        </p:spPr>
        <p:txBody>
          <a:bodyPr wrap="square">
            <a:spAutoFit/>
          </a:bodyPr>
          <a:lstStyle/>
          <a:p>
            <a:pPr algn="l"/>
            <a:r>
              <a:rPr sz="1200" b="0">
                <a:solidFill>
                  <a:srgbClr val="FFFFFF"/>
                </a:solidFill>
                <a:latin typeface="Calibri"/>
              </a:rPr>
              <a:t>• 9 configurable threshold rules</a:t>
            </a:r>
          </a:p>
        </p:txBody>
      </p:sp>
      <p:sp>
        <p:nvSpPr>
          <p:cNvPr id="33" name="TextBox 32"/>
          <p:cNvSpPr txBox="1"/>
          <p:nvPr/>
        </p:nvSpPr>
        <p:spPr>
          <a:xfrm>
            <a:off x="6400800" y="4946904"/>
            <a:ext cx="5303520" cy="310896"/>
          </a:xfrm>
          <a:prstGeom prst="rect">
            <a:avLst/>
          </a:prstGeom>
          <a:noFill/>
        </p:spPr>
        <p:txBody>
          <a:bodyPr wrap="square">
            <a:spAutoFit/>
          </a:bodyPr>
          <a:lstStyle/>
          <a:p>
            <a:pPr algn="l"/>
            <a:r>
              <a:rPr sz="1200" b="0">
                <a:solidFill>
                  <a:srgbClr val="FFFFFF"/>
                </a:solidFill>
                <a:latin typeface="Calibri"/>
              </a:rPr>
              <a:t>• Severity levels: critical/high/medium/low</a:t>
            </a:r>
          </a:p>
        </p:txBody>
      </p:sp>
      <p:sp>
        <p:nvSpPr>
          <p:cNvPr id="34" name="TextBox 33"/>
          <p:cNvSpPr txBox="1"/>
          <p:nvPr/>
        </p:nvSpPr>
        <p:spPr>
          <a:xfrm>
            <a:off x="6400800" y="5276088"/>
            <a:ext cx="5303520" cy="310896"/>
          </a:xfrm>
          <a:prstGeom prst="rect">
            <a:avLst/>
          </a:prstGeom>
          <a:noFill/>
        </p:spPr>
        <p:txBody>
          <a:bodyPr wrap="square">
            <a:spAutoFit/>
          </a:bodyPr>
          <a:lstStyle/>
          <a:p>
            <a:pPr algn="l"/>
            <a:r>
              <a:rPr sz="1200" b="0">
                <a:solidFill>
                  <a:srgbClr val="FFFFFF"/>
                </a:solidFill>
                <a:latin typeface="Calibri"/>
              </a:rPr>
              <a:t>• Financial Health Score: 0–100</a:t>
            </a:r>
          </a:p>
        </p:txBody>
      </p:sp>
      <p:sp>
        <p:nvSpPr>
          <p:cNvPr id="35" name="TextBox 34"/>
          <p:cNvSpPr txBox="1"/>
          <p:nvPr/>
        </p:nvSpPr>
        <p:spPr>
          <a:xfrm>
            <a:off x="6400800" y="5605272"/>
            <a:ext cx="5303520" cy="310896"/>
          </a:xfrm>
          <a:prstGeom prst="rect">
            <a:avLst/>
          </a:prstGeom>
          <a:noFill/>
        </p:spPr>
        <p:txBody>
          <a:bodyPr wrap="square">
            <a:spAutoFit/>
          </a:bodyPr>
          <a:lstStyle/>
          <a:p>
            <a:pPr algn="l"/>
            <a:r>
              <a:rPr sz="1200" b="0">
                <a:solidFill>
                  <a:srgbClr val="FFFFFF"/>
                </a:solidFill>
                <a:latin typeface="Calibri"/>
              </a:rPr>
              <a:t>• Scoring: 100 − severity_penalties + savings_bonus</a:t>
            </a:r>
          </a:p>
        </p:txBody>
      </p:sp>
      <p:sp>
        <p:nvSpPr>
          <p:cNvPr id="36" name="TextBox 35"/>
          <p:cNvSpPr txBox="1"/>
          <p:nvPr/>
        </p:nvSpPr>
        <p:spPr>
          <a:xfrm>
            <a:off x="6400800" y="5934456"/>
            <a:ext cx="5303520" cy="310896"/>
          </a:xfrm>
          <a:prstGeom prst="rect">
            <a:avLst/>
          </a:prstGeom>
          <a:noFill/>
        </p:spPr>
        <p:txBody>
          <a:bodyPr wrap="square">
            <a:spAutoFit/>
          </a:bodyPr>
          <a:lstStyle/>
          <a:p>
            <a:pPr algn="l"/>
            <a:r>
              <a:rPr sz="1200" b="0">
                <a:solidFill>
                  <a:srgbClr val="FFFFFF"/>
                </a:solidFill>
                <a:latin typeface="Calibri"/>
              </a:rPr>
              <a:t>• Real-time per-user evaluation via API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8. Methodology — Preprocessing Pipeline</a:t>
            </a:r>
          </a:p>
        </p:txBody>
      </p:sp>
      <p:sp>
        <p:nvSpPr>
          <p:cNvPr id="4" name="Rectangle 3"/>
          <p:cNvSpPr/>
          <p:nvPr/>
        </p:nvSpPr>
        <p:spPr>
          <a:xfrm>
            <a:off x="274320" y="804672"/>
            <a:ext cx="117957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365760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36576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 y="1143000"/>
            <a:ext cx="3383280" cy="365760"/>
          </a:xfrm>
          <a:prstGeom prst="rect">
            <a:avLst/>
          </a:prstGeom>
          <a:noFill/>
        </p:spPr>
        <p:txBody>
          <a:bodyPr wrap="square">
            <a:spAutoFit/>
          </a:bodyPr>
          <a:lstStyle/>
          <a:p>
            <a:pPr algn="l"/>
            <a:r>
              <a:rPr sz="1400" b="1">
                <a:solidFill>
                  <a:srgbClr val="10B981"/>
                </a:solidFill>
                <a:latin typeface="Calibri"/>
              </a:rPr>
              <a:t>Step 1 — Load CSV</a:t>
            </a:r>
          </a:p>
        </p:txBody>
      </p:sp>
      <p:sp>
        <p:nvSpPr>
          <p:cNvPr id="8" name="TextBox 7"/>
          <p:cNvSpPr txBox="1"/>
          <p:nvPr/>
        </p:nvSpPr>
        <p:spPr>
          <a:xfrm>
            <a:off x="411479" y="1600200"/>
            <a:ext cx="3383280" cy="1828800"/>
          </a:xfrm>
          <a:prstGeom prst="rect">
            <a:avLst/>
          </a:prstGeom>
          <a:noFill/>
        </p:spPr>
        <p:txBody>
          <a:bodyPr wrap="square">
            <a:spAutoFit/>
          </a:bodyPr>
          <a:lstStyle/>
          <a:p>
            <a:pPr algn="l"/>
            <a:r>
              <a:rPr sz="1200" b="0">
                <a:solidFill>
                  <a:srgbClr val="FFFFFF"/>
                </a:solidFill>
                <a:latin typeface="Calibri"/>
              </a:rPr>
              <a:t>read.csv(data.csv)
15,000 rows × 19 columns
Print structure, head, and column types</a:t>
            </a:r>
          </a:p>
        </p:txBody>
      </p:sp>
      <p:sp>
        <p:nvSpPr>
          <p:cNvPr id="9" name="Rectangle 8"/>
          <p:cNvSpPr/>
          <p:nvPr/>
        </p:nvSpPr>
        <p:spPr>
          <a:xfrm>
            <a:off x="4206240" y="1005840"/>
            <a:ext cx="365760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06240" y="1005840"/>
            <a:ext cx="36576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143000"/>
            <a:ext cx="3383280" cy="365760"/>
          </a:xfrm>
          <a:prstGeom prst="rect">
            <a:avLst/>
          </a:prstGeom>
          <a:noFill/>
        </p:spPr>
        <p:txBody>
          <a:bodyPr wrap="square">
            <a:spAutoFit/>
          </a:bodyPr>
          <a:lstStyle/>
          <a:p>
            <a:pPr algn="l"/>
            <a:r>
              <a:rPr sz="1400" b="1">
                <a:solidFill>
                  <a:srgbClr val="7C3AED"/>
                </a:solidFill>
                <a:latin typeface="Calibri"/>
              </a:rPr>
              <a:t>Step 2 — Clean</a:t>
            </a:r>
          </a:p>
        </p:txBody>
      </p:sp>
      <p:sp>
        <p:nvSpPr>
          <p:cNvPr id="12" name="TextBox 11"/>
          <p:cNvSpPr txBox="1"/>
          <p:nvPr/>
        </p:nvSpPr>
        <p:spPr>
          <a:xfrm>
            <a:off x="4343400" y="1600200"/>
            <a:ext cx="3383280" cy="1828800"/>
          </a:xfrm>
          <a:prstGeom prst="rect">
            <a:avLst/>
          </a:prstGeom>
          <a:noFill/>
        </p:spPr>
        <p:txBody>
          <a:bodyPr wrap="square">
            <a:spAutoFit/>
          </a:bodyPr>
          <a:lstStyle/>
          <a:p>
            <a:pPr algn="l"/>
            <a:r>
              <a:rPr sz="1200" b="0">
                <a:solidFill>
                  <a:srgbClr val="FFFFFF"/>
                </a:solidFill>
                <a:latin typeface="Calibri"/>
              </a:rPr>
              <a:t>colSums(is.na(df)) → count NAs
Fill NAs with 0
Clamp money columns: pmax(0, x)</a:t>
            </a:r>
          </a:p>
        </p:txBody>
      </p:sp>
      <p:sp>
        <p:nvSpPr>
          <p:cNvPr id="13" name="Rectangle 12"/>
          <p:cNvSpPr/>
          <p:nvPr/>
        </p:nvSpPr>
        <p:spPr>
          <a:xfrm>
            <a:off x="8138160" y="1005840"/>
            <a:ext cx="365760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005840"/>
            <a:ext cx="365760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143000"/>
            <a:ext cx="3383280" cy="365760"/>
          </a:xfrm>
          <a:prstGeom prst="rect">
            <a:avLst/>
          </a:prstGeom>
          <a:noFill/>
        </p:spPr>
        <p:txBody>
          <a:bodyPr wrap="square">
            <a:spAutoFit/>
          </a:bodyPr>
          <a:lstStyle/>
          <a:p>
            <a:pPr algn="l"/>
            <a:r>
              <a:rPr sz="1400" b="1">
                <a:solidFill>
                  <a:srgbClr val="F97316"/>
                </a:solidFill>
                <a:latin typeface="Calibri"/>
              </a:rPr>
              <a:t>Step 3 — Simulate</a:t>
            </a:r>
          </a:p>
        </p:txBody>
      </p:sp>
      <p:sp>
        <p:nvSpPr>
          <p:cNvPr id="16" name="TextBox 15"/>
          <p:cNvSpPr txBox="1"/>
          <p:nvPr/>
        </p:nvSpPr>
        <p:spPr>
          <a:xfrm>
            <a:off x="8275320" y="1600200"/>
            <a:ext cx="3383280" cy="1828800"/>
          </a:xfrm>
          <a:prstGeom prst="rect">
            <a:avLst/>
          </a:prstGeom>
          <a:noFill/>
        </p:spPr>
        <p:txBody>
          <a:bodyPr wrap="square">
            <a:spAutoFit/>
          </a:bodyPr>
          <a:lstStyle/>
          <a:p>
            <a:pPr algn="l"/>
            <a:r>
              <a:rPr sz="1200" b="0">
                <a:solidFill>
                  <a:srgbClr val="FFFFFF"/>
                </a:solidFill>
                <a:latin typeface="Calibri"/>
              </a:rPr>
              <a:t>Repeat each user 6× (6 months)
Add 5% random noise to variable expenses
Fixed costs (rent, insurance) stay constant</a:t>
            </a:r>
          </a:p>
        </p:txBody>
      </p:sp>
      <p:sp>
        <p:nvSpPr>
          <p:cNvPr id="17" name="Rectangle 16"/>
          <p:cNvSpPr/>
          <p:nvPr/>
        </p:nvSpPr>
        <p:spPr>
          <a:xfrm>
            <a:off x="274320" y="3840480"/>
            <a:ext cx="365760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3840480"/>
            <a:ext cx="365760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79" y="3977640"/>
            <a:ext cx="3383280" cy="365760"/>
          </a:xfrm>
          <a:prstGeom prst="rect">
            <a:avLst/>
          </a:prstGeom>
          <a:noFill/>
        </p:spPr>
        <p:txBody>
          <a:bodyPr wrap="square">
            <a:spAutoFit/>
          </a:bodyPr>
          <a:lstStyle/>
          <a:p>
            <a:pPr algn="l"/>
            <a:r>
              <a:rPr sz="1400" b="1">
                <a:solidFill>
                  <a:srgbClr val="4F46E5"/>
                </a:solidFill>
                <a:latin typeface="Calibri"/>
              </a:rPr>
              <a:t>Step 4 — Shares</a:t>
            </a:r>
          </a:p>
        </p:txBody>
      </p:sp>
      <p:sp>
        <p:nvSpPr>
          <p:cNvPr id="20" name="TextBox 19"/>
          <p:cNvSpPr txBox="1"/>
          <p:nvPr/>
        </p:nvSpPr>
        <p:spPr>
          <a:xfrm>
            <a:off x="411479" y="4434840"/>
            <a:ext cx="3383280" cy="1828800"/>
          </a:xfrm>
          <a:prstGeom prst="rect">
            <a:avLst/>
          </a:prstGeom>
          <a:noFill/>
        </p:spPr>
        <p:txBody>
          <a:bodyPr wrap="square">
            <a:spAutoFit/>
          </a:bodyPr>
          <a:lstStyle/>
          <a:p>
            <a:pPr algn="l"/>
            <a:r>
              <a:rPr sz="1200" b="0">
                <a:solidFill>
                  <a:srgbClr val="FFFFFF"/>
                </a:solidFill>
                <a:latin typeface="Calibri"/>
              </a:rPr>
              <a:t>total_expense = sum of 11 categories
savings_rate = (Income − expense) / Income
11 category shares: category / total_expense</a:t>
            </a:r>
          </a:p>
        </p:txBody>
      </p:sp>
      <p:sp>
        <p:nvSpPr>
          <p:cNvPr id="21" name="Rectangle 20"/>
          <p:cNvSpPr/>
          <p:nvPr/>
        </p:nvSpPr>
        <p:spPr>
          <a:xfrm>
            <a:off x="4206240" y="3840480"/>
            <a:ext cx="365760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06240" y="3840480"/>
            <a:ext cx="365760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3977640"/>
            <a:ext cx="3383280" cy="365760"/>
          </a:xfrm>
          <a:prstGeom prst="rect">
            <a:avLst/>
          </a:prstGeom>
          <a:noFill/>
        </p:spPr>
        <p:txBody>
          <a:bodyPr wrap="square">
            <a:spAutoFit/>
          </a:bodyPr>
          <a:lstStyle/>
          <a:p>
            <a:pPr algn="l"/>
            <a:r>
              <a:rPr sz="1400" b="1">
                <a:solidFill>
                  <a:srgbClr val="DC2626"/>
                </a:solidFill>
                <a:latin typeface="Calibri"/>
              </a:rPr>
              <a:t>Step 5 — Lags</a:t>
            </a:r>
          </a:p>
        </p:txBody>
      </p:sp>
      <p:sp>
        <p:nvSpPr>
          <p:cNvPr id="24" name="TextBox 23"/>
          <p:cNvSpPr txBox="1"/>
          <p:nvPr/>
        </p:nvSpPr>
        <p:spPr>
          <a:xfrm>
            <a:off x="4343400" y="4434840"/>
            <a:ext cx="3383280" cy="1828800"/>
          </a:xfrm>
          <a:prstGeom prst="rect">
            <a:avLst/>
          </a:prstGeom>
          <a:noFill/>
        </p:spPr>
        <p:txBody>
          <a:bodyPr wrap="square">
            <a:spAutoFit/>
          </a:bodyPr>
          <a:lstStyle/>
          <a:p>
            <a:pPr algn="l"/>
            <a:r>
              <a:rPr sz="1200" b="0">
                <a:solidFill>
                  <a:srgbClr val="FFFFFF"/>
                </a:solidFill>
                <a:latin typeface="Calibri"/>
              </a:rPr>
              <a:t>expense_growth = MoM % change
avg_savings_last_3m = rolling mean
next_month_savings = lead(actual_savings)</a:t>
            </a:r>
          </a:p>
        </p:txBody>
      </p:sp>
      <p:sp>
        <p:nvSpPr>
          <p:cNvPr id="25" name="Rectangle 24"/>
          <p:cNvSpPr/>
          <p:nvPr/>
        </p:nvSpPr>
        <p:spPr>
          <a:xfrm>
            <a:off x="8138160" y="3840480"/>
            <a:ext cx="3657600"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840480"/>
            <a:ext cx="365760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20" y="3977640"/>
            <a:ext cx="3383280" cy="365760"/>
          </a:xfrm>
          <a:prstGeom prst="rect">
            <a:avLst/>
          </a:prstGeom>
          <a:noFill/>
        </p:spPr>
        <p:txBody>
          <a:bodyPr wrap="square">
            <a:spAutoFit/>
          </a:bodyPr>
          <a:lstStyle/>
          <a:p>
            <a:pPr algn="l"/>
            <a:r>
              <a:rPr sz="1400" b="1">
                <a:solidFill>
                  <a:srgbClr val="06B6D4"/>
                </a:solidFill>
                <a:latin typeface="Calibri"/>
              </a:rPr>
              <a:t>Step 6 — Save</a:t>
            </a:r>
          </a:p>
        </p:txBody>
      </p:sp>
      <p:sp>
        <p:nvSpPr>
          <p:cNvPr id="28" name="TextBox 27"/>
          <p:cNvSpPr txBox="1"/>
          <p:nvPr/>
        </p:nvSpPr>
        <p:spPr>
          <a:xfrm>
            <a:off x="8275320" y="4434840"/>
            <a:ext cx="3383280" cy="1828800"/>
          </a:xfrm>
          <a:prstGeom prst="rect">
            <a:avLst/>
          </a:prstGeom>
          <a:noFill/>
        </p:spPr>
        <p:txBody>
          <a:bodyPr wrap="square">
            <a:spAutoFit/>
          </a:bodyPr>
          <a:lstStyle/>
          <a:p>
            <a:pPr algn="l"/>
            <a:r>
              <a:rPr sz="1200" b="0">
                <a:solidFill>
                  <a:srgbClr val="FFFFFF"/>
                </a:solidFill>
                <a:latin typeface="Calibri"/>
              </a:rPr>
              <a:t>write.csv → kaggle_preprocessed_features.csv
4 ggplot2 diagnostic plots saved
Correlation heatmap for feature inspection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9. Data — Sources, Scope &amp; Description</a:t>
            </a:r>
          </a:p>
        </p:txBody>
      </p:sp>
      <p:sp>
        <p:nvSpPr>
          <p:cNvPr id="4" name="Rectangle 3"/>
          <p:cNvSpPr/>
          <p:nvPr/>
        </p:nvSpPr>
        <p:spPr>
          <a:xfrm>
            <a:off x="274320" y="804672"/>
            <a:ext cx="11795760" cy="36576"/>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795760" cy="10058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78992"/>
            <a:ext cx="2286000" cy="320040"/>
          </a:xfrm>
          <a:prstGeom prst="rect">
            <a:avLst/>
          </a:prstGeom>
          <a:noFill/>
        </p:spPr>
        <p:txBody>
          <a:bodyPr wrap="square">
            <a:spAutoFit/>
          </a:bodyPr>
          <a:lstStyle/>
          <a:p>
            <a:pPr algn="l"/>
            <a:r>
              <a:rPr sz="1400" b="1">
                <a:solidFill>
                  <a:srgbClr val="F97316"/>
                </a:solidFill>
                <a:latin typeface="Calibri"/>
              </a:rPr>
              <a:t>Data Source</a:t>
            </a:r>
          </a:p>
        </p:txBody>
      </p:sp>
      <p:sp>
        <p:nvSpPr>
          <p:cNvPr id="7" name="TextBox 6"/>
          <p:cNvSpPr txBox="1"/>
          <p:nvPr/>
        </p:nvSpPr>
        <p:spPr>
          <a:xfrm>
            <a:off x="457200" y="1417320"/>
            <a:ext cx="11430000" cy="502920"/>
          </a:xfrm>
          <a:prstGeom prst="rect">
            <a:avLst/>
          </a:prstGeom>
          <a:noFill/>
        </p:spPr>
        <p:txBody>
          <a:bodyPr wrap="square">
            <a:spAutoFit/>
          </a:bodyPr>
          <a:lstStyle/>
          <a:p>
            <a:pPr algn="l"/>
            <a:r>
              <a:rPr sz="1200" b="0">
                <a:solidFill>
                  <a:srgbClr val="FFFFFF"/>
                </a:solidFill>
                <a:latin typeface="Calibri"/>
              </a:rPr>
              <a:t>Kaggle Personal Finance Dataset — Cross-sectional survey data of 15,000+ individuals.
Contains monthly income, 11 expense categories, desired savings percentage, and demographic variables (Age, Occupation, City Tier, Dependents).</a:t>
            </a:r>
          </a:p>
        </p:txBody>
      </p:sp>
      <p:sp>
        <p:nvSpPr>
          <p:cNvPr id="8" name="Rectangle 7"/>
          <p:cNvSpPr/>
          <p:nvPr/>
        </p:nvSpPr>
        <p:spPr>
          <a:xfrm>
            <a:off x="274320" y="2194560"/>
            <a:ext cx="155448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267712"/>
            <a:ext cx="1463040" cy="502920"/>
          </a:xfrm>
          <a:prstGeom prst="rect">
            <a:avLst/>
          </a:prstGeom>
          <a:noFill/>
        </p:spPr>
        <p:txBody>
          <a:bodyPr wrap="square">
            <a:spAutoFit/>
          </a:bodyPr>
          <a:lstStyle/>
          <a:p>
            <a:pPr algn="ctr"/>
            <a:r>
              <a:rPr sz="2600" b="1">
                <a:solidFill>
                  <a:srgbClr val="F97316"/>
                </a:solidFill>
                <a:latin typeface="Calibri"/>
              </a:rPr>
              <a:t>15,000+</a:t>
            </a:r>
          </a:p>
        </p:txBody>
      </p:sp>
      <p:sp>
        <p:nvSpPr>
          <p:cNvPr id="10" name="TextBox 9"/>
          <p:cNvSpPr txBox="1"/>
          <p:nvPr/>
        </p:nvSpPr>
        <p:spPr>
          <a:xfrm>
            <a:off x="320040" y="2834640"/>
            <a:ext cx="1463040" cy="457200"/>
          </a:xfrm>
          <a:prstGeom prst="rect">
            <a:avLst/>
          </a:prstGeom>
          <a:noFill/>
        </p:spPr>
        <p:txBody>
          <a:bodyPr wrap="square">
            <a:spAutoFit/>
          </a:bodyPr>
          <a:lstStyle/>
          <a:p>
            <a:pPr algn="ctr"/>
            <a:r>
              <a:rPr sz="1050" b="0">
                <a:solidFill>
                  <a:srgbClr val="94A3B8"/>
                </a:solidFill>
                <a:latin typeface="Calibri"/>
              </a:rPr>
              <a:t>Raw rows</a:t>
            </a:r>
          </a:p>
        </p:txBody>
      </p:sp>
      <p:sp>
        <p:nvSpPr>
          <p:cNvPr id="11" name="Rectangle 10"/>
          <p:cNvSpPr/>
          <p:nvPr/>
        </p:nvSpPr>
        <p:spPr>
          <a:xfrm>
            <a:off x="1965960" y="2194560"/>
            <a:ext cx="155448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79" y="2267712"/>
            <a:ext cx="1463040" cy="502920"/>
          </a:xfrm>
          <a:prstGeom prst="rect">
            <a:avLst/>
          </a:prstGeom>
          <a:noFill/>
        </p:spPr>
        <p:txBody>
          <a:bodyPr wrap="square">
            <a:spAutoFit/>
          </a:bodyPr>
          <a:lstStyle/>
          <a:p>
            <a:pPr algn="ctr"/>
            <a:r>
              <a:rPr sz="2600" b="1">
                <a:solidFill>
                  <a:srgbClr val="F97316"/>
                </a:solidFill>
                <a:latin typeface="Calibri"/>
              </a:rPr>
              <a:t>19</a:t>
            </a:r>
          </a:p>
        </p:txBody>
      </p:sp>
      <p:sp>
        <p:nvSpPr>
          <p:cNvPr id="13" name="TextBox 12"/>
          <p:cNvSpPr txBox="1"/>
          <p:nvPr/>
        </p:nvSpPr>
        <p:spPr>
          <a:xfrm>
            <a:off x="2011679" y="2834640"/>
            <a:ext cx="1463040" cy="457200"/>
          </a:xfrm>
          <a:prstGeom prst="rect">
            <a:avLst/>
          </a:prstGeom>
          <a:noFill/>
        </p:spPr>
        <p:txBody>
          <a:bodyPr wrap="square">
            <a:spAutoFit/>
          </a:bodyPr>
          <a:lstStyle/>
          <a:p>
            <a:pPr algn="ctr"/>
            <a:r>
              <a:rPr sz="1050" b="0">
                <a:solidFill>
                  <a:srgbClr val="94A3B8"/>
                </a:solidFill>
                <a:latin typeface="Calibri"/>
              </a:rPr>
              <a:t>Input
columns</a:t>
            </a:r>
          </a:p>
        </p:txBody>
      </p:sp>
      <p:sp>
        <p:nvSpPr>
          <p:cNvPr id="14" name="Rectangle 13"/>
          <p:cNvSpPr/>
          <p:nvPr/>
        </p:nvSpPr>
        <p:spPr>
          <a:xfrm>
            <a:off x="3657600" y="2194560"/>
            <a:ext cx="155448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3320" y="2267712"/>
            <a:ext cx="1463040" cy="502920"/>
          </a:xfrm>
          <a:prstGeom prst="rect">
            <a:avLst/>
          </a:prstGeom>
          <a:noFill/>
        </p:spPr>
        <p:txBody>
          <a:bodyPr wrap="square">
            <a:spAutoFit/>
          </a:bodyPr>
          <a:lstStyle/>
          <a:p>
            <a:pPr algn="ctr"/>
            <a:r>
              <a:rPr sz="2600" b="1">
                <a:solidFill>
                  <a:srgbClr val="F97316"/>
                </a:solidFill>
                <a:latin typeface="Calibri"/>
              </a:rPr>
              <a:t>11</a:t>
            </a:r>
          </a:p>
        </p:txBody>
      </p:sp>
      <p:sp>
        <p:nvSpPr>
          <p:cNvPr id="16" name="TextBox 15"/>
          <p:cNvSpPr txBox="1"/>
          <p:nvPr/>
        </p:nvSpPr>
        <p:spPr>
          <a:xfrm>
            <a:off x="3703320" y="2834640"/>
            <a:ext cx="1463040" cy="457200"/>
          </a:xfrm>
          <a:prstGeom prst="rect">
            <a:avLst/>
          </a:prstGeom>
          <a:noFill/>
        </p:spPr>
        <p:txBody>
          <a:bodyPr wrap="square">
            <a:spAutoFit/>
          </a:bodyPr>
          <a:lstStyle/>
          <a:p>
            <a:pPr algn="ctr"/>
            <a:r>
              <a:rPr sz="1050" b="0">
                <a:solidFill>
                  <a:srgbClr val="94A3B8"/>
                </a:solidFill>
                <a:latin typeface="Calibri"/>
              </a:rPr>
              <a:t>Expense
categories</a:t>
            </a:r>
          </a:p>
        </p:txBody>
      </p:sp>
      <p:sp>
        <p:nvSpPr>
          <p:cNvPr id="17" name="Rectangle 16"/>
          <p:cNvSpPr/>
          <p:nvPr/>
        </p:nvSpPr>
        <p:spPr>
          <a:xfrm>
            <a:off x="5349240" y="2194560"/>
            <a:ext cx="155448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2267712"/>
            <a:ext cx="1463040" cy="502920"/>
          </a:xfrm>
          <a:prstGeom prst="rect">
            <a:avLst/>
          </a:prstGeom>
          <a:noFill/>
        </p:spPr>
        <p:txBody>
          <a:bodyPr wrap="square">
            <a:spAutoFit/>
          </a:bodyPr>
          <a:lstStyle/>
          <a:p>
            <a:pPr algn="ctr"/>
            <a:r>
              <a:rPr sz="2600" b="1">
                <a:solidFill>
                  <a:srgbClr val="F97316"/>
                </a:solidFill>
                <a:latin typeface="Calibri"/>
              </a:rPr>
              <a:t>6</a:t>
            </a:r>
          </a:p>
        </p:txBody>
      </p:sp>
      <p:sp>
        <p:nvSpPr>
          <p:cNvPr id="19" name="TextBox 18"/>
          <p:cNvSpPr txBox="1"/>
          <p:nvPr/>
        </p:nvSpPr>
        <p:spPr>
          <a:xfrm>
            <a:off x="5394960" y="2834640"/>
            <a:ext cx="1463040" cy="457200"/>
          </a:xfrm>
          <a:prstGeom prst="rect">
            <a:avLst/>
          </a:prstGeom>
          <a:noFill/>
        </p:spPr>
        <p:txBody>
          <a:bodyPr wrap="square">
            <a:spAutoFit/>
          </a:bodyPr>
          <a:lstStyle/>
          <a:p>
            <a:pPr algn="ctr"/>
            <a:r>
              <a:rPr sz="1050" b="0">
                <a:solidFill>
                  <a:srgbClr val="94A3B8"/>
                </a:solidFill>
                <a:latin typeface="Calibri"/>
              </a:rPr>
              <a:t>Months
simulated</a:t>
            </a:r>
          </a:p>
        </p:txBody>
      </p:sp>
      <p:sp>
        <p:nvSpPr>
          <p:cNvPr id="20" name="Rectangle 19"/>
          <p:cNvSpPr/>
          <p:nvPr/>
        </p:nvSpPr>
        <p:spPr>
          <a:xfrm>
            <a:off x="7040880" y="2194560"/>
            <a:ext cx="155448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86600" y="2267712"/>
            <a:ext cx="1463040" cy="502920"/>
          </a:xfrm>
          <a:prstGeom prst="rect">
            <a:avLst/>
          </a:prstGeom>
          <a:noFill/>
        </p:spPr>
        <p:txBody>
          <a:bodyPr wrap="square">
            <a:spAutoFit/>
          </a:bodyPr>
          <a:lstStyle/>
          <a:p>
            <a:pPr algn="ctr"/>
            <a:r>
              <a:rPr sz="2600" b="1">
                <a:solidFill>
                  <a:srgbClr val="F97316"/>
                </a:solidFill>
                <a:latin typeface="Calibri"/>
              </a:rPr>
              <a:t>90,000+</a:t>
            </a:r>
          </a:p>
        </p:txBody>
      </p:sp>
      <p:sp>
        <p:nvSpPr>
          <p:cNvPr id="22" name="TextBox 21"/>
          <p:cNvSpPr txBox="1"/>
          <p:nvPr/>
        </p:nvSpPr>
        <p:spPr>
          <a:xfrm>
            <a:off x="7086600" y="2834640"/>
            <a:ext cx="1463040" cy="457200"/>
          </a:xfrm>
          <a:prstGeom prst="rect">
            <a:avLst/>
          </a:prstGeom>
          <a:noFill/>
        </p:spPr>
        <p:txBody>
          <a:bodyPr wrap="square">
            <a:spAutoFit/>
          </a:bodyPr>
          <a:lstStyle/>
          <a:p>
            <a:pPr algn="ctr"/>
            <a:r>
              <a:rPr sz="1050" b="0">
                <a:solidFill>
                  <a:srgbClr val="94A3B8"/>
                </a:solidFill>
                <a:latin typeface="Calibri"/>
              </a:rPr>
              <a:t>Training
rows</a:t>
            </a:r>
          </a:p>
        </p:txBody>
      </p:sp>
      <p:sp>
        <p:nvSpPr>
          <p:cNvPr id="23" name="Rectangle 22"/>
          <p:cNvSpPr/>
          <p:nvPr/>
        </p:nvSpPr>
        <p:spPr>
          <a:xfrm>
            <a:off x="8732520" y="2194560"/>
            <a:ext cx="155448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0" y="2267712"/>
            <a:ext cx="1463040" cy="502920"/>
          </a:xfrm>
          <a:prstGeom prst="rect">
            <a:avLst/>
          </a:prstGeom>
          <a:noFill/>
        </p:spPr>
        <p:txBody>
          <a:bodyPr wrap="square">
            <a:spAutoFit/>
          </a:bodyPr>
          <a:lstStyle/>
          <a:p>
            <a:pPr algn="ctr"/>
            <a:r>
              <a:rPr sz="2600" b="1">
                <a:solidFill>
                  <a:srgbClr val="F97316"/>
                </a:solidFill>
                <a:latin typeface="Calibri"/>
              </a:rPr>
              <a:t>27</a:t>
            </a:r>
          </a:p>
        </p:txBody>
      </p:sp>
      <p:sp>
        <p:nvSpPr>
          <p:cNvPr id="25" name="TextBox 24"/>
          <p:cNvSpPr txBox="1"/>
          <p:nvPr/>
        </p:nvSpPr>
        <p:spPr>
          <a:xfrm>
            <a:off x="8778240" y="2834640"/>
            <a:ext cx="1463040" cy="457200"/>
          </a:xfrm>
          <a:prstGeom prst="rect">
            <a:avLst/>
          </a:prstGeom>
          <a:noFill/>
        </p:spPr>
        <p:txBody>
          <a:bodyPr wrap="square">
            <a:spAutoFit/>
          </a:bodyPr>
          <a:lstStyle/>
          <a:p>
            <a:pPr algn="ctr"/>
            <a:r>
              <a:rPr sz="1050" b="0">
                <a:solidFill>
                  <a:srgbClr val="94A3B8"/>
                </a:solidFill>
                <a:latin typeface="Calibri"/>
              </a:rPr>
              <a:t>Engineered
features</a:t>
            </a:r>
          </a:p>
        </p:txBody>
      </p:sp>
      <p:sp>
        <p:nvSpPr>
          <p:cNvPr id="26" name="Rectangle 25"/>
          <p:cNvSpPr/>
          <p:nvPr/>
        </p:nvSpPr>
        <p:spPr>
          <a:xfrm>
            <a:off x="10424160" y="2194560"/>
            <a:ext cx="155448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69880" y="2267712"/>
            <a:ext cx="1463040" cy="502920"/>
          </a:xfrm>
          <a:prstGeom prst="rect">
            <a:avLst/>
          </a:prstGeom>
          <a:noFill/>
        </p:spPr>
        <p:txBody>
          <a:bodyPr wrap="square">
            <a:spAutoFit/>
          </a:bodyPr>
          <a:lstStyle/>
          <a:p>
            <a:pPr algn="ctr"/>
            <a:r>
              <a:rPr sz="2600" b="1">
                <a:solidFill>
                  <a:srgbClr val="F97316"/>
                </a:solidFill>
                <a:latin typeface="Calibri"/>
              </a:rPr>
              <a:t>16</a:t>
            </a:r>
          </a:p>
        </p:txBody>
      </p:sp>
      <p:sp>
        <p:nvSpPr>
          <p:cNvPr id="28" name="TextBox 27"/>
          <p:cNvSpPr txBox="1"/>
          <p:nvPr/>
        </p:nvSpPr>
        <p:spPr>
          <a:xfrm>
            <a:off x="10469880" y="2834640"/>
            <a:ext cx="1463040" cy="457200"/>
          </a:xfrm>
          <a:prstGeom prst="rect">
            <a:avLst/>
          </a:prstGeom>
          <a:noFill/>
        </p:spPr>
        <p:txBody>
          <a:bodyPr wrap="square">
            <a:spAutoFit/>
          </a:bodyPr>
          <a:lstStyle/>
          <a:p>
            <a:pPr algn="ctr"/>
            <a:r>
              <a:rPr sz="1050" b="0">
                <a:solidFill>
                  <a:srgbClr val="94A3B8"/>
                </a:solidFill>
                <a:latin typeface="Calibri"/>
              </a:rPr>
              <a:t>RF model
predictors</a:t>
            </a:r>
          </a:p>
        </p:txBody>
      </p:sp>
      <p:sp>
        <p:nvSpPr>
          <p:cNvPr id="29" name="Rectangle 28"/>
          <p:cNvSpPr/>
          <p:nvPr/>
        </p:nvSpPr>
        <p:spPr>
          <a:xfrm>
            <a:off x="274320" y="3566160"/>
            <a:ext cx="11795760" cy="6400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3630168"/>
            <a:ext cx="1371600" cy="320040"/>
          </a:xfrm>
          <a:prstGeom prst="rect">
            <a:avLst/>
          </a:prstGeom>
          <a:noFill/>
        </p:spPr>
        <p:txBody>
          <a:bodyPr wrap="square">
            <a:spAutoFit/>
          </a:bodyPr>
          <a:lstStyle/>
          <a:p>
            <a:pPr algn="l"/>
            <a:r>
              <a:rPr sz="1300" b="1">
                <a:solidFill>
                  <a:srgbClr val="F97316"/>
                </a:solidFill>
                <a:latin typeface="Calibri"/>
              </a:rPr>
              <a:t>Scope:</a:t>
            </a:r>
          </a:p>
        </p:txBody>
      </p:sp>
      <p:sp>
        <p:nvSpPr>
          <p:cNvPr id="31" name="TextBox 30"/>
          <p:cNvSpPr txBox="1"/>
          <p:nvPr/>
        </p:nvSpPr>
        <p:spPr>
          <a:xfrm>
            <a:off x="1828800" y="3630168"/>
            <a:ext cx="10058400" cy="502920"/>
          </a:xfrm>
          <a:prstGeom prst="rect">
            <a:avLst/>
          </a:prstGeom>
          <a:noFill/>
        </p:spPr>
        <p:txBody>
          <a:bodyPr wrap="square">
            <a:spAutoFit/>
          </a:bodyPr>
          <a:lstStyle/>
          <a:p>
            <a:pPr algn="l"/>
            <a:r>
              <a:rPr sz="1200" b="0">
                <a:solidFill>
                  <a:srgbClr val="FFFFFF"/>
                </a:solidFill>
                <a:latin typeface="Calibri"/>
              </a:rPr>
              <a:t>Individual-level, monthly financial records  |  Cross-sectional baseline expanded to 6-month panel via simulation  |  All monetary values in original currency units</a:t>
            </a:r>
          </a:p>
        </p:txBody>
      </p:sp>
      <p:sp>
        <p:nvSpPr>
          <p:cNvPr id="32" name="Rectangle 31"/>
          <p:cNvSpPr/>
          <p:nvPr/>
        </p:nvSpPr>
        <p:spPr>
          <a:xfrm>
            <a:off x="274320" y="4389120"/>
            <a:ext cx="5669280" cy="2194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462272"/>
            <a:ext cx="5303520" cy="320040"/>
          </a:xfrm>
          <a:prstGeom prst="rect">
            <a:avLst/>
          </a:prstGeom>
          <a:noFill/>
        </p:spPr>
        <p:txBody>
          <a:bodyPr wrap="square">
            <a:spAutoFit/>
          </a:bodyPr>
          <a:lstStyle/>
          <a:p>
            <a:pPr algn="l"/>
            <a:r>
              <a:rPr sz="1300" b="1">
                <a:solidFill>
                  <a:srgbClr val="F97316"/>
                </a:solidFill>
                <a:latin typeface="Calibri"/>
              </a:rPr>
              <a:t>Original Variables (19)</a:t>
            </a:r>
          </a:p>
        </p:txBody>
      </p:sp>
      <p:sp>
        <p:nvSpPr>
          <p:cNvPr id="34" name="TextBox 33"/>
          <p:cNvSpPr txBox="1"/>
          <p:nvPr/>
        </p:nvSpPr>
        <p:spPr>
          <a:xfrm>
            <a:off x="457200" y="4846320"/>
            <a:ext cx="5394960" cy="274320"/>
          </a:xfrm>
          <a:prstGeom prst="rect">
            <a:avLst/>
          </a:prstGeom>
          <a:noFill/>
        </p:spPr>
        <p:txBody>
          <a:bodyPr wrap="square">
            <a:spAutoFit/>
          </a:bodyPr>
          <a:lstStyle/>
          <a:p>
            <a:pPr algn="l"/>
            <a:r>
              <a:rPr sz="1100" b="0">
                <a:solidFill>
                  <a:srgbClr val="FFFFFF"/>
                </a:solidFill>
                <a:latin typeface="Calibri"/>
              </a:rPr>
              <a:t>Income  ·  Age  ·  Dependents  ·  Occupation  ·  City_Tier</a:t>
            </a:r>
          </a:p>
        </p:txBody>
      </p:sp>
      <p:sp>
        <p:nvSpPr>
          <p:cNvPr id="35" name="TextBox 34"/>
          <p:cNvSpPr txBox="1"/>
          <p:nvPr/>
        </p:nvSpPr>
        <p:spPr>
          <a:xfrm>
            <a:off x="457200" y="5138928"/>
            <a:ext cx="5394960" cy="274320"/>
          </a:xfrm>
          <a:prstGeom prst="rect">
            <a:avLst/>
          </a:prstGeom>
          <a:noFill/>
        </p:spPr>
        <p:txBody>
          <a:bodyPr wrap="square">
            <a:spAutoFit/>
          </a:bodyPr>
          <a:lstStyle/>
          <a:p>
            <a:pPr algn="l"/>
            <a:r>
              <a:rPr sz="1100" b="0">
                <a:solidFill>
                  <a:srgbClr val="FFFFFF"/>
                </a:solidFill>
                <a:latin typeface="Calibri"/>
              </a:rPr>
              <a:t>Rent  ·  Loan_Repayment  ·  Insurance  ·  Groceries</a:t>
            </a:r>
          </a:p>
        </p:txBody>
      </p:sp>
      <p:sp>
        <p:nvSpPr>
          <p:cNvPr id="36" name="TextBox 35"/>
          <p:cNvSpPr txBox="1"/>
          <p:nvPr/>
        </p:nvSpPr>
        <p:spPr>
          <a:xfrm>
            <a:off x="457200" y="5431536"/>
            <a:ext cx="5394960" cy="274320"/>
          </a:xfrm>
          <a:prstGeom prst="rect">
            <a:avLst/>
          </a:prstGeom>
          <a:noFill/>
        </p:spPr>
        <p:txBody>
          <a:bodyPr wrap="square">
            <a:spAutoFit/>
          </a:bodyPr>
          <a:lstStyle/>
          <a:p>
            <a:pPr algn="l"/>
            <a:r>
              <a:rPr sz="1100" b="0">
                <a:solidFill>
                  <a:srgbClr val="FFFFFF"/>
                </a:solidFill>
                <a:latin typeface="Calibri"/>
              </a:rPr>
              <a:t>Transport  ·  Eating_Out  ·  Entertainment  ·  Utilities</a:t>
            </a:r>
          </a:p>
        </p:txBody>
      </p:sp>
      <p:sp>
        <p:nvSpPr>
          <p:cNvPr id="37" name="TextBox 36"/>
          <p:cNvSpPr txBox="1"/>
          <p:nvPr/>
        </p:nvSpPr>
        <p:spPr>
          <a:xfrm>
            <a:off x="457200" y="5724144"/>
            <a:ext cx="5394960" cy="274320"/>
          </a:xfrm>
          <a:prstGeom prst="rect">
            <a:avLst/>
          </a:prstGeom>
          <a:noFill/>
        </p:spPr>
        <p:txBody>
          <a:bodyPr wrap="square">
            <a:spAutoFit/>
          </a:bodyPr>
          <a:lstStyle/>
          <a:p>
            <a:pPr algn="l"/>
            <a:r>
              <a:rPr sz="1100" b="0">
                <a:solidFill>
                  <a:srgbClr val="FFFFFF"/>
                </a:solidFill>
                <a:latin typeface="Calibri"/>
              </a:rPr>
              <a:t>Healthcare  ·  Education  ·  Miscellaneous</a:t>
            </a:r>
          </a:p>
        </p:txBody>
      </p:sp>
      <p:sp>
        <p:nvSpPr>
          <p:cNvPr id="38" name="TextBox 37"/>
          <p:cNvSpPr txBox="1"/>
          <p:nvPr/>
        </p:nvSpPr>
        <p:spPr>
          <a:xfrm>
            <a:off x="457200" y="6016752"/>
            <a:ext cx="5394960" cy="274320"/>
          </a:xfrm>
          <a:prstGeom prst="rect">
            <a:avLst/>
          </a:prstGeom>
          <a:noFill/>
        </p:spPr>
        <p:txBody>
          <a:bodyPr wrap="square">
            <a:spAutoFit/>
          </a:bodyPr>
          <a:lstStyle/>
          <a:p>
            <a:pPr algn="l"/>
            <a:r>
              <a:rPr sz="1100" b="0">
                <a:solidFill>
                  <a:srgbClr val="FFFFFF"/>
                </a:solidFill>
                <a:latin typeface="Calibri"/>
              </a:rPr>
              <a:t>Desired_Savings_Percentage  ·  Desired_Savings  ·  Disposable_Income</a:t>
            </a:r>
          </a:p>
        </p:txBody>
      </p:sp>
      <p:sp>
        <p:nvSpPr>
          <p:cNvPr id="39" name="Rectangle 38"/>
          <p:cNvSpPr/>
          <p:nvPr/>
        </p:nvSpPr>
        <p:spPr>
          <a:xfrm>
            <a:off x="6217920" y="4389120"/>
            <a:ext cx="5852160" cy="2194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4462272"/>
            <a:ext cx="5486400" cy="320040"/>
          </a:xfrm>
          <a:prstGeom prst="rect">
            <a:avLst/>
          </a:prstGeom>
          <a:noFill/>
        </p:spPr>
        <p:txBody>
          <a:bodyPr wrap="square">
            <a:spAutoFit/>
          </a:bodyPr>
          <a:lstStyle/>
          <a:p>
            <a:pPr algn="l"/>
            <a:r>
              <a:rPr sz="1300" b="1">
                <a:solidFill>
                  <a:srgbClr val="F97316"/>
                </a:solidFill>
                <a:latin typeface="Calibri"/>
              </a:rPr>
              <a:t>Engineered Variables (key)</a:t>
            </a:r>
          </a:p>
        </p:txBody>
      </p:sp>
      <p:sp>
        <p:nvSpPr>
          <p:cNvPr id="41" name="TextBox 40"/>
          <p:cNvSpPr txBox="1"/>
          <p:nvPr/>
        </p:nvSpPr>
        <p:spPr>
          <a:xfrm>
            <a:off x="6400800" y="4846320"/>
            <a:ext cx="5577840" cy="274320"/>
          </a:xfrm>
          <a:prstGeom prst="rect">
            <a:avLst/>
          </a:prstGeom>
          <a:noFill/>
        </p:spPr>
        <p:txBody>
          <a:bodyPr wrap="square">
            <a:spAutoFit/>
          </a:bodyPr>
          <a:lstStyle/>
          <a:p>
            <a:pPr algn="l"/>
            <a:r>
              <a:rPr sz="1100" b="0">
                <a:solidFill>
                  <a:srgbClr val="FFFFFF"/>
                </a:solidFill>
                <a:latin typeface="Calibri"/>
              </a:rPr>
              <a:t>• total_expense  — sum of 11 categories</a:t>
            </a:r>
          </a:p>
        </p:txBody>
      </p:sp>
      <p:sp>
        <p:nvSpPr>
          <p:cNvPr id="42" name="TextBox 41"/>
          <p:cNvSpPr txBox="1"/>
          <p:nvPr/>
        </p:nvSpPr>
        <p:spPr>
          <a:xfrm>
            <a:off x="6400800" y="5138928"/>
            <a:ext cx="5577840" cy="274320"/>
          </a:xfrm>
          <a:prstGeom prst="rect">
            <a:avLst/>
          </a:prstGeom>
          <a:noFill/>
        </p:spPr>
        <p:txBody>
          <a:bodyPr wrap="square">
            <a:spAutoFit/>
          </a:bodyPr>
          <a:lstStyle/>
          <a:p>
            <a:pPr algn="l"/>
            <a:r>
              <a:rPr sz="1100" b="0">
                <a:solidFill>
                  <a:srgbClr val="FFFFFF"/>
                </a:solidFill>
                <a:latin typeface="Calibri"/>
              </a:rPr>
              <a:t>• actual_savings  — Income minus total_expense</a:t>
            </a:r>
          </a:p>
        </p:txBody>
      </p:sp>
      <p:sp>
        <p:nvSpPr>
          <p:cNvPr id="43" name="TextBox 42"/>
          <p:cNvSpPr txBox="1"/>
          <p:nvPr/>
        </p:nvSpPr>
        <p:spPr>
          <a:xfrm>
            <a:off x="6400800" y="5431536"/>
            <a:ext cx="5577840" cy="274320"/>
          </a:xfrm>
          <a:prstGeom prst="rect">
            <a:avLst/>
          </a:prstGeom>
          <a:noFill/>
        </p:spPr>
        <p:txBody>
          <a:bodyPr wrap="square">
            <a:spAutoFit/>
          </a:bodyPr>
          <a:lstStyle/>
          <a:p>
            <a:pPr algn="l"/>
            <a:r>
              <a:rPr sz="1100" b="0">
                <a:solidFill>
                  <a:srgbClr val="FFFFFF"/>
                </a:solidFill>
                <a:latin typeface="Calibri"/>
              </a:rPr>
              <a:t>• savings_rate  — actual_savings / Income (clamped)</a:t>
            </a:r>
          </a:p>
        </p:txBody>
      </p:sp>
      <p:sp>
        <p:nvSpPr>
          <p:cNvPr id="44" name="TextBox 43"/>
          <p:cNvSpPr txBox="1"/>
          <p:nvPr/>
        </p:nvSpPr>
        <p:spPr>
          <a:xfrm>
            <a:off x="6400800" y="5724144"/>
            <a:ext cx="5577840" cy="274320"/>
          </a:xfrm>
          <a:prstGeom prst="rect">
            <a:avLst/>
          </a:prstGeom>
          <a:noFill/>
        </p:spPr>
        <p:txBody>
          <a:bodyPr wrap="square">
            <a:spAutoFit/>
          </a:bodyPr>
          <a:lstStyle/>
          <a:p>
            <a:pPr algn="l"/>
            <a:r>
              <a:rPr sz="1100" b="0">
                <a:solidFill>
                  <a:srgbClr val="FFFFFF"/>
                </a:solidFill>
                <a:latin typeface="Calibri"/>
              </a:rPr>
              <a:t>• rent_share … miscellaneous_share  (11 ratios)</a:t>
            </a:r>
          </a:p>
        </p:txBody>
      </p:sp>
      <p:sp>
        <p:nvSpPr>
          <p:cNvPr id="45" name="TextBox 44"/>
          <p:cNvSpPr txBox="1"/>
          <p:nvPr/>
        </p:nvSpPr>
        <p:spPr>
          <a:xfrm>
            <a:off x="6400800" y="6016752"/>
            <a:ext cx="5577840" cy="274320"/>
          </a:xfrm>
          <a:prstGeom prst="rect">
            <a:avLst/>
          </a:prstGeom>
          <a:noFill/>
        </p:spPr>
        <p:txBody>
          <a:bodyPr wrap="square">
            <a:spAutoFit/>
          </a:bodyPr>
          <a:lstStyle/>
          <a:p>
            <a:pPr algn="l"/>
            <a:r>
              <a:rPr sz="1100" b="0">
                <a:solidFill>
                  <a:srgbClr val="FFFFFF"/>
                </a:solidFill>
                <a:latin typeface="Calibri"/>
              </a:rPr>
              <a:t>• expense_growth  — month-over-month % change</a:t>
            </a:r>
          </a:p>
        </p:txBody>
      </p:sp>
      <p:sp>
        <p:nvSpPr>
          <p:cNvPr id="46" name="TextBox 45"/>
          <p:cNvSpPr txBox="1"/>
          <p:nvPr/>
        </p:nvSpPr>
        <p:spPr>
          <a:xfrm>
            <a:off x="6400800" y="6309360"/>
            <a:ext cx="5577840" cy="274320"/>
          </a:xfrm>
          <a:prstGeom prst="rect">
            <a:avLst/>
          </a:prstGeom>
          <a:noFill/>
        </p:spPr>
        <p:txBody>
          <a:bodyPr wrap="square">
            <a:spAutoFit/>
          </a:bodyPr>
          <a:lstStyle/>
          <a:p>
            <a:pPr algn="l"/>
            <a:r>
              <a:rPr sz="1100" b="0">
                <a:solidFill>
                  <a:srgbClr val="FFFFFF"/>
                </a:solidFill>
                <a:latin typeface="Calibri"/>
              </a:rPr>
              <a:t>• avg_savings_last_3m  — rolling 3-month average</a:t>
            </a:r>
          </a:p>
        </p:txBody>
      </p:sp>
      <p:sp>
        <p:nvSpPr>
          <p:cNvPr id="47" name="TextBox 46"/>
          <p:cNvSpPr txBox="1"/>
          <p:nvPr/>
        </p:nvSpPr>
        <p:spPr>
          <a:xfrm>
            <a:off x="6400800" y="6601968"/>
            <a:ext cx="5577840" cy="274320"/>
          </a:xfrm>
          <a:prstGeom prst="rect">
            <a:avLst/>
          </a:prstGeom>
          <a:noFill/>
        </p:spPr>
        <p:txBody>
          <a:bodyPr wrap="square">
            <a:spAutoFit/>
          </a:bodyPr>
          <a:lstStyle/>
          <a:p>
            <a:pPr algn="l"/>
            <a:r>
              <a:rPr sz="1100" b="0">
                <a:solidFill>
                  <a:srgbClr val="FFFFFF"/>
                </a:solidFill>
                <a:latin typeface="Calibri"/>
              </a:rPr>
              <a:t>• next_month_savings  — ML prediction target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10. Data — Summary Statistics</a:t>
            </a:r>
          </a:p>
        </p:txBody>
      </p:sp>
      <p:sp>
        <p:nvSpPr>
          <p:cNvPr id="4" name="Rectangle 3"/>
          <p:cNvSpPr/>
          <p:nvPr/>
        </p:nvSpPr>
        <p:spPr>
          <a:xfrm>
            <a:off x="274320" y="804672"/>
            <a:ext cx="11795760" cy="36576"/>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05840"/>
            <a:ext cx="11430000" cy="320040"/>
          </a:xfrm>
          <a:prstGeom prst="rect">
            <a:avLst/>
          </a:prstGeom>
          <a:noFill/>
        </p:spPr>
        <p:txBody>
          <a:bodyPr wrap="square">
            <a:spAutoFit/>
          </a:bodyPr>
          <a:lstStyle/>
          <a:p>
            <a:pPr algn="l"/>
            <a:r>
              <a:rPr sz="1200" b="0">
                <a:solidFill>
                  <a:srgbClr val="94A3B8"/>
                </a:solidFill>
                <a:latin typeface="Calibri"/>
              </a:rPr>
              <a:t>These summary statistics are printed automatically by preprocess_data.R when you run it.</a:t>
            </a:r>
          </a:p>
        </p:txBody>
      </p:sp>
      <p:sp>
        <p:nvSpPr>
          <p:cNvPr id="6" name="Rectangle 5"/>
          <p:cNvSpPr/>
          <p:nvPr/>
        </p:nvSpPr>
        <p:spPr>
          <a:xfrm>
            <a:off x="274320" y="1417320"/>
            <a:ext cx="11795760" cy="365760"/>
          </a:xfrm>
          <a:prstGeom prst="rect">
            <a:avLst/>
          </a:prstGeom>
          <a:solidFill>
            <a:srgbClr val="312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435608"/>
            <a:ext cx="2560320" cy="320040"/>
          </a:xfrm>
          <a:prstGeom prst="rect">
            <a:avLst/>
          </a:prstGeom>
          <a:noFill/>
        </p:spPr>
        <p:txBody>
          <a:bodyPr wrap="square">
            <a:spAutoFit/>
          </a:bodyPr>
          <a:lstStyle/>
          <a:p>
            <a:pPr algn="l"/>
            <a:r>
              <a:rPr sz="1200" b="1">
                <a:solidFill>
                  <a:srgbClr val="FFFFFF"/>
                </a:solidFill>
                <a:latin typeface="Calibri"/>
              </a:rPr>
              <a:t>Variable</a:t>
            </a:r>
          </a:p>
        </p:txBody>
      </p:sp>
      <p:sp>
        <p:nvSpPr>
          <p:cNvPr id="8" name="TextBox 7"/>
          <p:cNvSpPr txBox="1"/>
          <p:nvPr/>
        </p:nvSpPr>
        <p:spPr>
          <a:xfrm>
            <a:off x="2880360" y="1435608"/>
            <a:ext cx="1097280" cy="320040"/>
          </a:xfrm>
          <a:prstGeom prst="rect">
            <a:avLst/>
          </a:prstGeom>
          <a:noFill/>
        </p:spPr>
        <p:txBody>
          <a:bodyPr wrap="square">
            <a:spAutoFit/>
          </a:bodyPr>
          <a:lstStyle/>
          <a:p>
            <a:pPr algn="l"/>
            <a:r>
              <a:rPr sz="1200" b="1">
                <a:solidFill>
                  <a:srgbClr val="FFFFFF"/>
                </a:solidFill>
                <a:latin typeface="Calibri"/>
              </a:rPr>
              <a:t>Min</a:t>
            </a:r>
          </a:p>
        </p:txBody>
      </p:sp>
      <p:sp>
        <p:nvSpPr>
          <p:cNvPr id="9" name="TextBox 8"/>
          <p:cNvSpPr txBox="1"/>
          <p:nvPr/>
        </p:nvSpPr>
        <p:spPr>
          <a:xfrm>
            <a:off x="3977639" y="1435608"/>
            <a:ext cx="1188720" cy="320040"/>
          </a:xfrm>
          <a:prstGeom prst="rect">
            <a:avLst/>
          </a:prstGeom>
          <a:noFill/>
        </p:spPr>
        <p:txBody>
          <a:bodyPr wrap="square">
            <a:spAutoFit/>
          </a:bodyPr>
          <a:lstStyle/>
          <a:p>
            <a:pPr algn="l"/>
            <a:r>
              <a:rPr sz="1200" b="1">
                <a:solidFill>
                  <a:srgbClr val="FFFFFF"/>
                </a:solidFill>
                <a:latin typeface="Calibri"/>
              </a:rPr>
              <a:t>Median</a:t>
            </a:r>
          </a:p>
        </p:txBody>
      </p:sp>
      <p:sp>
        <p:nvSpPr>
          <p:cNvPr id="10" name="TextBox 9"/>
          <p:cNvSpPr txBox="1"/>
          <p:nvPr/>
        </p:nvSpPr>
        <p:spPr>
          <a:xfrm>
            <a:off x="5166359" y="1435608"/>
            <a:ext cx="1188720" cy="320040"/>
          </a:xfrm>
          <a:prstGeom prst="rect">
            <a:avLst/>
          </a:prstGeom>
          <a:noFill/>
        </p:spPr>
        <p:txBody>
          <a:bodyPr wrap="square">
            <a:spAutoFit/>
          </a:bodyPr>
          <a:lstStyle/>
          <a:p>
            <a:pPr algn="l"/>
            <a:r>
              <a:rPr sz="1200" b="1">
                <a:solidFill>
                  <a:srgbClr val="FFFFFF"/>
                </a:solidFill>
                <a:latin typeface="Calibri"/>
              </a:rPr>
              <a:t>Mean</a:t>
            </a:r>
          </a:p>
        </p:txBody>
      </p:sp>
      <p:sp>
        <p:nvSpPr>
          <p:cNvPr id="11" name="TextBox 10"/>
          <p:cNvSpPr txBox="1"/>
          <p:nvPr/>
        </p:nvSpPr>
        <p:spPr>
          <a:xfrm>
            <a:off x="6355079" y="1435608"/>
            <a:ext cx="1188720" cy="320040"/>
          </a:xfrm>
          <a:prstGeom prst="rect">
            <a:avLst/>
          </a:prstGeom>
          <a:noFill/>
        </p:spPr>
        <p:txBody>
          <a:bodyPr wrap="square">
            <a:spAutoFit/>
          </a:bodyPr>
          <a:lstStyle/>
          <a:p>
            <a:pPr algn="l"/>
            <a:r>
              <a:rPr sz="1200" b="1">
                <a:solidFill>
                  <a:srgbClr val="FFFFFF"/>
                </a:solidFill>
                <a:latin typeface="Calibri"/>
              </a:rPr>
              <a:t>Max</a:t>
            </a:r>
          </a:p>
        </p:txBody>
      </p:sp>
      <p:sp>
        <p:nvSpPr>
          <p:cNvPr id="12" name="TextBox 11"/>
          <p:cNvSpPr txBox="1"/>
          <p:nvPr/>
        </p:nvSpPr>
        <p:spPr>
          <a:xfrm>
            <a:off x="7543800" y="1435608"/>
            <a:ext cx="4572000" cy="320040"/>
          </a:xfrm>
          <a:prstGeom prst="rect">
            <a:avLst/>
          </a:prstGeom>
          <a:noFill/>
        </p:spPr>
        <p:txBody>
          <a:bodyPr wrap="square">
            <a:spAutoFit/>
          </a:bodyPr>
          <a:lstStyle/>
          <a:p>
            <a:pPr algn="l"/>
            <a:r>
              <a:rPr sz="1200" b="1">
                <a:solidFill>
                  <a:srgbClr val="FFFFFF"/>
                </a:solidFill>
                <a:latin typeface="Calibri"/>
              </a:rPr>
              <a:t>Unit / Notes</a:t>
            </a:r>
          </a:p>
        </p:txBody>
      </p:sp>
      <p:sp>
        <p:nvSpPr>
          <p:cNvPr id="13" name="Rectangle 12"/>
          <p:cNvSpPr/>
          <p:nvPr/>
        </p:nvSpPr>
        <p:spPr>
          <a:xfrm>
            <a:off x="274320" y="1828800"/>
            <a:ext cx="11795760" cy="3840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1865376"/>
            <a:ext cx="2468879" cy="320040"/>
          </a:xfrm>
          <a:prstGeom prst="rect">
            <a:avLst/>
          </a:prstGeom>
          <a:noFill/>
        </p:spPr>
        <p:txBody>
          <a:bodyPr wrap="square">
            <a:spAutoFit/>
          </a:bodyPr>
          <a:lstStyle/>
          <a:p>
            <a:pPr algn="l"/>
            <a:r>
              <a:rPr sz="1150" b="0">
                <a:solidFill>
                  <a:srgbClr val="FFFFFF"/>
                </a:solidFill>
                <a:latin typeface="Calibri"/>
              </a:rPr>
              <a:t>Income</a:t>
            </a:r>
          </a:p>
        </p:txBody>
      </p:sp>
      <p:sp>
        <p:nvSpPr>
          <p:cNvPr id="15" name="TextBox 14"/>
          <p:cNvSpPr txBox="1"/>
          <p:nvPr/>
        </p:nvSpPr>
        <p:spPr>
          <a:xfrm>
            <a:off x="2880360" y="1865376"/>
            <a:ext cx="1005839" cy="320040"/>
          </a:xfrm>
          <a:prstGeom prst="rect">
            <a:avLst/>
          </a:prstGeom>
          <a:noFill/>
        </p:spPr>
        <p:txBody>
          <a:bodyPr wrap="square">
            <a:spAutoFit/>
          </a:bodyPr>
          <a:lstStyle/>
          <a:p>
            <a:pPr algn="r"/>
            <a:r>
              <a:rPr sz="1150" b="0">
                <a:solidFill>
                  <a:srgbClr val="FFFFFF"/>
                </a:solidFill>
                <a:latin typeface="Calibri"/>
              </a:rPr>
              <a:t>15,000</a:t>
            </a:r>
          </a:p>
        </p:txBody>
      </p:sp>
      <p:sp>
        <p:nvSpPr>
          <p:cNvPr id="16" name="TextBox 15"/>
          <p:cNvSpPr txBox="1"/>
          <p:nvPr/>
        </p:nvSpPr>
        <p:spPr>
          <a:xfrm>
            <a:off x="3977639" y="1865376"/>
            <a:ext cx="1097280" cy="320040"/>
          </a:xfrm>
          <a:prstGeom prst="rect">
            <a:avLst/>
          </a:prstGeom>
          <a:noFill/>
        </p:spPr>
        <p:txBody>
          <a:bodyPr wrap="square">
            <a:spAutoFit/>
          </a:bodyPr>
          <a:lstStyle/>
          <a:p>
            <a:pPr algn="r"/>
            <a:r>
              <a:rPr sz="1150" b="0">
                <a:solidFill>
                  <a:srgbClr val="FFFFFF"/>
                </a:solidFill>
                <a:latin typeface="Calibri"/>
              </a:rPr>
              <a:t>50,000</a:t>
            </a:r>
          </a:p>
        </p:txBody>
      </p:sp>
      <p:sp>
        <p:nvSpPr>
          <p:cNvPr id="17" name="TextBox 16"/>
          <p:cNvSpPr txBox="1"/>
          <p:nvPr/>
        </p:nvSpPr>
        <p:spPr>
          <a:xfrm>
            <a:off x="5166359" y="1865376"/>
            <a:ext cx="1097280" cy="320040"/>
          </a:xfrm>
          <a:prstGeom prst="rect">
            <a:avLst/>
          </a:prstGeom>
          <a:noFill/>
        </p:spPr>
        <p:txBody>
          <a:bodyPr wrap="square">
            <a:spAutoFit/>
          </a:bodyPr>
          <a:lstStyle/>
          <a:p>
            <a:pPr algn="r"/>
            <a:r>
              <a:rPr sz="1150" b="0">
                <a:solidFill>
                  <a:srgbClr val="FFFFFF"/>
                </a:solidFill>
                <a:latin typeface="Calibri"/>
              </a:rPr>
              <a:t>54,800</a:t>
            </a:r>
          </a:p>
        </p:txBody>
      </p:sp>
      <p:sp>
        <p:nvSpPr>
          <p:cNvPr id="18" name="TextBox 17"/>
          <p:cNvSpPr txBox="1"/>
          <p:nvPr/>
        </p:nvSpPr>
        <p:spPr>
          <a:xfrm>
            <a:off x="6355079" y="1865376"/>
            <a:ext cx="1097280" cy="320040"/>
          </a:xfrm>
          <a:prstGeom prst="rect">
            <a:avLst/>
          </a:prstGeom>
          <a:noFill/>
        </p:spPr>
        <p:txBody>
          <a:bodyPr wrap="square">
            <a:spAutoFit/>
          </a:bodyPr>
          <a:lstStyle/>
          <a:p>
            <a:pPr algn="r"/>
            <a:r>
              <a:rPr sz="1150" b="0">
                <a:solidFill>
                  <a:srgbClr val="FFFFFF"/>
                </a:solidFill>
                <a:latin typeface="Calibri"/>
              </a:rPr>
              <a:t>175,000</a:t>
            </a:r>
          </a:p>
        </p:txBody>
      </p:sp>
      <p:sp>
        <p:nvSpPr>
          <p:cNvPr id="19" name="TextBox 18"/>
          <p:cNvSpPr txBox="1"/>
          <p:nvPr/>
        </p:nvSpPr>
        <p:spPr>
          <a:xfrm>
            <a:off x="7543800" y="1865376"/>
            <a:ext cx="4480560" cy="320040"/>
          </a:xfrm>
          <a:prstGeom prst="rect">
            <a:avLst/>
          </a:prstGeom>
          <a:noFill/>
        </p:spPr>
        <p:txBody>
          <a:bodyPr wrap="square">
            <a:spAutoFit/>
          </a:bodyPr>
          <a:lstStyle/>
          <a:p>
            <a:pPr algn="l"/>
            <a:r>
              <a:rPr sz="1150" b="0">
                <a:solidFill>
                  <a:srgbClr val="FFFFFF"/>
                </a:solidFill>
                <a:latin typeface="Calibri"/>
              </a:rPr>
              <a:t>Monthly currency units</a:t>
            </a:r>
          </a:p>
        </p:txBody>
      </p:sp>
      <p:sp>
        <p:nvSpPr>
          <p:cNvPr id="20" name="Rectangle 19"/>
          <p:cNvSpPr/>
          <p:nvPr/>
        </p:nvSpPr>
        <p:spPr>
          <a:xfrm>
            <a:off x="274320" y="2231136"/>
            <a:ext cx="11795760" cy="384048"/>
          </a:xfrm>
          <a:prstGeom prst="rect">
            <a:avLst/>
          </a:prstGeom>
          <a:solidFill>
            <a:srgbClr val="0F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2267712"/>
            <a:ext cx="2468879" cy="320040"/>
          </a:xfrm>
          <a:prstGeom prst="rect">
            <a:avLst/>
          </a:prstGeom>
          <a:noFill/>
        </p:spPr>
        <p:txBody>
          <a:bodyPr wrap="square">
            <a:spAutoFit/>
          </a:bodyPr>
          <a:lstStyle/>
          <a:p>
            <a:pPr algn="l"/>
            <a:r>
              <a:rPr sz="1150" b="0">
                <a:solidFill>
                  <a:srgbClr val="FFFFFF"/>
                </a:solidFill>
                <a:latin typeface="Calibri"/>
              </a:rPr>
              <a:t>Rent</a:t>
            </a:r>
          </a:p>
        </p:txBody>
      </p:sp>
      <p:sp>
        <p:nvSpPr>
          <p:cNvPr id="22" name="TextBox 21"/>
          <p:cNvSpPr txBox="1"/>
          <p:nvPr/>
        </p:nvSpPr>
        <p:spPr>
          <a:xfrm>
            <a:off x="2880360" y="2267712"/>
            <a:ext cx="1005839" cy="320040"/>
          </a:xfrm>
          <a:prstGeom prst="rect">
            <a:avLst/>
          </a:prstGeom>
          <a:noFill/>
        </p:spPr>
        <p:txBody>
          <a:bodyPr wrap="square">
            <a:spAutoFit/>
          </a:bodyPr>
          <a:lstStyle/>
          <a:p>
            <a:pPr algn="r"/>
            <a:r>
              <a:rPr sz="1150" b="0">
                <a:solidFill>
                  <a:srgbClr val="FFFFFF"/>
                </a:solidFill>
                <a:latin typeface="Calibri"/>
              </a:rPr>
              <a:t>0</a:t>
            </a:r>
          </a:p>
        </p:txBody>
      </p:sp>
      <p:sp>
        <p:nvSpPr>
          <p:cNvPr id="23" name="TextBox 22"/>
          <p:cNvSpPr txBox="1"/>
          <p:nvPr/>
        </p:nvSpPr>
        <p:spPr>
          <a:xfrm>
            <a:off x="3977639" y="2267712"/>
            <a:ext cx="1097280" cy="320040"/>
          </a:xfrm>
          <a:prstGeom prst="rect">
            <a:avLst/>
          </a:prstGeom>
          <a:noFill/>
        </p:spPr>
        <p:txBody>
          <a:bodyPr wrap="square">
            <a:spAutoFit/>
          </a:bodyPr>
          <a:lstStyle/>
          <a:p>
            <a:pPr algn="r"/>
            <a:r>
              <a:rPr sz="1150" b="0">
                <a:solidFill>
                  <a:srgbClr val="FFFFFF"/>
                </a:solidFill>
                <a:latin typeface="Calibri"/>
              </a:rPr>
              <a:t>10,000</a:t>
            </a:r>
          </a:p>
        </p:txBody>
      </p:sp>
      <p:sp>
        <p:nvSpPr>
          <p:cNvPr id="24" name="TextBox 23"/>
          <p:cNvSpPr txBox="1"/>
          <p:nvPr/>
        </p:nvSpPr>
        <p:spPr>
          <a:xfrm>
            <a:off x="5166359" y="2267712"/>
            <a:ext cx="1097280" cy="320040"/>
          </a:xfrm>
          <a:prstGeom prst="rect">
            <a:avLst/>
          </a:prstGeom>
          <a:noFill/>
        </p:spPr>
        <p:txBody>
          <a:bodyPr wrap="square">
            <a:spAutoFit/>
          </a:bodyPr>
          <a:lstStyle/>
          <a:p>
            <a:pPr algn="r"/>
            <a:r>
              <a:rPr sz="1150" b="0">
                <a:solidFill>
                  <a:srgbClr val="FFFFFF"/>
                </a:solidFill>
                <a:latin typeface="Calibri"/>
              </a:rPr>
              <a:t>13,200</a:t>
            </a:r>
          </a:p>
        </p:txBody>
      </p:sp>
      <p:sp>
        <p:nvSpPr>
          <p:cNvPr id="25" name="TextBox 24"/>
          <p:cNvSpPr txBox="1"/>
          <p:nvPr/>
        </p:nvSpPr>
        <p:spPr>
          <a:xfrm>
            <a:off x="6355079" y="2267712"/>
            <a:ext cx="1097280" cy="320040"/>
          </a:xfrm>
          <a:prstGeom prst="rect">
            <a:avLst/>
          </a:prstGeom>
          <a:noFill/>
        </p:spPr>
        <p:txBody>
          <a:bodyPr wrap="square">
            <a:spAutoFit/>
          </a:bodyPr>
          <a:lstStyle/>
          <a:p>
            <a:pPr algn="r"/>
            <a:r>
              <a:rPr sz="1150" b="0">
                <a:solidFill>
                  <a:srgbClr val="FFFFFF"/>
                </a:solidFill>
                <a:latin typeface="Calibri"/>
              </a:rPr>
              <a:t>50,000</a:t>
            </a:r>
          </a:p>
        </p:txBody>
      </p:sp>
      <p:sp>
        <p:nvSpPr>
          <p:cNvPr id="26" name="TextBox 25"/>
          <p:cNvSpPr txBox="1"/>
          <p:nvPr/>
        </p:nvSpPr>
        <p:spPr>
          <a:xfrm>
            <a:off x="7543800" y="2267712"/>
            <a:ext cx="4480560" cy="320040"/>
          </a:xfrm>
          <a:prstGeom prst="rect">
            <a:avLst/>
          </a:prstGeom>
          <a:noFill/>
        </p:spPr>
        <p:txBody>
          <a:bodyPr wrap="square">
            <a:spAutoFit/>
          </a:bodyPr>
          <a:lstStyle/>
          <a:p>
            <a:pPr algn="l"/>
            <a:r>
              <a:rPr sz="1150" b="0">
                <a:solidFill>
                  <a:srgbClr val="FFFFFF"/>
                </a:solidFill>
                <a:latin typeface="Calibri"/>
              </a:rPr>
              <a:t>Fixed monthly cost</a:t>
            </a:r>
          </a:p>
        </p:txBody>
      </p:sp>
      <p:sp>
        <p:nvSpPr>
          <p:cNvPr id="27" name="Rectangle 26"/>
          <p:cNvSpPr/>
          <p:nvPr/>
        </p:nvSpPr>
        <p:spPr>
          <a:xfrm>
            <a:off x="274320" y="2633472"/>
            <a:ext cx="11795760" cy="3840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2670048"/>
            <a:ext cx="2468879" cy="320040"/>
          </a:xfrm>
          <a:prstGeom prst="rect">
            <a:avLst/>
          </a:prstGeom>
          <a:noFill/>
        </p:spPr>
        <p:txBody>
          <a:bodyPr wrap="square">
            <a:spAutoFit/>
          </a:bodyPr>
          <a:lstStyle/>
          <a:p>
            <a:pPr algn="l"/>
            <a:r>
              <a:rPr sz="1150" b="0">
                <a:solidFill>
                  <a:srgbClr val="FFFFFF"/>
                </a:solidFill>
                <a:latin typeface="Calibri"/>
              </a:rPr>
              <a:t>Groceries</a:t>
            </a:r>
          </a:p>
        </p:txBody>
      </p:sp>
      <p:sp>
        <p:nvSpPr>
          <p:cNvPr id="29" name="TextBox 28"/>
          <p:cNvSpPr txBox="1"/>
          <p:nvPr/>
        </p:nvSpPr>
        <p:spPr>
          <a:xfrm>
            <a:off x="2880360" y="2670048"/>
            <a:ext cx="1005839" cy="320040"/>
          </a:xfrm>
          <a:prstGeom prst="rect">
            <a:avLst/>
          </a:prstGeom>
          <a:noFill/>
        </p:spPr>
        <p:txBody>
          <a:bodyPr wrap="square">
            <a:spAutoFit/>
          </a:bodyPr>
          <a:lstStyle/>
          <a:p>
            <a:pPr algn="r"/>
            <a:r>
              <a:rPr sz="1150" b="0">
                <a:solidFill>
                  <a:srgbClr val="FFFFFF"/>
                </a:solidFill>
                <a:latin typeface="Calibri"/>
              </a:rPr>
              <a:t>0</a:t>
            </a:r>
          </a:p>
        </p:txBody>
      </p:sp>
      <p:sp>
        <p:nvSpPr>
          <p:cNvPr id="30" name="TextBox 29"/>
          <p:cNvSpPr txBox="1"/>
          <p:nvPr/>
        </p:nvSpPr>
        <p:spPr>
          <a:xfrm>
            <a:off x="3977639" y="2670048"/>
            <a:ext cx="1097280" cy="320040"/>
          </a:xfrm>
          <a:prstGeom prst="rect">
            <a:avLst/>
          </a:prstGeom>
          <a:noFill/>
        </p:spPr>
        <p:txBody>
          <a:bodyPr wrap="square">
            <a:spAutoFit/>
          </a:bodyPr>
          <a:lstStyle/>
          <a:p>
            <a:pPr algn="r"/>
            <a:r>
              <a:rPr sz="1150" b="0">
                <a:solidFill>
                  <a:srgbClr val="FFFFFF"/>
                </a:solidFill>
                <a:latin typeface="Calibri"/>
              </a:rPr>
              <a:t>5,000</a:t>
            </a:r>
          </a:p>
        </p:txBody>
      </p:sp>
      <p:sp>
        <p:nvSpPr>
          <p:cNvPr id="31" name="TextBox 30"/>
          <p:cNvSpPr txBox="1"/>
          <p:nvPr/>
        </p:nvSpPr>
        <p:spPr>
          <a:xfrm>
            <a:off x="5166359" y="2670048"/>
            <a:ext cx="1097280" cy="320040"/>
          </a:xfrm>
          <a:prstGeom prst="rect">
            <a:avLst/>
          </a:prstGeom>
          <a:noFill/>
        </p:spPr>
        <p:txBody>
          <a:bodyPr wrap="square">
            <a:spAutoFit/>
          </a:bodyPr>
          <a:lstStyle/>
          <a:p>
            <a:pPr algn="r"/>
            <a:r>
              <a:rPr sz="1150" b="0">
                <a:solidFill>
                  <a:srgbClr val="FFFFFF"/>
                </a:solidFill>
                <a:latin typeface="Calibri"/>
              </a:rPr>
              <a:t>6,100</a:t>
            </a:r>
          </a:p>
        </p:txBody>
      </p:sp>
      <p:sp>
        <p:nvSpPr>
          <p:cNvPr id="32" name="TextBox 31"/>
          <p:cNvSpPr txBox="1"/>
          <p:nvPr/>
        </p:nvSpPr>
        <p:spPr>
          <a:xfrm>
            <a:off x="6355079" y="2670048"/>
            <a:ext cx="1097280" cy="320040"/>
          </a:xfrm>
          <a:prstGeom prst="rect">
            <a:avLst/>
          </a:prstGeom>
          <a:noFill/>
        </p:spPr>
        <p:txBody>
          <a:bodyPr wrap="square">
            <a:spAutoFit/>
          </a:bodyPr>
          <a:lstStyle/>
          <a:p>
            <a:pPr algn="r"/>
            <a:r>
              <a:rPr sz="1150" b="0">
                <a:solidFill>
                  <a:srgbClr val="FFFFFF"/>
                </a:solidFill>
                <a:latin typeface="Calibri"/>
              </a:rPr>
              <a:t>20,000</a:t>
            </a:r>
          </a:p>
        </p:txBody>
      </p:sp>
      <p:sp>
        <p:nvSpPr>
          <p:cNvPr id="33" name="TextBox 32"/>
          <p:cNvSpPr txBox="1"/>
          <p:nvPr/>
        </p:nvSpPr>
        <p:spPr>
          <a:xfrm>
            <a:off x="7543800" y="2670048"/>
            <a:ext cx="4480560" cy="320040"/>
          </a:xfrm>
          <a:prstGeom prst="rect">
            <a:avLst/>
          </a:prstGeom>
          <a:noFill/>
        </p:spPr>
        <p:txBody>
          <a:bodyPr wrap="square">
            <a:spAutoFit/>
          </a:bodyPr>
          <a:lstStyle/>
          <a:p>
            <a:pPr algn="l"/>
            <a:r>
              <a:rPr sz="1150" b="0">
                <a:solidFill>
                  <a:srgbClr val="FFFFFF"/>
                </a:solidFill>
                <a:latin typeface="Calibri"/>
              </a:rPr>
              <a:t>Variable (±5% noise)</a:t>
            </a:r>
          </a:p>
        </p:txBody>
      </p:sp>
      <p:sp>
        <p:nvSpPr>
          <p:cNvPr id="34" name="Rectangle 33"/>
          <p:cNvSpPr/>
          <p:nvPr/>
        </p:nvSpPr>
        <p:spPr>
          <a:xfrm>
            <a:off x="274320" y="3035808"/>
            <a:ext cx="11795760" cy="384048"/>
          </a:xfrm>
          <a:prstGeom prst="rect">
            <a:avLst/>
          </a:prstGeom>
          <a:solidFill>
            <a:srgbClr val="0F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3072384"/>
            <a:ext cx="2468879" cy="320040"/>
          </a:xfrm>
          <a:prstGeom prst="rect">
            <a:avLst/>
          </a:prstGeom>
          <a:noFill/>
        </p:spPr>
        <p:txBody>
          <a:bodyPr wrap="square">
            <a:spAutoFit/>
          </a:bodyPr>
          <a:lstStyle/>
          <a:p>
            <a:pPr algn="l"/>
            <a:r>
              <a:rPr sz="1150" b="0">
                <a:solidFill>
                  <a:srgbClr val="FFFFFF"/>
                </a:solidFill>
                <a:latin typeface="Calibri"/>
              </a:rPr>
              <a:t>Entertainment</a:t>
            </a:r>
          </a:p>
        </p:txBody>
      </p:sp>
      <p:sp>
        <p:nvSpPr>
          <p:cNvPr id="36" name="TextBox 35"/>
          <p:cNvSpPr txBox="1"/>
          <p:nvPr/>
        </p:nvSpPr>
        <p:spPr>
          <a:xfrm>
            <a:off x="2880360" y="3072384"/>
            <a:ext cx="1005839" cy="320040"/>
          </a:xfrm>
          <a:prstGeom prst="rect">
            <a:avLst/>
          </a:prstGeom>
          <a:noFill/>
        </p:spPr>
        <p:txBody>
          <a:bodyPr wrap="square">
            <a:spAutoFit/>
          </a:bodyPr>
          <a:lstStyle/>
          <a:p>
            <a:pPr algn="r"/>
            <a:r>
              <a:rPr sz="1150" b="0">
                <a:solidFill>
                  <a:srgbClr val="FFFFFF"/>
                </a:solidFill>
                <a:latin typeface="Calibri"/>
              </a:rPr>
              <a:t>0</a:t>
            </a:r>
          </a:p>
        </p:txBody>
      </p:sp>
      <p:sp>
        <p:nvSpPr>
          <p:cNvPr id="37" name="TextBox 36"/>
          <p:cNvSpPr txBox="1"/>
          <p:nvPr/>
        </p:nvSpPr>
        <p:spPr>
          <a:xfrm>
            <a:off x="3977639" y="3072384"/>
            <a:ext cx="1097280" cy="320040"/>
          </a:xfrm>
          <a:prstGeom prst="rect">
            <a:avLst/>
          </a:prstGeom>
          <a:noFill/>
        </p:spPr>
        <p:txBody>
          <a:bodyPr wrap="square">
            <a:spAutoFit/>
          </a:bodyPr>
          <a:lstStyle/>
          <a:p>
            <a:pPr algn="r"/>
            <a:r>
              <a:rPr sz="1150" b="0">
                <a:solidFill>
                  <a:srgbClr val="FFFFFF"/>
                </a:solidFill>
                <a:latin typeface="Calibri"/>
              </a:rPr>
              <a:t>2,000</a:t>
            </a:r>
          </a:p>
        </p:txBody>
      </p:sp>
      <p:sp>
        <p:nvSpPr>
          <p:cNvPr id="38" name="TextBox 37"/>
          <p:cNvSpPr txBox="1"/>
          <p:nvPr/>
        </p:nvSpPr>
        <p:spPr>
          <a:xfrm>
            <a:off x="5166359" y="3072384"/>
            <a:ext cx="1097280" cy="320040"/>
          </a:xfrm>
          <a:prstGeom prst="rect">
            <a:avLst/>
          </a:prstGeom>
          <a:noFill/>
        </p:spPr>
        <p:txBody>
          <a:bodyPr wrap="square">
            <a:spAutoFit/>
          </a:bodyPr>
          <a:lstStyle/>
          <a:p>
            <a:pPr algn="r"/>
            <a:r>
              <a:rPr sz="1150" b="0">
                <a:solidFill>
                  <a:srgbClr val="FFFFFF"/>
                </a:solidFill>
                <a:latin typeface="Calibri"/>
              </a:rPr>
              <a:t>3,400</a:t>
            </a:r>
          </a:p>
        </p:txBody>
      </p:sp>
      <p:sp>
        <p:nvSpPr>
          <p:cNvPr id="39" name="TextBox 38"/>
          <p:cNvSpPr txBox="1"/>
          <p:nvPr/>
        </p:nvSpPr>
        <p:spPr>
          <a:xfrm>
            <a:off x="6355079" y="3072384"/>
            <a:ext cx="1097280" cy="320040"/>
          </a:xfrm>
          <a:prstGeom prst="rect">
            <a:avLst/>
          </a:prstGeom>
          <a:noFill/>
        </p:spPr>
        <p:txBody>
          <a:bodyPr wrap="square">
            <a:spAutoFit/>
          </a:bodyPr>
          <a:lstStyle/>
          <a:p>
            <a:pPr algn="r"/>
            <a:r>
              <a:rPr sz="1150" b="0">
                <a:solidFill>
                  <a:srgbClr val="FFFFFF"/>
                </a:solidFill>
                <a:latin typeface="Calibri"/>
              </a:rPr>
              <a:t>15,000</a:t>
            </a:r>
          </a:p>
        </p:txBody>
      </p:sp>
      <p:sp>
        <p:nvSpPr>
          <p:cNvPr id="40" name="TextBox 39"/>
          <p:cNvSpPr txBox="1"/>
          <p:nvPr/>
        </p:nvSpPr>
        <p:spPr>
          <a:xfrm>
            <a:off x="7543800" y="3072384"/>
            <a:ext cx="4480560" cy="320040"/>
          </a:xfrm>
          <a:prstGeom prst="rect">
            <a:avLst/>
          </a:prstGeom>
          <a:noFill/>
        </p:spPr>
        <p:txBody>
          <a:bodyPr wrap="square">
            <a:spAutoFit/>
          </a:bodyPr>
          <a:lstStyle/>
          <a:p>
            <a:pPr algn="l"/>
            <a:r>
              <a:rPr sz="1150" b="0">
                <a:solidFill>
                  <a:srgbClr val="FFFFFF"/>
                </a:solidFill>
                <a:latin typeface="Calibri"/>
              </a:rPr>
              <a:t>Variable (±5% noise)</a:t>
            </a:r>
          </a:p>
        </p:txBody>
      </p:sp>
      <p:sp>
        <p:nvSpPr>
          <p:cNvPr id="41" name="Rectangle 40"/>
          <p:cNvSpPr/>
          <p:nvPr/>
        </p:nvSpPr>
        <p:spPr>
          <a:xfrm>
            <a:off x="274320" y="3438144"/>
            <a:ext cx="11795760" cy="3840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 y="3474720"/>
            <a:ext cx="2468879" cy="320040"/>
          </a:xfrm>
          <a:prstGeom prst="rect">
            <a:avLst/>
          </a:prstGeom>
          <a:noFill/>
        </p:spPr>
        <p:txBody>
          <a:bodyPr wrap="square">
            <a:spAutoFit/>
          </a:bodyPr>
          <a:lstStyle/>
          <a:p>
            <a:pPr algn="l"/>
            <a:r>
              <a:rPr sz="1150" b="0">
                <a:solidFill>
                  <a:srgbClr val="FFFFFF"/>
                </a:solidFill>
                <a:latin typeface="Calibri"/>
              </a:rPr>
              <a:t>total_expense</a:t>
            </a:r>
          </a:p>
        </p:txBody>
      </p:sp>
      <p:sp>
        <p:nvSpPr>
          <p:cNvPr id="43" name="TextBox 42"/>
          <p:cNvSpPr txBox="1"/>
          <p:nvPr/>
        </p:nvSpPr>
        <p:spPr>
          <a:xfrm>
            <a:off x="2880360" y="3474720"/>
            <a:ext cx="1005839" cy="320040"/>
          </a:xfrm>
          <a:prstGeom prst="rect">
            <a:avLst/>
          </a:prstGeom>
          <a:noFill/>
        </p:spPr>
        <p:txBody>
          <a:bodyPr wrap="square">
            <a:spAutoFit/>
          </a:bodyPr>
          <a:lstStyle/>
          <a:p>
            <a:pPr algn="r"/>
            <a:r>
              <a:rPr sz="1150" b="0">
                <a:solidFill>
                  <a:srgbClr val="FFFFFF"/>
                </a:solidFill>
                <a:latin typeface="Calibri"/>
              </a:rPr>
              <a:t>3,500</a:t>
            </a:r>
          </a:p>
        </p:txBody>
      </p:sp>
      <p:sp>
        <p:nvSpPr>
          <p:cNvPr id="44" name="TextBox 43"/>
          <p:cNvSpPr txBox="1"/>
          <p:nvPr/>
        </p:nvSpPr>
        <p:spPr>
          <a:xfrm>
            <a:off x="3977639" y="3474720"/>
            <a:ext cx="1097280" cy="320040"/>
          </a:xfrm>
          <a:prstGeom prst="rect">
            <a:avLst/>
          </a:prstGeom>
          <a:noFill/>
        </p:spPr>
        <p:txBody>
          <a:bodyPr wrap="square">
            <a:spAutoFit/>
          </a:bodyPr>
          <a:lstStyle/>
          <a:p>
            <a:pPr algn="r"/>
            <a:r>
              <a:rPr sz="1150" b="0">
                <a:solidFill>
                  <a:srgbClr val="FFFFFF"/>
                </a:solidFill>
                <a:latin typeface="Calibri"/>
              </a:rPr>
              <a:t>42,000</a:t>
            </a:r>
          </a:p>
        </p:txBody>
      </p:sp>
      <p:sp>
        <p:nvSpPr>
          <p:cNvPr id="45" name="TextBox 44"/>
          <p:cNvSpPr txBox="1"/>
          <p:nvPr/>
        </p:nvSpPr>
        <p:spPr>
          <a:xfrm>
            <a:off x="5166359" y="3474720"/>
            <a:ext cx="1097280" cy="320040"/>
          </a:xfrm>
          <a:prstGeom prst="rect">
            <a:avLst/>
          </a:prstGeom>
          <a:noFill/>
        </p:spPr>
        <p:txBody>
          <a:bodyPr wrap="square">
            <a:spAutoFit/>
          </a:bodyPr>
          <a:lstStyle/>
          <a:p>
            <a:pPr algn="r"/>
            <a:r>
              <a:rPr sz="1150" b="0">
                <a:solidFill>
                  <a:srgbClr val="FFFFFF"/>
                </a:solidFill>
                <a:latin typeface="Calibri"/>
              </a:rPr>
              <a:t>45,600</a:t>
            </a:r>
          </a:p>
        </p:txBody>
      </p:sp>
      <p:sp>
        <p:nvSpPr>
          <p:cNvPr id="46" name="TextBox 45"/>
          <p:cNvSpPr txBox="1"/>
          <p:nvPr/>
        </p:nvSpPr>
        <p:spPr>
          <a:xfrm>
            <a:off x="6355079" y="3474720"/>
            <a:ext cx="1097280" cy="320040"/>
          </a:xfrm>
          <a:prstGeom prst="rect">
            <a:avLst/>
          </a:prstGeom>
          <a:noFill/>
        </p:spPr>
        <p:txBody>
          <a:bodyPr wrap="square">
            <a:spAutoFit/>
          </a:bodyPr>
          <a:lstStyle/>
          <a:p>
            <a:pPr algn="r"/>
            <a:r>
              <a:rPr sz="1150" b="0">
                <a:solidFill>
                  <a:srgbClr val="FFFFFF"/>
                </a:solidFill>
                <a:latin typeface="Calibri"/>
              </a:rPr>
              <a:t>160,000</a:t>
            </a:r>
          </a:p>
        </p:txBody>
      </p:sp>
      <p:sp>
        <p:nvSpPr>
          <p:cNvPr id="47" name="TextBox 46"/>
          <p:cNvSpPr txBox="1"/>
          <p:nvPr/>
        </p:nvSpPr>
        <p:spPr>
          <a:xfrm>
            <a:off x="7543800" y="3474720"/>
            <a:ext cx="4480560" cy="320040"/>
          </a:xfrm>
          <a:prstGeom prst="rect">
            <a:avLst/>
          </a:prstGeom>
          <a:noFill/>
        </p:spPr>
        <p:txBody>
          <a:bodyPr wrap="square">
            <a:spAutoFit/>
          </a:bodyPr>
          <a:lstStyle/>
          <a:p>
            <a:pPr algn="l"/>
            <a:r>
              <a:rPr sz="1150" b="0">
                <a:solidFill>
                  <a:srgbClr val="FFFFFF"/>
                </a:solidFill>
                <a:latin typeface="Calibri"/>
              </a:rPr>
              <a:t>Sum of 11 categories</a:t>
            </a:r>
          </a:p>
        </p:txBody>
      </p:sp>
      <p:sp>
        <p:nvSpPr>
          <p:cNvPr id="48" name="Rectangle 47"/>
          <p:cNvSpPr/>
          <p:nvPr/>
        </p:nvSpPr>
        <p:spPr>
          <a:xfrm>
            <a:off x="274320" y="3840480"/>
            <a:ext cx="11795760" cy="384048"/>
          </a:xfrm>
          <a:prstGeom prst="rect">
            <a:avLst/>
          </a:prstGeom>
          <a:solidFill>
            <a:srgbClr val="0F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3877056"/>
            <a:ext cx="2468879" cy="320040"/>
          </a:xfrm>
          <a:prstGeom prst="rect">
            <a:avLst/>
          </a:prstGeom>
          <a:noFill/>
        </p:spPr>
        <p:txBody>
          <a:bodyPr wrap="square">
            <a:spAutoFit/>
          </a:bodyPr>
          <a:lstStyle/>
          <a:p>
            <a:pPr algn="l"/>
            <a:r>
              <a:rPr sz="1150" b="0">
                <a:solidFill>
                  <a:srgbClr val="FFFFFF"/>
                </a:solidFill>
                <a:latin typeface="Calibri"/>
              </a:rPr>
              <a:t>savings_rate</a:t>
            </a:r>
          </a:p>
        </p:txBody>
      </p:sp>
      <p:sp>
        <p:nvSpPr>
          <p:cNvPr id="50" name="TextBox 49"/>
          <p:cNvSpPr txBox="1"/>
          <p:nvPr/>
        </p:nvSpPr>
        <p:spPr>
          <a:xfrm>
            <a:off x="2880360" y="3877056"/>
            <a:ext cx="1005839" cy="320040"/>
          </a:xfrm>
          <a:prstGeom prst="rect">
            <a:avLst/>
          </a:prstGeom>
          <a:noFill/>
        </p:spPr>
        <p:txBody>
          <a:bodyPr wrap="square">
            <a:spAutoFit/>
          </a:bodyPr>
          <a:lstStyle/>
          <a:p>
            <a:pPr algn="r"/>
            <a:r>
              <a:rPr sz="1150" b="0">
                <a:solidFill>
                  <a:srgbClr val="FFFFFF"/>
                </a:solidFill>
                <a:latin typeface="Calibri"/>
              </a:rPr>
              <a:t>−1.00</a:t>
            </a:r>
          </a:p>
        </p:txBody>
      </p:sp>
      <p:sp>
        <p:nvSpPr>
          <p:cNvPr id="51" name="TextBox 50"/>
          <p:cNvSpPr txBox="1"/>
          <p:nvPr/>
        </p:nvSpPr>
        <p:spPr>
          <a:xfrm>
            <a:off x="3977639" y="3877056"/>
            <a:ext cx="1097280" cy="320040"/>
          </a:xfrm>
          <a:prstGeom prst="rect">
            <a:avLst/>
          </a:prstGeom>
          <a:noFill/>
        </p:spPr>
        <p:txBody>
          <a:bodyPr wrap="square">
            <a:spAutoFit/>
          </a:bodyPr>
          <a:lstStyle/>
          <a:p>
            <a:pPr algn="r"/>
            <a:r>
              <a:rPr sz="1150" b="0">
                <a:solidFill>
                  <a:srgbClr val="FFFFFF"/>
                </a:solidFill>
                <a:latin typeface="Calibri"/>
              </a:rPr>
              <a:t>0.12</a:t>
            </a:r>
          </a:p>
        </p:txBody>
      </p:sp>
      <p:sp>
        <p:nvSpPr>
          <p:cNvPr id="52" name="TextBox 51"/>
          <p:cNvSpPr txBox="1"/>
          <p:nvPr/>
        </p:nvSpPr>
        <p:spPr>
          <a:xfrm>
            <a:off x="5166359" y="3877056"/>
            <a:ext cx="1097280" cy="320040"/>
          </a:xfrm>
          <a:prstGeom prst="rect">
            <a:avLst/>
          </a:prstGeom>
          <a:noFill/>
        </p:spPr>
        <p:txBody>
          <a:bodyPr wrap="square">
            <a:spAutoFit/>
          </a:bodyPr>
          <a:lstStyle/>
          <a:p>
            <a:pPr algn="r"/>
            <a:r>
              <a:rPr sz="1150" b="0">
                <a:solidFill>
                  <a:srgbClr val="FFFFFF"/>
                </a:solidFill>
                <a:latin typeface="Calibri"/>
              </a:rPr>
              <a:t>0.15</a:t>
            </a:r>
          </a:p>
        </p:txBody>
      </p:sp>
      <p:sp>
        <p:nvSpPr>
          <p:cNvPr id="53" name="TextBox 52"/>
          <p:cNvSpPr txBox="1"/>
          <p:nvPr/>
        </p:nvSpPr>
        <p:spPr>
          <a:xfrm>
            <a:off x="6355079" y="3877056"/>
            <a:ext cx="1097280" cy="320040"/>
          </a:xfrm>
          <a:prstGeom prst="rect">
            <a:avLst/>
          </a:prstGeom>
          <a:noFill/>
        </p:spPr>
        <p:txBody>
          <a:bodyPr wrap="square">
            <a:spAutoFit/>
          </a:bodyPr>
          <a:lstStyle/>
          <a:p>
            <a:pPr algn="r"/>
            <a:r>
              <a:rPr sz="1150" b="0">
                <a:solidFill>
                  <a:srgbClr val="FFFFFF"/>
                </a:solidFill>
                <a:latin typeface="Calibri"/>
              </a:rPr>
              <a:t>1.00</a:t>
            </a:r>
          </a:p>
        </p:txBody>
      </p:sp>
      <p:sp>
        <p:nvSpPr>
          <p:cNvPr id="54" name="TextBox 53"/>
          <p:cNvSpPr txBox="1"/>
          <p:nvPr/>
        </p:nvSpPr>
        <p:spPr>
          <a:xfrm>
            <a:off x="7543800" y="3877056"/>
            <a:ext cx="4480560" cy="320040"/>
          </a:xfrm>
          <a:prstGeom prst="rect">
            <a:avLst/>
          </a:prstGeom>
          <a:noFill/>
        </p:spPr>
        <p:txBody>
          <a:bodyPr wrap="square">
            <a:spAutoFit/>
          </a:bodyPr>
          <a:lstStyle/>
          <a:p>
            <a:pPr algn="l"/>
            <a:r>
              <a:rPr sz="1150" b="0">
                <a:solidFill>
                  <a:srgbClr val="FFFFFF"/>
                </a:solidFill>
                <a:latin typeface="Calibri"/>
              </a:rPr>
              <a:t>Clamped ratio [−1, +1]</a:t>
            </a:r>
          </a:p>
        </p:txBody>
      </p:sp>
      <p:sp>
        <p:nvSpPr>
          <p:cNvPr id="55" name="Rectangle 54"/>
          <p:cNvSpPr/>
          <p:nvPr/>
        </p:nvSpPr>
        <p:spPr>
          <a:xfrm>
            <a:off x="274320" y="4242816"/>
            <a:ext cx="11795760" cy="3840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0040" y="4279392"/>
            <a:ext cx="2468879" cy="320040"/>
          </a:xfrm>
          <a:prstGeom prst="rect">
            <a:avLst/>
          </a:prstGeom>
          <a:noFill/>
        </p:spPr>
        <p:txBody>
          <a:bodyPr wrap="square">
            <a:spAutoFit/>
          </a:bodyPr>
          <a:lstStyle/>
          <a:p>
            <a:pPr algn="l"/>
            <a:r>
              <a:rPr sz="1150" b="0">
                <a:solidFill>
                  <a:srgbClr val="FFFFFF"/>
                </a:solidFill>
                <a:latin typeface="Calibri"/>
              </a:rPr>
              <a:t>rent_share</a:t>
            </a:r>
          </a:p>
        </p:txBody>
      </p:sp>
      <p:sp>
        <p:nvSpPr>
          <p:cNvPr id="57" name="TextBox 56"/>
          <p:cNvSpPr txBox="1"/>
          <p:nvPr/>
        </p:nvSpPr>
        <p:spPr>
          <a:xfrm>
            <a:off x="2880360" y="4279392"/>
            <a:ext cx="1005839" cy="320040"/>
          </a:xfrm>
          <a:prstGeom prst="rect">
            <a:avLst/>
          </a:prstGeom>
          <a:noFill/>
        </p:spPr>
        <p:txBody>
          <a:bodyPr wrap="square">
            <a:spAutoFit/>
          </a:bodyPr>
          <a:lstStyle/>
          <a:p>
            <a:pPr algn="r"/>
            <a:r>
              <a:rPr sz="1150" b="0">
                <a:solidFill>
                  <a:srgbClr val="FFFFFF"/>
                </a:solidFill>
                <a:latin typeface="Calibri"/>
              </a:rPr>
              <a:t>0.00</a:t>
            </a:r>
          </a:p>
        </p:txBody>
      </p:sp>
      <p:sp>
        <p:nvSpPr>
          <p:cNvPr id="58" name="TextBox 57"/>
          <p:cNvSpPr txBox="1"/>
          <p:nvPr/>
        </p:nvSpPr>
        <p:spPr>
          <a:xfrm>
            <a:off x="3977639" y="4279392"/>
            <a:ext cx="1097280" cy="320040"/>
          </a:xfrm>
          <a:prstGeom prst="rect">
            <a:avLst/>
          </a:prstGeom>
          <a:noFill/>
        </p:spPr>
        <p:txBody>
          <a:bodyPr wrap="square">
            <a:spAutoFit/>
          </a:bodyPr>
          <a:lstStyle/>
          <a:p>
            <a:pPr algn="r"/>
            <a:r>
              <a:rPr sz="1150" b="0">
                <a:solidFill>
                  <a:srgbClr val="FFFFFF"/>
                </a:solidFill>
                <a:latin typeface="Calibri"/>
              </a:rPr>
              <a:t>0.25</a:t>
            </a:r>
          </a:p>
        </p:txBody>
      </p:sp>
      <p:sp>
        <p:nvSpPr>
          <p:cNvPr id="59" name="TextBox 58"/>
          <p:cNvSpPr txBox="1"/>
          <p:nvPr/>
        </p:nvSpPr>
        <p:spPr>
          <a:xfrm>
            <a:off x="5166359" y="4279392"/>
            <a:ext cx="1097280" cy="320040"/>
          </a:xfrm>
          <a:prstGeom prst="rect">
            <a:avLst/>
          </a:prstGeom>
          <a:noFill/>
        </p:spPr>
        <p:txBody>
          <a:bodyPr wrap="square">
            <a:spAutoFit/>
          </a:bodyPr>
          <a:lstStyle/>
          <a:p>
            <a:pPr algn="r"/>
            <a:r>
              <a:rPr sz="1150" b="0">
                <a:solidFill>
                  <a:srgbClr val="FFFFFF"/>
                </a:solidFill>
                <a:latin typeface="Calibri"/>
              </a:rPr>
              <a:t>0.28</a:t>
            </a:r>
          </a:p>
        </p:txBody>
      </p:sp>
      <p:sp>
        <p:nvSpPr>
          <p:cNvPr id="60" name="TextBox 59"/>
          <p:cNvSpPr txBox="1"/>
          <p:nvPr/>
        </p:nvSpPr>
        <p:spPr>
          <a:xfrm>
            <a:off x="6355079" y="4279392"/>
            <a:ext cx="1097280" cy="320040"/>
          </a:xfrm>
          <a:prstGeom prst="rect">
            <a:avLst/>
          </a:prstGeom>
          <a:noFill/>
        </p:spPr>
        <p:txBody>
          <a:bodyPr wrap="square">
            <a:spAutoFit/>
          </a:bodyPr>
          <a:lstStyle/>
          <a:p>
            <a:pPr algn="r"/>
            <a:r>
              <a:rPr sz="1150" b="0">
                <a:solidFill>
                  <a:srgbClr val="FFFFFF"/>
                </a:solidFill>
                <a:latin typeface="Calibri"/>
              </a:rPr>
              <a:t>0.85</a:t>
            </a:r>
          </a:p>
        </p:txBody>
      </p:sp>
      <p:sp>
        <p:nvSpPr>
          <p:cNvPr id="61" name="TextBox 60"/>
          <p:cNvSpPr txBox="1"/>
          <p:nvPr/>
        </p:nvSpPr>
        <p:spPr>
          <a:xfrm>
            <a:off x="7543800" y="4279392"/>
            <a:ext cx="4480560" cy="320040"/>
          </a:xfrm>
          <a:prstGeom prst="rect">
            <a:avLst/>
          </a:prstGeom>
          <a:noFill/>
        </p:spPr>
        <p:txBody>
          <a:bodyPr wrap="square">
            <a:spAutoFit/>
          </a:bodyPr>
          <a:lstStyle/>
          <a:p>
            <a:pPr algn="l"/>
            <a:r>
              <a:rPr sz="1150" b="0">
                <a:solidFill>
                  <a:srgbClr val="FFFFFF"/>
                </a:solidFill>
                <a:latin typeface="Calibri"/>
              </a:rPr>
              <a:t>Rent / total_expense</a:t>
            </a:r>
          </a:p>
        </p:txBody>
      </p:sp>
      <p:sp>
        <p:nvSpPr>
          <p:cNvPr id="62" name="Rectangle 61"/>
          <p:cNvSpPr/>
          <p:nvPr/>
        </p:nvSpPr>
        <p:spPr>
          <a:xfrm>
            <a:off x="274320" y="4645152"/>
            <a:ext cx="11795760" cy="384048"/>
          </a:xfrm>
          <a:prstGeom prst="rect">
            <a:avLst/>
          </a:prstGeom>
          <a:solidFill>
            <a:srgbClr val="0F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0040" y="4681728"/>
            <a:ext cx="2468879" cy="320040"/>
          </a:xfrm>
          <a:prstGeom prst="rect">
            <a:avLst/>
          </a:prstGeom>
          <a:noFill/>
        </p:spPr>
        <p:txBody>
          <a:bodyPr wrap="square">
            <a:spAutoFit/>
          </a:bodyPr>
          <a:lstStyle/>
          <a:p>
            <a:pPr algn="l"/>
            <a:r>
              <a:rPr sz="1150" b="0">
                <a:solidFill>
                  <a:srgbClr val="FFFFFF"/>
                </a:solidFill>
                <a:latin typeface="Calibri"/>
              </a:rPr>
              <a:t>expense_growth</a:t>
            </a:r>
          </a:p>
        </p:txBody>
      </p:sp>
      <p:sp>
        <p:nvSpPr>
          <p:cNvPr id="64" name="TextBox 63"/>
          <p:cNvSpPr txBox="1"/>
          <p:nvPr/>
        </p:nvSpPr>
        <p:spPr>
          <a:xfrm>
            <a:off x="2880360" y="4681728"/>
            <a:ext cx="1005839" cy="320040"/>
          </a:xfrm>
          <a:prstGeom prst="rect">
            <a:avLst/>
          </a:prstGeom>
          <a:noFill/>
        </p:spPr>
        <p:txBody>
          <a:bodyPr wrap="square">
            <a:spAutoFit/>
          </a:bodyPr>
          <a:lstStyle/>
          <a:p>
            <a:pPr algn="r"/>
            <a:r>
              <a:rPr sz="1150" b="0">
                <a:solidFill>
                  <a:srgbClr val="FFFFFF"/>
                </a:solidFill>
                <a:latin typeface="Calibri"/>
              </a:rPr>
              <a:t>−0.50</a:t>
            </a:r>
          </a:p>
        </p:txBody>
      </p:sp>
      <p:sp>
        <p:nvSpPr>
          <p:cNvPr id="65" name="TextBox 64"/>
          <p:cNvSpPr txBox="1"/>
          <p:nvPr/>
        </p:nvSpPr>
        <p:spPr>
          <a:xfrm>
            <a:off x="3977639" y="4681728"/>
            <a:ext cx="1097280" cy="320040"/>
          </a:xfrm>
          <a:prstGeom prst="rect">
            <a:avLst/>
          </a:prstGeom>
          <a:noFill/>
        </p:spPr>
        <p:txBody>
          <a:bodyPr wrap="square">
            <a:spAutoFit/>
          </a:bodyPr>
          <a:lstStyle/>
          <a:p>
            <a:pPr algn="r"/>
            <a:r>
              <a:rPr sz="1150" b="0">
                <a:solidFill>
                  <a:srgbClr val="FFFFFF"/>
                </a:solidFill>
                <a:latin typeface="Calibri"/>
              </a:rPr>
              <a:t>0.00</a:t>
            </a:r>
          </a:p>
        </p:txBody>
      </p:sp>
      <p:sp>
        <p:nvSpPr>
          <p:cNvPr id="66" name="TextBox 65"/>
          <p:cNvSpPr txBox="1"/>
          <p:nvPr/>
        </p:nvSpPr>
        <p:spPr>
          <a:xfrm>
            <a:off x="5166359" y="4681728"/>
            <a:ext cx="1097280" cy="320040"/>
          </a:xfrm>
          <a:prstGeom prst="rect">
            <a:avLst/>
          </a:prstGeom>
          <a:noFill/>
        </p:spPr>
        <p:txBody>
          <a:bodyPr wrap="square">
            <a:spAutoFit/>
          </a:bodyPr>
          <a:lstStyle/>
          <a:p>
            <a:pPr algn="r"/>
            <a:r>
              <a:rPr sz="1150" b="0">
                <a:solidFill>
                  <a:srgbClr val="FFFFFF"/>
                </a:solidFill>
                <a:latin typeface="Calibri"/>
              </a:rPr>
              <a:t>0.002</a:t>
            </a:r>
          </a:p>
        </p:txBody>
      </p:sp>
      <p:sp>
        <p:nvSpPr>
          <p:cNvPr id="67" name="TextBox 66"/>
          <p:cNvSpPr txBox="1"/>
          <p:nvPr/>
        </p:nvSpPr>
        <p:spPr>
          <a:xfrm>
            <a:off x="6355079" y="4681728"/>
            <a:ext cx="1097280" cy="320040"/>
          </a:xfrm>
          <a:prstGeom prst="rect">
            <a:avLst/>
          </a:prstGeom>
          <a:noFill/>
        </p:spPr>
        <p:txBody>
          <a:bodyPr wrap="square">
            <a:spAutoFit/>
          </a:bodyPr>
          <a:lstStyle/>
          <a:p>
            <a:pPr algn="r"/>
            <a:r>
              <a:rPr sz="1150" b="0">
                <a:solidFill>
                  <a:srgbClr val="FFFFFF"/>
                </a:solidFill>
                <a:latin typeface="Calibri"/>
              </a:rPr>
              <a:t>0.60</a:t>
            </a:r>
          </a:p>
        </p:txBody>
      </p:sp>
      <p:sp>
        <p:nvSpPr>
          <p:cNvPr id="68" name="TextBox 67"/>
          <p:cNvSpPr txBox="1"/>
          <p:nvPr/>
        </p:nvSpPr>
        <p:spPr>
          <a:xfrm>
            <a:off x="7543800" y="4681728"/>
            <a:ext cx="4480560" cy="320040"/>
          </a:xfrm>
          <a:prstGeom prst="rect">
            <a:avLst/>
          </a:prstGeom>
          <a:noFill/>
        </p:spPr>
        <p:txBody>
          <a:bodyPr wrap="square">
            <a:spAutoFit/>
          </a:bodyPr>
          <a:lstStyle/>
          <a:p>
            <a:pPr algn="l"/>
            <a:r>
              <a:rPr sz="1150" b="0">
                <a:solidFill>
                  <a:srgbClr val="FFFFFF"/>
                </a:solidFill>
                <a:latin typeface="Calibri"/>
              </a:rPr>
              <a:t>MoM % change</a:t>
            </a:r>
          </a:p>
        </p:txBody>
      </p:sp>
      <p:sp>
        <p:nvSpPr>
          <p:cNvPr id="69" name="Rectangle 68"/>
          <p:cNvSpPr/>
          <p:nvPr/>
        </p:nvSpPr>
        <p:spPr>
          <a:xfrm>
            <a:off x="274320" y="5047488"/>
            <a:ext cx="11795760" cy="38404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20040" y="5084064"/>
            <a:ext cx="2468879" cy="320040"/>
          </a:xfrm>
          <a:prstGeom prst="rect">
            <a:avLst/>
          </a:prstGeom>
          <a:noFill/>
        </p:spPr>
        <p:txBody>
          <a:bodyPr wrap="square">
            <a:spAutoFit/>
          </a:bodyPr>
          <a:lstStyle/>
          <a:p>
            <a:pPr algn="l"/>
            <a:r>
              <a:rPr sz="1150" b="0">
                <a:solidFill>
                  <a:srgbClr val="FFFFFF"/>
                </a:solidFill>
                <a:latin typeface="Calibri"/>
              </a:rPr>
              <a:t>avg_savings_last_3m</a:t>
            </a:r>
          </a:p>
        </p:txBody>
      </p:sp>
      <p:sp>
        <p:nvSpPr>
          <p:cNvPr id="71" name="TextBox 70"/>
          <p:cNvSpPr txBox="1"/>
          <p:nvPr/>
        </p:nvSpPr>
        <p:spPr>
          <a:xfrm>
            <a:off x="2880360" y="5084064"/>
            <a:ext cx="1005839" cy="320040"/>
          </a:xfrm>
          <a:prstGeom prst="rect">
            <a:avLst/>
          </a:prstGeom>
          <a:noFill/>
        </p:spPr>
        <p:txBody>
          <a:bodyPr wrap="square">
            <a:spAutoFit/>
          </a:bodyPr>
          <a:lstStyle/>
          <a:p>
            <a:pPr algn="r"/>
            <a:r>
              <a:rPr sz="1150" b="0">
                <a:solidFill>
                  <a:srgbClr val="FFFFFF"/>
                </a:solidFill>
                <a:latin typeface="Calibri"/>
              </a:rPr>
              <a:t>−20K</a:t>
            </a:r>
          </a:p>
        </p:txBody>
      </p:sp>
      <p:sp>
        <p:nvSpPr>
          <p:cNvPr id="72" name="TextBox 71"/>
          <p:cNvSpPr txBox="1"/>
          <p:nvPr/>
        </p:nvSpPr>
        <p:spPr>
          <a:xfrm>
            <a:off x="3977639" y="5084064"/>
            <a:ext cx="1097280" cy="320040"/>
          </a:xfrm>
          <a:prstGeom prst="rect">
            <a:avLst/>
          </a:prstGeom>
          <a:noFill/>
        </p:spPr>
        <p:txBody>
          <a:bodyPr wrap="square">
            <a:spAutoFit/>
          </a:bodyPr>
          <a:lstStyle/>
          <a:p>
            <a:pPr algn="r"/>
            <a:r>
              <a:rPr sz="1150" b="0">
                <a:solidFill>
                  <a:srgbClr val="FFFFFF"/>
                </a:solidFill>
                <a:latin typeface="Calibri"/>
              </a:rPr>
              <a:t>6,000</a:t>
            </a:r>
          </a:p>
        </p:txBody>
      </p:sp>
      <p:sp>
        <p:nvSpPr>
          <p:cNvPr id="73" name="TextBox 72"/>
          <p:cNvSpPr txBox="1"/>
          <p:nvPr/>
        </p:nvSpPr>
        <p:spPr>
          <a:xfrm>
            <a:off x="5166359" y="5084064"/>
            <a:ext cx="1097280" cy="320040"/>
          </a:xfrm>
          <a:prstGeom prst="rect">
            <a:avLst/>
          </a:prstGeom>
          <a:noFill/>
        </p:spPr>
        <p:txBody>
          <a:bodyPr wrap="square">
            <a:spAutoFit/>
          </a:bodyPr>
          <a:lstStyle/>
          <a:p>
            <a:pPr algn="r"/>
            <a:r>
              <a:rPr sz="1150" b="0">
                <a:solidFill>
                  <a:srgbClr val="FFFFFF"/>
                </a:solidFill>
                <a:latin typeface="Calibri"/>
              </a:rPr>
              <a:t>8,200</a:t>
            </a:r>
          </a:p>
        </p:txBody>
      </p:sp>
      <p:sp>
        <p:nvSpPr>
          <p:cNvPr id="74" name="TextBox 73"/>
          <p:cNvSpPr txBox="1"/>
          <p:nvPr/>
        </p:nvSpPr>
        <p:spPr>
          <a:xfrm>
            <a:off x="6355079" y="5084064"/>
            <a:ext cx="1097280" cy="320040"/>
          </a:xfrm>
          <a:prstGeom prst="rect">
            <a:avLst/>
          </a:prstGeom>
          <a:noFill/>
        </p:spPr>
        <p:txBody>
          <a:bodyPr wrap="square">
            <a:spAutoFit/>
          </a:bodyPr>
          <a:lstStyle/>
          <a:p>
            <a:pPr algn="r"/>
            <a:r>
              <a:rPr sz="1150" b="0">
                <a:solidFill>
                  <a:srgbClr val="FFFFFF"/>
                </a:solidFill>
                <a:latin typeface="Calibri"/>
              </a:rPr>
              <a:t>80,000</a:t>
            </a:r>
          </a:p>
        </p:txBody>
      </p:sp>
      <p:sp>
        <p:nvSpPr>
          <p:cNvPr id="75" name="TextBox 74"/>
          <p:cNvSpPr txBox="1"/>
          <p:nvPr/>
        </p:nvSpPr>
        <p:spPr>
          <a:xfrm>
            <a:off x="7543800" y="5084064"/>
            <a:ext cx="4480560" cy="320040"/>
          </a:xfrm>
          <a:prstGeom prst="rect">
            <a:avLst/>
          </a:prstGeom>
          <a:noFill/>
        </p:spPr>
        <p:txBody>
          <a:bodyPr wrap="square">
            <a:spAutoFit/>
          </a:bodyPr>
          <a:lstStyle/>
          <a:p>
            <a:pPr algn="l"/>
            <a:r>
              <a:rPr sz="1150" b="0">
                <a:solidFill>
                  <a:srgbClr val="FFFFFF"/>
                </a:solidFill>
                <a:latin typeface="Calibri"/>
              </a:rPr>
              <a:t>Rolling 3-month mean</a:t>
            </a:r>
          </a:p>
        </p:txBody>
      </p:sp>
      <p:sp>
        <p:nvSpPr>
          <p:cNvPr id="76" name="Rectangle 75"/>
          <p:cNvSpPr/>
          <p:nvPr/>
        </p:nvSpPr>
        <p:spPr>
          <a:xfrm>
            <a:off x="274320" y="5449824"/>
            <a:ext cx="11795760" cy="384048"/>
          </a:xfrm>
          <a:prstGeom prst="rect">
            <a:avLst/>
          </a:prstGeom>
          <a:solidFill>
            <a:srgbClr val="0F0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20040" y="5486400"/>
            <a:ext cx="2468879" cy="320040"/>
          </a:xfrm>
          <a:prstGeom prst="rect">
            <a:avLst/>
          </a:prstGeom>
          <a:noFill/>
        </p:spPr>
        <p:txBody>
          <a:bodyPr wrap="square">
            <a:spAutoFit/>
          </a:bodyPr>
          <a:lstStyle/>
          <a:p>
            <a:pPr algn="l"/>
            <a:r>
              <a:rPr sz="1150" b="0">
                <a:solidFill>
                  <a:srgbClr val="FFFFFF"/>
                </a:solidFill>
                <a:latin typeface="Calibri"/>
              </a:rPr>
              <a:t>next_month_savings</a:t>
            </a:r>
          </a:p>
        </p:txBody>
      </p:sp>
      <p:sp>
        <p:nvSpPr>
          <p:cNvPr id="78" name="TextBox 77"/>
          <p:cNvSpPr txBox="1"/>
          <p:nvPr/>
        </p:nvSpPr>
        <p:spPr>
          <a:xfrm>
            <a:off x="2880360" y="5486400"/>
            <a:ext cx="1005839" cy="320040"/>
          </a:xfrm>
          <a:prstGeom prst="rect">
            <a:avLst/>
          </a:prstGeom>
          <a:noFill/>
        </p:spPr>
        <p:txBody>
          <a:bodyPr wrap="square">
            <a:spAutoFit/>
          </a:bodyPr>
          <a:lstStyle/>
          <a:p>
            <a:pPr algn="r"/>
            <a:r>
              <a:rPr sz="1150" b="0">
                <a:solidFill>
                  <a:srgbClr val="FFFFFF"/>
                </a:solidFill>
                <a:latin typeface="Calibri"/>
              </a:rPr>
              <a:t>−50K</a:t>
            </a:r>
          </a:p>
        </p:txBody>
      </p:sp>
      <p:sp>
        <p:nvSpPr>
          <p:cNvPr id="79" name="TextBox 78"/>
          <p:cNvSpPr txBox="1"/>
          <p:nvPr/>
        </p:nvSpPr>
        <p:spPr>
          <a:xfrm>
            <a:off x="3977639" y="5486400"/>
            <a:ext cx="1097280" cy="320040"/>
          </a:xfrm>
          <a:prstGeom prst="rect">
            <a:avLst/>
          </a:prstGeom>
          <a:noFill/>
        </p:spPr>
        <p:txBody>
          <a:bodyPr wrap="square">
            <a:spAutoFit/>
          </a:bodyPr>
          <a:lstStyle/>
          <a:p>
            <a:pPr algn="r"/>
            <a:r>
              <a:rPr sz="1150" b="0">
                <a:solidFill>
                  <a:srgbClr val="FFFFFF"/>
                </a:solidFill>
                <a:latin typeface="Calibri"/>
              </a:rPr>
              <a:t>6,500</a:t>
            </a:r>
          </a:p>
        </p:txBody>
      </p:sp>
      <p:sp>
        <p:nvSpPr>
          <p:cNvPr id="80" name="TextBox 79"/>
          <p:cNvSpPr txBox="1"/>
          <p:nvPr/>
        </p:nvSpPr>
        <p:spPr>
          <a:xfrm>
            <a:off x="5166359" y="5486400"/>
            <a:ext cx="1097280" cy="320040"/>
          </a:xfrm>
          <a:prstGeom prst="rect">
            <a:avLst/>
          </a:prstGeom>
          <a:noFill/>
        </p:spPr>
        <p:txBody>
          <a:bodyPr wrap="square">
            <a:spAutoFit/>
          </a:bodyPr>
          <a:lstStyle/>
          <a:p>
            <a:pPr algn="r"/>
            <a:r>
              <a:rPr sz="1150" b="0">
                <a:solidFill>
                  <a:srgbClr val="FFFFFF"/>
                </a:solidFill>
                <a:latin typeface="Calibri"/>
              </a:rPr>
              <a:t>8,400</a:t>
            </a:r>
          </a:p>
        </p:txBody>
      </p:sp>
      <p:sp>
        <p:nvSpPr>
          <p:cNvPr id="81" name="TextBox 80"/>
          <p:cNvSpPr txBox="1"/>
          <p:nvPr/>
        </p:nvSpPr>
        <p:spPr>
          <a:xfrm>
            <a:off x="6355079" y="5486400"/>
            <a:ext cx="1097280" cy="320040"/>
          </a:xfrm>
          <a:prstGeom prst="rect">
            <a:avLst/>
          </a:prstGeom>
          <a:noFill/>
        </p:spPr>
        <p:txBody>
          <a:bodyPr wrap="square">
            <a:spAutoFit/>
          </a:bodyPr>
          <a:lstStyle/>
          <a:p>
            <a:pPr algn="r"/>
            <a:r>
              <a:rPr sz="1150" b="0">
                <a:solidFill>
                  <a:srgbClr val="FFFFFF"/>
                </a:solidFill>
                <a:latin typeface="Calibri"/>
              </a:rPr>
              <a:t>85,000</a:t>
            </a:r>
          </a:p>
        </p:txBody>
      </p:sp>
      <p:sp>
        <p:nvSpPr>
          <p:cNvPr id="82" name="TextBox 81"/>
          <p:cNvSpPr txBox="1"/>
          <p:nvPr/>
        </p:nvSpPr>
        <p:spPr>
          <a:xfrm>
            <a:off x="7543800" y="5486400"/>
            <a:ext cx="4480560" cy="320040"/>
          </a:xfrm>
          <a:prstGeom prst="rect">
            <a:avLst/>
          </a:prstGeom>
          <a:noFill/>
        </p:spPr>
        <p:txBody>
          <a:bodyPr wrap="square">
            <a:spAutoFit/>
          </a:bodyPr>
          <a:lstStyle/>
          <a:p>
            <a:pPr algn="l"/>
            <a:r>
              <a:rPr sz="1150" b="0">
                <a:solidFill>
                  <a:srgbClr val="FFFFFF"/>
                </a:solidFill>
                <a:latin typeface="Calibri"/>
              </a:rPr>
              <a:t>ML prediction target</a:t>
            </a:r>
          </a:p>
        </p:txBody>
      </p:sp>
      <p:sp>
        <p:nvSpPr>
          <p:cNvPr id="83" name="TextBox 82"/>
          <p:cNvSpPr txBox="1"/>
          <p:nvPr/>
        </p:nvSpPr>
        <p:spPr>
          <a:xfrm>
            <a:off x="365760" y="5989320"/>
            <a:ext cx="11430000" cy="365760"/>
          </a:xfrm>
          <a:prstGeom prst="rect">
            <a:avLst/>
          </a:prstGeom>
          <a:noFill/>
        </p:spPr>
        <p:txBody>
          <a:bodyPr wrap="square">
            <a:spAutoFit/>
          </a:bodyPr>
          <a:lstStyle/>
          <a:p>
            <a:pPr algn="l"/>
            <a:r>
              <a:rPr sz="1050" b="0">
                <a:solidFill>
                  <a:srgbClr val="94A3B8"/>
                </a:solidFill>
                <a:latin typeface="Calibri"/>
              </a:rPr>
              <a:t>Note: Values are representative approximations based on the Kaggle dataset distribution. Exact values vary by run due to noise simulation (set.seed(42) ensures reproducibility).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11. Results — K-Means Clustering (Unsupervised)</a:t>
            </a:r>
          </a:p>
        </p:txBody>
      </p:sp>
      <p:sp>
        <p:nvSpPr>
          <p:cNvPr id="4" name="Rectangle 3"/>
          <p:cNvSpPr/>
          <p:nvPr/>
        </p:nvSpPr>
        <p:spPr>
          <a:xfrm>
            <a:off x="274320" y="804672"/>
            <a:ext cx="117957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5669280" cy="2194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78992"/>
            <a:ext cx="5303520" cy="320040"/>
          </a:xfrm>
          <a:prstGeom prst="rect">
            <a:avLst/>
          </a:prstGeom>
          <a:noFill/>
        </p:spPr>
        <p:txBody>
          <a:bodyPr wrap="square">
            <a:spAutoFit/>
          </a:bodyPr>
          <a:lstStyle/>
          <a:p>
            <a:pPr algn="l"/>
            <a:r>
              <a:rPr sz="1400" b="1">
                <a:solidFill>
                  <a:srgbClr val="10B981"/>
                </a:solidFill>
                <a:latin typeface="Calibri"/>
              </a:rPr>
              <a:t>Model Configuration</a:t>
            </a:r>
          </a:p>
        </p:txBody>
      </p:sp>
      <p:sp>
        <p:nvSpPr>
          <p:cNvPr id="7" name="TextBox 6"/>
          <p:cNvSpPr txBox="1"/>
          <p:nvPr/>
        </p:nvSpPr>
        <p:spPr>
          <a:xfrm>
            <a:off x="457200" y="1463040"/>
            <a:ext cx="5394960" cy="292608"/>
          </a:xfrm>
          <a:prstGeom prst="rect">
            <a:avLst/>
          </a:prstGeom>
          <a:noFill/>
        </p:spPr>
        <p:txBody>
          <a:bodyPr wrap="square">
            <a:spAutoFit/>
          </a:bodyPr>
          <a:lstStyle/>
          <a:p>
            <a:pPr algn="l"/>
            <a:r>
              <a:rPr sz="1200" b="0">
                <a:solidFill>
                  <a:srgbClr val="FFFFFF"/>
                </a:solidFill>
                <a:latin typeface="Calibri"/>
              </a:rPr>
              <a:t>• Algorithm:  K-Means  (base R kmeans())</a:t>
            </a:r>
          </a:p>
        </p:txBody>
      </p:sp>
      <p:sp>
        <p:nvSpPr>
          <p:cNvPr id="8" name="TextBox 7"/>
          <p:cNvSpPr txBox="1"/>
          <p:nvPr/>
        </p:nvSpPr>
        <p:spPr>
          <a:xfrm>
            <a:off x="457200" y="1764792"/>
            <a:ext cx="5394960" cy="292608"/>
          </a:xfrm>
          <a:prstGeom prst="rect">
            <a:avLst/>
          </a:prstGeom>
          <a:noFill/>
        </p:spPr>
        <p:txBody>
          <a:bodyPr wrap="square">
            <a:spAutoFit/>
          </a:bodyPr>
          <a:lstStyle/>
          <a:p>
            <a:pPr algn="l"/>
            <a:r>
              <a:rPr sz="1200" b="0">
                <a:solidFill>
                  <a:srgbClr val="FFFFFF"/>
                </a:solidFill>
                <a:latin typeface="Calibri"/>
              </a:rPr>
              <a:t>• k = 4 clusters  (4 spending personas)</a:t>
            </a:r>
          </a:p>
        </p:txBody>
      </p:sp>
      <p:sp>
        <p:nvSpPr>
          <p:cNvPr id="9" name="TextBox 8"/>
          <p:cNvSpPr txBox="1"/>
          <p:nvPr/>
        </p:nvSpPr>
        <p:spPr>
          <a:xfrm>
            <a:off x="457200" y="2066544"/>
            <a:ext cx="5394960" cy="292608"/>
          </a:xfrm>
          <a:prstGeom prst="rect">
            <a:avLst/>
          </a:prstGeom>
          <a:noFill/>
        </p:spPr>
        <p:txBody>
          <a:bodyPr wrap="square">
            <a:spAutoFit/>
          </a:bodyPr>
          <a:lstStyle/>
          <a:p>
            <a:pPr algn="l"/>
            <a:r>
              <a:rPr sz="1200" b="0">
                <a:solidFill>
                  <a:srgbClr val="FFFFFF"/>
                </a:solidFill>
                <a:latin typeface="Calibri"/>
              </a:rPr>
              <a:t>• Features:  12  (11 category shares + savings_rate)</a:t>
            </a:r>
          </a:p>
        </p:txBody>
      </p:sp>
      <p:sp>
        <p:nvSpPr>
          <p:cNvPr id="10" name="TextBox 9"/>
          <p:cNvSpPr txBox="1"/>
          <p:nvPr/>
        </p:nvSpPr>
        <p:spPr>
          <a:xfrm>
            <a:off x="457200" y="2368296"/>
            <a:ext cx="5394960" cy="292608"/>
          </a:xfrm>
          <a:prstGeom prst="rect">
            <a:avLst/>
          </a:prstGeom>
          <a:noFill/>
        </p:spPr>
        <p:txBody>
          <a:bodyPr wrap="square">
            <a:spAutoFit/>
          </a:bodyPr>
          <a:lstStyle/>
          <a:p>
            <a:pPr algn="l"/>
            <a:r>
              <a:rPr sz="1200" b="0">
                <a:solidFill>
                  <a:srgbClr val="FFFFFF"/>
                </a:solidFill>
                <a:latin typeface="Calibri"/>
              </a:rPr>
              <a:t>• Scaling:  Z-score normalization via scale()</a:t>
            </a:r>
          </a:p>
        </p:txBody>
      </p:sp>
      <p:sp>
        <p:nvSpPr>
          <p:cNvPr id="11" name="TextBox 10"/>
          <p:cNvSpPr txBox="1"/>
          <p:nvPr/>
        </p:nvSpPr>
        <p:spPr>
          <a:xfrm>
            <a:off x="457200" y="2670048"/>
            <a:ext cx="5394960" cy="292608"/>
          </a:xfrm>
          <a:prstGeom prst="rect">
            <a:avLst/>
          </a:prstGeom>
          <a:noFill/>
        </p:spPr>
        <p:txBody>
          <a:bodyPr wrap="square">
            <a:spAutoFit/>
          </a:bodyPr>
          <a:lstStyle/>
          <a:p>
            <a:pPr algn="l"/>
            <a:r>
              <a:rPr sz="1200" b="0">
                <a:solidFill>
                  <a:srgbClr val="FFFFFF"/>
                </a:solidFill>
                <a:latin typeface="Calibri"/>
              </a:rPr>
              <a:t>• nstart = 25  (25 random restarts, pick best)</a:t>
            </a:r>
          </a:p>
        </p:txBody>
      </p:sp>
      <p:sp>
        <p:nvSpPr>
          <p:cNvPr id="12" name="TextBox 11"/>
          <p:cNvSpPr txBox="1"/>
          <p:nvPr/>
        </p:nvSpPr>
        <p:spPr>
          <a:xfrm>
            <a:off x="457200" y="2971800"/>
            <a:ext cx="5394960" cy="292608"/>
          </a:xfrm>
          <a:prstGeom prst="rect">
            <a:avLst/>
          </a:prstGeom>
          <a:noFill/>
        </p:spPr>
        <p:txBody>
          <a:bodyPr wrap="square">
            <a:spAutoFit/>
          </a:bodyPr>
          <a:lstStyle/>
          <a:p>
            <a:pPr algn="l"/>
            <a:r>
              <a:rPr sz="1200" b="0">
                <a:solidFill>
                  <a:srgbClr val="FFFFFF"/>
                </a:solidFill>
                <a:latin typeface="Calibri"/>
              </a:rPr>
              <a:t>• iter.max = 100  (convergence iterations)</a:t>
            </a:r>
          </a:p>
        </p:txBody>
      </p:sp>
      <p:sp>
        <p:nvSpPr>
          <p:cNvPr id="13" name="Rectangle 12"/>
          <p:cNvSpPr/>
          <p:nvPr/>
        </p:nvSpPr>
        <p:spPr>
          <a:xfrm>
            <a:off x="6217920" y="1005840"/>
            <a:ext cx="5669280" cy="2194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078992"/>
            <a:ext cx="5303520" cy="320040"/>
          </a:xfrm>
          <a:prstGeom prst="rect">
            <a:avLst/>
          </a:prstGeom>
          <a:noFill/>
        </p:spPr>
        <p:txBody>
          <a:bodyPr wrap="square">
            <a:spAutoFit/>
          </a:bodyPr>
          <a:lstStyle/>
          <a:p>
            <a:pPr algn="l"/>
            <a:r>
              <a:rPr sz="1400" b="1">
                <a:solidFill>
                  <a:srgbClr val="10B981"/>
                </a:solidFill>
                <a:latin typeface="Calibri"/>
              </a:rPr>
              <a:t>Cluster Quality Metrics</a:t>
            </a:r>
          </a:p>
        </p:txBody>
      </p:sp>
      <p:sp>
        <p:nvSpPr>
          <p:cNvPr id="15" name="TextBox 14"/>
          <p:cNvSpPr txBox="1"/>
          <p:nvPr/>
        </p:nvSpPr>
        <p:spPr>
          <a:xfrm>
            <a:off x="6400800" y="1463040"/>
            <a:ext cx="5303520" cy="292608"/>
          </a:xfrm>
          <a:prstGeom prst="rect">
            <a:avLst/>
          </a:prstGeom>
          <a:noFill/>
        </p:spPr>
        <p:txBody>
          <a:bodyPr wrap="square">
            <a:spAutoFit/>
          </a:bodyPr>
          <a:lstStyle/>
          <a:p>
            <a:pPr algn="l"/>
            <a:r>
              <a:rPr sz="1200" b="0">
                <a:solidFill>
                  <a:srgbClr val="FFFFFF"/>
                </a:solidFill>
                <a:latin typeface="Calibri"/>
              </a:rPr>
              <a:t>Between-SS / Total-SS ratio:</a:t>
            </a:r>
          </a:p>
        </p:txBody>
      </p:sp>
      <p:sp>
        <p:nvSpPr>
          <p:cNvPr id="16" name="TextBox 15"/>
          <p:cNvSpPr txBox="1"/>
          <p:nvPr/>
        </p:nvSpPr>
        <p:spPr>
          <a:xfrm>
            <a:off x="6400800" y="1755648"/>
            <a:ext cx="5303520" cy="292608"/>
          </a:xfrm>
          <a:prstGeom prst="rect">
            <a:avLst/>
          </a:prstGeom>
          <a:noFill/>
        </p:spPr>
        <p:txBody>
          <a:bodyPr wrap="square">
            <a:spAutoFit/>
          </a:bodyPr>
          <a:lstStyle/>
          <a:p>
            <a:pPr algn="l"/>
            <a:r>
              <a:rPr sz="1100" b="0">
                <a:solidFill>
                  <a:srgbClr val="94A3B8"/>
                </a:solidFill>
                <a:latin typeface="Calibri"/>
              </a:rPr>
              <a:t>(Printed in console when you run train_clustering.R)</a:t>
            </a:r>
          </a:p>
        </p:txBody>
      </p:sp>
      <p:sp>
        <p:nvSpPr>
          <p:cNvPr id="17" name="TextBox 16"/>
          <p:cNvSpPr txBox="1"/>
          <p:nvPr/>
        </p:nvSpPr>
        <p:spPr>
          <a:xfrm>
            <a:off x="6400800" y="2103120"/>
            <a:ext cx="5303520" cy="502920"/>
          </a:xfrm>
          <a:prstGeom prst="rect">
            <a:avLst/>
          </a:prstGeom>
          <a:noFill/>
        </p:spPr>
        <p:txBody>
          <a:bodyPr wrap="square">
            <a:spAutoFit/>
          </a:bodyPr>
          <a:lstStyle/>
          <a:p>
            <a:pPr algn="l"/>
            <a:r>
              <a:rPr sz="1200" b="0">
                <a:solidFill>
                  <a:srgbClr val="FFFFFF"/>
                </a:solidFill>
                <a:latin typeface="Calibri"/>
              </a:rPr>
              <a:t>Higher ratio = better cluster separation.
Above 50% is considered good clustering.</a:t>
            </a:r>
          </a:p>
        </p:txBody>
      </p:sp>
      <p:sp>
        <p:nvSpPr>
          <p:cNvPr id="18" name="TextBox 17"/>
          <p:cNvSpPr txBox="1"/>
          <p:nvPr/>
        </p:nvSpPr>
        <p:spPr>
          <a:xfrm>
            <a:off x="6400800" y="2651760"/>
            <a:ext cx="5303520" cy="411480"/>
          </a:xfrm>
          <a:prstGeom prst="rect">
            <a:avLst/>
          </a:prstGeom>
          <a:noFill/>
        </p:spPr>
        <p:txBody>
          <a:bodyPr wrap="square">
            <a:spAutoFit/>
          </a:bodyPr>
          <a:lstStyle/>
          <a:p>
            <a:pPr algn="l"/>
            <a:r>
              <a:rPr sz="1150" b="0">
                <a:solidFill>
                  <a:srgbClr val="C7D2FE"/>
                </a:solidFill>
                <a:latin typeface="Calibri"/>
              </a:rPr>
              <a:t>Output:  Cluster centroid bar chart saved to
outputs/cluster_centroids.png</a:t>
            </a:r>
          </a:p>
        </p:txBody>
      </p:sp>
      <p:sp>
        <p:nvSpPr>
          <p:cNvPr id="19" name="Rectangle 18"/>
          <p:cNvSpPr/>
          <p:nvPr/>
        </p:nvSpPr>
        <p:spPr>
          <a:xfrm>
            <a:off x="274320" y="3383280"/>
            <a:ext cx="2834640" cy="31546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383280"/>
            <a:ext cx="283464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3520440"/>
            <a:ext cx="2651760" cy="274320"/>
          </a:xfrm>
          <a:prstGeom prst="rect">
            <a:avLst/>
          </a:prstGeom>
          <a:noFill/>
        </p:spPr>
        <p:txBody>
          <a:bodyPr wrap="square">
            <a:spAutoFit/>
          </a:bodyPr>
          <a:lstStyle/>
          <a:p>
            <a:pPr algn="l"/>
            <a:r>
              <a:rPr sz="1100" b="1">
                <a:solidFill>
                  <a:srgbClr val="94A3B8"/>
                </a:solidFill>
                <a:latin typeface="Calibri"/>
              </a:rPr>
              <a:t>Cluster 1</a:t>
            </a:r>
          </a:p>
        </p:txBody>
      </p:sp>
      <p:sp>
        <p:nvSpPr>
          <p:cNvPr id="22" name="TextBox 21"/>
          <p:cNvSpPr txBox="1"/>
          <p:nvPr/>
        </p:nvSpPr>
        <p:spPr>
          <a:xfrm>
            <a:off x="384048" y="3840480"/>
            <a:ext cx="2651760" cy="457200"/>
          </a:xfrm>
          <a:prstGeom prst="rect">
            <a:avLst/>
          </a:prstGeom>
          <a:noFill/>
        </p:spPr>
        <p:txBody>
          <a:bodyPr wrap="square">
            <a:spAutoFit/>
          </a:bodyPr>
          <a:lstStyle/>
          <a:p>
            <a:pPr algn="l"/>
            <a:r>
              <a:rPr sz="1600" b="1">
                <a:solidFill>
                  <a:srgbClr val="10B981"/>
                </a:solidFill>
                <a:latin typeface="Calibri"/>
              </a:rPr>
              <a:t>High Saver</a:t>
            </a:r>
          </a:p>
        </p:txBody>
      </p:sp>
      <p:sp>
        <p:nvSpPr>
          <p:cNvPr id="23" name="TextBox 22"/>
          <p:cNvSpPr txBox="1"/>
          <p:nvPr/>
        </p:nvSpPr>
        <p:spPr>
          <a:xfrm>
            <a:off x="384048" y="4389120"/>
            <a:ext cx="2651760" cy="2011680"/>
          </a:xfrm>
          <a:prstGeom prst="rect">
            <a:avLst/>
          </a:prstGeom>
          <a:noFill/>
        </p:spPr>
        <p:txBody>
          <a:bodyPr wrap="square">
            <a:spAutoFit/>
          </a:bodyPr>
          <a:lstStyle/>
          <a:p>
            <a:pPr algn="l"/>
            <a:r>
              <a:rPr sz="1150" b="0">
                <a:solidFill>
                  <a:srgbClr val="FFFFFF"/>
                </a:solidFill>
                <a:latin typeface="Calibri"/>
              </a:rPr>
              <a:t>High savings_rate
Low entertainment share
Low rent burden
Financially disciplined</a:t>
            </a:r>
          </a:p>
        </p:txBody>
      </p:sp>
      <p:sp>
        <p:nvSpPr>
          <p:cNvPr id="24" name="Rectangle 23"/>
          <p:cNvSpPr/>
          <p:nvPr/>
        </p:nvSpPr>
        <p:spPr>
          <a:xfrm>
            <a:off x="3246120" y="3383280"/>
            <a:ext cx="2834640" cy="31546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46120" y="3383280"/>
            <a:ext cx="283464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5848" y="3520440"/>
            <a:ext cx="2651760" cy="274320"/>
          </a:xfrm>
          <a:prstGeom prst="rect">
            <a:avLst/>
          </a:prstGeom>
          <a:noFill/>
        </p:spPr>
        <p:txBody>
          <a:bodyPr wrap="square">
            <a:spAutoFit/>
          </a:bodyPr>
          <a:lstStyle/>
          <a:p>
            <a:pPr algn="l"/>
            <a:r>
              <a:rPr sz="1100" b="1">
                <a:solidFill>
                  <a:srgbClr val="94A3B8"/>
                </a:solidFill>
                <a:latin typeface="Calibri"/>
              </a:rPr>
              <a:t>Cluster 2</a:t>
            </a:r>
          </a:p>
        </p:txBody>
      </p:sp>
      <p:sp>
        <p:nvSpPr>
          <p:cNvPr id="27" name="TextBox 26"/>
          <p:cNvSpPr txBox="1"/>
          <p:nvPr/>
        </p:nvSpPr>
        <p:spPr>
          <a:xfrm>
            <a:off x="3355848" y="3840480"/>
            <a:ext cx="2651760" cy="457200"/>
          </a:xfrm>
          <a:prstGeom prst="rect">
            <a:avLst/>
          </a:prstGeom>
          <a:noFill/>
        </p:spPr>
        <p:txBody>
          <a:bodyPr wrap="square">
            <a:spAutoFit/>
          </a:bodyPr>
          <a:lstStyle/>
          <a:p>
            <a:pPr algn="l"/>
            <a:r>
              <a:rPr sz="1600" b="1">
                <a:solidFill>
                  <a:srgbClr val="DC2626"/>
                </a:solidFill>
                <a:latin typeface="Calibri"/>
              </a:rPr>
              <a:t>Rent Burdened</a:t>
            </a:r>
          </a:p>
        </p:txBody>
      </p:sp>
      <p:sp>
        <p:nvSpPr>
          <p:cNvPr id="28" name="TextBox 27"/>
          <p:cNvSpPr txBox="1"/>
          <p:nvPr/>
        </p:nvSpPr>
        <p:spPr>
          <a:xfrm>
            <a:off x="3355848" y="4389120"/>
            <a:ext cx="2651760" cy="2011680"/>
          </a:xfrm>
          <a:prstGeom prst="rect">
            <a:avLst/>
          </a:prstGeom>
          <a:noFill/>
        </p:spPr>
        <p:txBody>
          <a:bodyPr wrap="square">
            <a:spAutoFit/>
          </a:bodyPr>
          <a:lstStyle/>
          <a:p>
            <a:pPr algn="l"/>
            <a:r>
              <a:rPr sz="1150" b="0">
                <a:solidFill>
                  <a:srgbClr val="FFFFFF"/>
                </a:solidFill>
                <a:latin typeface="Calibri"/>
              </a:rPr>
              <a:t>rent_share &gt; 40%
Low savings rate
Tight monthly budget
At risk of overspending</a:t>
            </a:r>
          </a:p>
        </p:txBody>
      </p:sp>
      <p:sp>
        <p:nvSpPr>
          <p:cNvPr id="29" name="Rectangle 28"/>
          <p:cNvSpPr/>
          <p:nvPr/>
        </p:nvSpPr>
        <p:spPr>
          <a:xfrm>
            <a:off x="6217920" y="3383280"/>
            <a:ext cx="2834640" cy="31546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3383280"/>
            <a:ext cx="283464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3520440"/>
            <a:ext cx="2651760" cy="274320"/>
          </a:xfrm>
          <a:prstGeom prst="rect">
            <a:avLst/>
          </a:prstGeom>
          <a:noFill/>
        </p:spPr>
        <p:txBody>
          <a:bodyPr wrap="square">
            <a:spAutoFit/>
          </a:bodyPr>
          <a:lstStyle/>
          <a:p>
            <a:pPr algn="l"/>
            <a:r>
              <a:rPr sz="1100" b="1">
                <a:solidFill>
                  <a:srgbClr val="94A3B8"/>
                </a:solidFill>
                <a:latin typeface="Calibri"/>
              </a:rPr>
              <a:t>Cluster 3</a:t>
            </a:r>
          </a:p>
        </p:txBody>
      </p:sp>
      <p:sp>
        <p:nvSpPr>
          <p:cNvPr id="32" name="TextBox 31"/>
          <p:cNvSpPr txBox="1"/>
          <p:nvPr/>
        </p:nvSpPr>
        <p:spPr>
          <a:xfrm>
            <a:off x="6327648" y="3840480"/>
            <a:ext cx="2651760" cy="457200"/>
          </a:xfrm>
          <a:prstGeom prst="rect">
            <a:avLst/>
          </a:prstGeom>
          <a:noFill/>
        </p:spPr>
        <p:txBody>
          <a:bodyPr wrap="square">
            <a:spAutoFit/>
          </a:bodyPr>
          <a:lstStyle/>
          <a:p>
            <a:pPr algn="l"/>
            <a:r>
              <a:rPr sz="1600" b="1">
                <a:solidFill>
                  <a:srgbClr val="F97316"/>
                </a:solidFill>
                <a:latin typeface="Calibri"/>
              </a:rPr>
              <a:t>Entertainment Heavy</a:t>
            </a:r>
          </a:p>
        </p:txBody>
      </p:sp>
      <p:sp>
        <p:nvSpPr>
          <p:cNvPr id="33" name="TextBox 32"/>
          <p:cNvSpPr txBox="1"/>
          <p:nvPr/>
        </p:nvSpPr>
        <p:spPr>
          <a:xfrm>
            <a:off x="6327648" y="4389120"/>
            <a:ext cx="2651760" cy="2011680"/>
          </a:xfrm>
          <a:prstGeom prst="rect">
            <a:avLst/>
          </a:prstGeom>
          <a:noFill/>
        </p:spPr>
        <p:txBody>
          <a:bodyPr wrap="square">
            <a:spAutoFit/>
          </a:bodyPr>
          <a:lstStyle/>
          <a:p>
            <a:pPr algn="l"/>
            <a:r>
              <a:rPr sz="1150" b="0">
                <a:solidFill>
                  <a:srgbClr val="FFFFFF"/>
                </a:solidFill>
                <a:latin typeface="Calibri"/>
              </a:rPr>
              <a:t>High eating_out + entertainment
Moderate to low savings
Discretionary-heavy lifestyle
Responds to budget alerts</a:t>
            </a:r>
          </a:p>
        </p:txBody>
      </p:sp>
      <p:sp>
        <p:nvSpPr>
          <p:cNvPr id="34" name="Rectangle 33"/>
          <p:cNvSpPr/>
          <p:nvPr/>
        </p:nvSpPr>
        <p:spPr>
          <a:xfrm>
            <a:off x="9189720" y="3383280"/>
            <a:ext cx="2834640" cy="31546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89720" y="3383280"/>
            <a:ext cx="2834640"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99448" y="3520440"/>
            <a:ext cx="2651760" cy="274320"/>
          </a:xfrm>
          <a:prstGeom prst="rect">
            <a:avLst/>
          </a:prstGeom>
          <a:noFill/>
        </p:spPr>
        <p:txBody>
          <a:bodyPr wrap="square">
            <a:spAutoFit/>
          </a:bodyPr>
          <a:lstStyle/>
          <a:p>
            <a:pPr algn="l"/>
            <a:r>
              <a:rPr sz="1100" b="1">
                <a:solidFill>
                  <a:srgbClr val="94A3B8"/>
                </a:solidFill>
                <a:latin typeface="Calibri"/>
              </a:rPr>
              <a:t>Cluster 4</a:t>
            </a:r>
          </a:p>
        </p:txBody>
      </p:sp>
      <p:sp>
        <p:nvSpPr>
          <p:cNvPr id="37" name="TextBox 36"/>
          <p:cNvSpPr txBox="1"/>
          <p:nvPr/>
        </p:nvSpPr>
        <p:spPr>
          <a:xfrm>
            <a:off x="9299448" y="3840480"/>
            <a:ext cx="2651760" cy="457200"/>
          </a:xfrm>
          <a:prstGeom prst="rect">
            <a:avLst/>
          </a:prstGeom>
          <a:noFill/>
        </p:spPr>
        <p:txBody>
          <a:bodyPr wrap="square">
            <a:spAutoFit/>
          </a:bodyPr>
          <a:lstStyle/>
          <a:p>
            <a:pPr algn="l"/>
            <a:r>
              <a:rPr sz="1600" b="1">
                <a:solidFill>
                  <a:srgbClr val="4F46E5"/>
                </a:solidFill>
                <a:latin typeface="Calibri"/>
              </a:rPr>
              <a:t>Balanced Spender</a:t>
            </a:r>
          </a:p>
        </p:txBody>
      </p:sp>
      <p:sp>
        <p:nvSpPr>
          <p:cNvPr id="38" name="TextBox 37"/>
          <p:cNvSpPr txBox="1"/>
          <p:nvPr/>
        </p:nvSpPr>
        <p:spPr>
          <a:xfrm>
            <a:off x="9299448" y="4389120"/>
            <a:ext cx="2651760" cy="2011680"/>
          </a:xfrm>
          <a:prstGeom prst="rect">
            <a:avLst/>
          </a:prstGeom>
          <a:noFill/>
        </p:spPr>
        <p:txBody>
          <a:bodyPr wrap="square">
            <a:spAutoFit/>
          </a:bodyPr>
          <a:lstStyle/>
          <a:p>
            <a:pPr algn="l"/>
            <a:r>
              <a:rPr sz="1150" b="0">
                <a:solidFill>
                  <a:srgbClr val="FFFFFF"/>
                </a:solidFill>
                <a:latin typeface="Calibri"/>
              </a:rPr>
              <a:t>Evenly spread categories
Average savings rate
No single dominant cost
Represents the baseline user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12. Results — Random Forest Savings Prediction</a:t>
            </a:r>
          </a:p>
        </p:txBody>
      </p:sp>
      <p:sp>
        <p:nvSpPr>
          <p:cNvPr id="4" name="Rectangle 3"/>
          <p:cNvSpPr/>
          <p:nvPr/>
        </p:nvSpPr>
        <p:spPr>
          <a:xfrm>
            <a:off x="274320" y="804672"/>
            <a:ext cx="1179576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5029200" cy="55778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78992"/>
            <a:ext cx="4754880" cy="365760"/>
          </a:xfrm>
          <a:prstGeom prst="rect">
            <a:avLst/>
          </a:prstGeom>
          <a:noFill/>
        </p:spPr>
        <p:txBody>
          <a:bodyPr wrap="square">
            <a:spAutoFit/>
          </a:bodyPr>
          <a:lstStyle/>
          <a:p>
            <a:pPr algn="l"/>
            <a:r>
              <a:rPr sz="1400" b="1">
                <a:solidFill>
                  <a:srgbClr val="7C3AED"/>
                </a:solidFill>
                <a:latin typeface="Calibri"/>
              </a:rPr>
              <a:t>16 Input Features (Predictors)</a:t>
            </a:r>
          </a:p>
        </p:txBody>
      </p:sp>
      <p:sp>
        <p:nvSpPr>
          <p:cNvPr id="7" name="TextBox 6"/>
          <p:cNvSpPr txBox="1"/>
          <p:nvPr/>
        </p:nvSpPr>
        <p:spPr>
          <a:xfrm>
            <a:off x="457200" y="1508760"/>
            <a:ext cx="4754880" cy="274320"/>
          </a:xfrm>
          <a:prstGeom prst="rect">
            <a:avLst/>
          </a:prstGeom>
          <a:noFill/>
        </p:spPr>
        <p:txBody>
          <a:bodyPr wrap="square">
            <a:spAutoFit/>
          </a:bodyPr>
          <a:lstStyle/>
          <a:p>
            <a:pPr algn="l"/>
            <a:r>
              <a:rPr sz="1150" b="0">
                <a:solidFill>
                  <a:srgbClr val="FFFFFF"/>
                </a:solidFill>
                <a:latin typeface="Calibri"/>
              </a:rPr>
              <a:t> 1. Income</a:t>
            </a:r>
          </a:p>
        </p:txBody>
      </p:sp>
      <p:sp>
        <p:nvSpPr>
          <p:cNvPr id="8" name="TextBox 7"/>
          <p:cNvSpPr txBox="1"/>
          <p:nvPr/>
        </p:nvSpPr>
        <p:spPr>
          <a:xfrm>
            <a:off x="457200" y="1792224"/>
            <a:ext cx="4754880" cy="274320"/>
          </a:xfrm>
          <a:prstGeom prst="rect">
            <a:avLst/>
          </a:prstGeom>
          <a:noFill/>
        </p:spPr>
        <p:txBody>
          <a:bodyPr wrap="square">
            <a:spAutoFit/>
          </a:bodyPr>
          <a:lstStyle/>
          <a:p>
            <a:pPr algn="l"/>
            <a:r>
              <a:rPr sz="1150" b="0">
                <a:solidFill>
                  <a:srgbClr val="FFFFFF"/>
                </a:solidFill>
                <a:latin typeface="Calibri"/>
              </a:rPr>
              <a:t> 2. total_expense</a:t>
            </a:r>
          </a:p>
        </p:txBody>
      </p:sp>
      <p:sp>
        <p:nvSpPr>
          <p:cNvPr id="9" name="TextBox 8"/>
          <p:cNvSpPr txBox="1"/>
          <p:nvPr/>
        </p:nvSpPr>
        <p:spPr>
          <a:xfrm>
            <a:off x="457200" y="2075688"/>
            <a:ext cx="4754880" cy="274320"/>
          </a:xfrm>
          <a:prstGeom prst="rect">
            <a:avLst/>
          </a:prstGeom>
          <a:noFill/>
        </p:spPr>
        <p:txBody>
          <a:bodyPr wrap="square">
            <a:spAutoFit/>
          </a:bodyPr>
          <a:lstStyle/>
          <a:p>
            <a:pPr algn="l"/>
            <a:r>
              <a:rPr sz="1150" b="0">
                <a:solidFill>
                  <a:srgbClr val="FFFFFF"/>
                </a:solidFill>
                <a:latin typeface="Calibri"/>
              </a:rPr>
              <a:t> 3. rent_share</a:t>
            </a:r>
          </a:p>
        </p:txBody>
      </p:sp>
      <p:sp>
        <p:nvSpPr>
          <p:cNvPr id="10" name="TextBox 9"/>
          <p:cNvSpPr txBox="1"/>
          <p:nvPr/>
        </p:nvSpPr>
        <p:spPr>
          <a:xfrm>
            <a:off x="457200" y="2359152"/>
            <a:ext cx="4754880" cy="274320"/>
          </a:xfrm>
          <a:prstGeom prst="rect">
            <a:avLst/>
          </a:prstGeom>
          <a:noFill/>
        </p:spPr>
        <p:txBody>
          <a:bodyPr wrap="square">
            <a:spAutoFit/>
          </a:bodyPr>
          <a:lstStyle/>
          <a:p>
            <a:pPr algn="l"/>
            <a:r>
              <a:rPr sz="1150" b="0">
                <a:solidFill>
                  <a:srgbClr val="FFFFFF"/>
                </a:solidFill>
                <a:latin typeface="Calibri"/>
              </a:rPr>
              <a:t> 4. loan_repayment_share</a:t>
            </a:r>
          </a:p>
        </p:txBody>
      </p:sp>
      <p:sp>
        <p:nvSpPr>
          <p:cNvPr id="11" name="TextBox 10"/>
          <p:cNvSpPr txBox="1"/>
          <p:nvPr/>
        </p:nvSpPr>
        <p:spPr>
          <a:xfrm>
            <a:off x="457200" y="2642616"/>
            <a:ext cx="4754880" cy="274320"/>
          </a:xfrm>
          <a:prstGeom prst="rect">
            <a:avLst/>
          </a:prstGeom>
          <a:noFill/>
        </p:spPr>
        <p:txBody>
          <a:bodyPr wrap="square">
            <a:spAutoFit/>
          </a:bodyPr>
          <a:lstStyle/>
          <a:p>
            <a:pPr algn="l"/>
            <a:r>
              <a:rPr sz="1150" b="0">
                <a:solidFill>
                  <a:srgbClr val="FFFFFF"/>
                </a:solidFill>
                <a:latin typeface="Calibri"/>
              </a:rPr>
              <a:t> 5. insurance_share</a:t>
            </a:r>
          </a:p>
        </p:txBody>
      </p:sp>
      <p:sp>
        <p:nvSpPr>
          <p:cNvPr id="12" name="TextBox 11"/>
          <p:cNvSpPr txBox="1"/>
          <p:nvPr/>
        </p:nvSpPr>
        <p:spPr>
          <a:xfrm>
            <a:off x="457200" y="2926080"/>
            <a:ext cx="4754880" cy="274320"/>
          </a:xfrm>
          <a:prstGeom prst="rect">
            <a:avLst/>
          </a:prstGeom>
          <a:noFill/>
        </p:spPr>
        <p:txBody>
          <a:bodyPr wrap="square">
            <a:spAutoFit/>
          </a:bodyPr>
          <a:lstStyle/>
          <a:p>
            <a:pPr algn="l"/>
            <a:r>
              <a:rPr sz="1150" b="0">
                <a:solidFill>
                  <a:srgbClr val="FFFFFF"/>
                </a:solidFill>
                <a:latin typeface="Calibri"/>
              </a:rPr>
              <a:t> 6. groceries_share</a:t>
            </a:r>
          </a:p>
        </p:txBody>
      </p:sp>
      <p:sp>
        <p:nvSpPr>
          <p:cNvPr id="13" name="TextBox 12"/>
          <p:cNvSpPr txBox="1"/>
          <p:nvPr/>
        </p:nvSpPr>
        <p:spPr>
          <a:xfrm>
            <a:off x="457200" y="3209544"/>
            <a:ext cx="4754880" cy="274320"/>
          </a:xfrm>
          <a:prstGeom prst="rect">
            <a:avLst/>
          </a:prstGeom>
          <a:noFill/>
        </p:spPr>
        <p:txBody>
          <a:bodyPr wrap="square">
            <a:spAutoFit/>
          </a:bodyPr>
          <a:lstStyle/>
          <a:p>
            <a:pPr algn="l"/>
            <a:r>
              <a:rPr sz="1150" b="0">
                <a:solidFill>
                  <a:srgbClr val="FFFFFF"/>
                </a:solidFill>
                <a:latin typeface="Calibri"/>
              </a:rPr>
              <a:t> 7. transport_share</a:t>
            </a:r>
          </a:p>
        </p:txBody>
      </p:sp>
      <p:sp>
        <p:nvSpPr>
          <p:cNvPr id="14" name="TextBox 13"/>
          <p:cNvSpPr txBox="1"/>
          <p:nvPr/>
        </p:nvSpPr>
        <p:spPr>
          <a:xfrm>
            <a:off x="457200" y="3493008"/>
            <a:ext cx="4754880" cy="274320"/>
          </a:xfrm>
          <a:prstGeom prst="rect">
            <a:avLst/>
          </a:prstGeom>
          <a:noFill/>
        </p:spPr>
        <p:txBody>
          <a:bodyPr wrap="square">
            <a:spAutoFit/>
          </a:bodyPr>
          <a:lstStyle/>
          <a:p>
            <a:pPr algn="l"/>
            <a:r>
              <a:rPr sz="1150" b="0">
                <a:solidFill>
                  <a:srgbClr val="FFFFFF"/>
                </a:solidFill>
                <a:latin typeface="Calibri"/>
              </a:rPr>
              <a:t> 8. eating_out_share</a:t>
            </a:r>
          </a:p>
        </p:txBody>
      </p:sp>
      <p:sp>
        <p:nvSpPr>
          <p:cNvPr id="15" name="TextBox 14"/>
          <p:cNvSpPr txBox="1"/>
          <p:nvPr/>
        </p:nvSpPr>
        <p:spPr>
          <a:xfrm>
            <a:off x="457200" y="3776472"/>
            <a:ext cx="4754880" cy="274320"/>
          </a:xfrm>
          <a:prstGeom prst="rect">
            <a:avLst/>
          </a:prstGeom>
          <a:noFill/>
        </p:spPr>
        <p:txBody>
          <a:bodyPr wrap="square">
            <a:spAutoFit/>
          </a:bodyPr>
          <a:lstStyle/>
          <a:p>
            <a:pPr algn="l"/>
            <a:r>
              <a:rPr sz="1150" b="0">
                <a:solidFill>
                  <a:srgbClr val="FFFFFF"/>
                </a:solidFill>
                <a:latin typeface="Calibri"/>
              </a:rPr>
              <a:t> 9. entertainment_share</a:t>
            </a:r>
          </a:p>
        </p:txBody>
      </p:sp>
      <p:sp>
        <p:nvSpPr>
          <p:cNvPr id="16" name="TextBox 15"/>
          <p:cNvSpPr txBox="1"/>
          <p:nvPr/>
        </p:nvSpPr>
        <p:spPr>
          <a:xfrm>
            <a:off x="457200" y="4059935"/>
            <a:ext cx="4754880" cy="274320"/>
          </a:xfrm>
          <a:prstGeom prst="rect">
            <a:avLst/>
          </a:prstGeom>
          <a:noFill/>
        </p:spPr>
        <p:txBody>
          <a:bodyPr wrap="square">
            <a:spAutoFit/>
          </a:bodyPr>
          <a:lstStyle/>
          <a:p>
            <a:pPr algn="l"/>
            <a:r>
              <a:rPr sz="1150" b="0">
                <a:solidFill>
                  <a:srgbClr val="FFFFFF"/>
                </a:solidFill>
                <a:latin typeface="Calibri"/>
              </a:rPr>
              <a:t>10. utilities_share</a:t>
            </a:r>
          </a:p>
        </p:txBody>
      </p:sp>
      <p:sp>
        <p:nvSpPr>
          <p:cNvPr id="17" name="TextBox 16"/>
          <p:cNvSpPr txBox="1"/>
          <p:nvPr/>
        </p:nvSpPr>
        <p:spPr>
          <a:xfrm>
            <a:off x="457200" y="4343399"/>
            <a:ext cx="4754880" cy="274320"/>
          </a:xfrm>
          <a:prstGeom prst="rect">
            <a:avLst/>
          </a:prstGeom>
          <a:noFill/>
        </p:spPr>
        <p:txBody>
          <a:bodyPr wrap="square">
            <a:spAutoFit/>
          </a:bodyPr>
          <a:lstStyle/>
          <a:p>
            <a:pPr algn="l"/>
            <a:r>
              <a:rPr sz="1150" b="0">
                <a:solidFill>
                  <a:srgbClr val="FFFFFF"/>
                </a:solidFill>
                <a:latin typeface="Calibri"/>
              </a:rPr>
              <a:t>11. healthcare_share</a:t>
            </a:r>
          </a:p>
        </p:txBody>
      </p:sp>
      <p:sp>
        <p:nvSpPr>
          <p:cNvPr id="18" name="TextBox 17"/>
          <p:cNvSpPr txBox="1"/>
          <p:nvPr/>
        </p:nvSpPr>
        <p:spPr>
          <a:xfrm>
            <a:off x="457200" y="4626863"/>
            <a:ext cx="4754880" cy="274320"/>
          </a:xfrm>
          <a:prstGeom prst="rect">
            <a:avLst/>
          </a:prstGeom>
          <a:noFill/>
        </p:spPr>
        <p:txBody>
          <a:bodyPr wrap="square">
            <a:spAutoFit/>
          </a:bodyPr>
          <a:lstStyle/>
          <a:p>
            <a:pPr algn="l"/>
            <a:r>
              <a:rPr sz="1150" b="0">
                <a:solidFill>
                  <a:srgbClr val="FFFFFF"/>
                </a:solidFill>
                <a:latin typeface="Calibri"/>
              </a:rPr>
              <a:t>12. education_share</a:t>
            </a:r>
          </a:p>
        </p:txBody>
      </p:sp>
      <p:sp>
        <p:nvSpPr>
          <p:cNvPr id="19" name="TextBox 18"/>
          <p:cNvSpPr txBox="1"/>
          <p:nvPr/>
        </p:nvSpPr>
        <p:spPr>
          <a:xfrm>
            <a:off x="457200" y="4910327"/>
            <a:ext cx="4754880" cy="274320"/>
          </a:xfrm>
          <a:prstGeom prst="rect">
            <a:avLst/>
          </a:prstGeom>
          <a:noFill/>
        </p:spPr>
        <p:txBody>
          <a:bodyPr wrap="square">
            <a:spAutoFit/>
          </a:bodyPr>
          <a:lstStyle/>
          <a:p>
            <a:pPr algn="l"/>
            <a:r>
              <a:rPr sz="1150" b="0">
                <a:solidFill>
                  <a:srgbClr val="FFFFFF"/>
                </a:solidFill>
                <a:latin typeface="Calibri"/>
              </a:rPr>
              <a:t>13. miscellaneous_share</a:t>
            </a:r>
          </a:p>
        </p:txBody>
      </p:sp>
      <p:sp>
        <p:nvSpPr>
          <p:cNvPr id="20" name="TextBox 19"/>
          <p:cNvSpPr txBox="1"/>
          <p:nvPr/>
        </p:nvSpPr>
        <p:spPr>
          <a:xfrm>
            <a:off x="457200" y="5193791"/>
            <a:ext cx="4754880" cy="274320"/>
          </a:xfrm>
          <a:prstGeom prst="rect">
            <a:avLst/>
          </a:prstGeom>
          <a:noFill/>
        </p:spPr>
        <p:txBody>
          <a:bodyPr wrap="square">
            <a:spAutoFit/>
          </a:bodyPr>
          <a:lstStyle/>
          <a:p>
            <a:pPr algn="l"/>
            <a:r>
              <a:rPr sz="1150" b="0">
                <a:solidFill>
                  <a:srgbClr val="FFFFFF"/>
                </a:solidFill>
                <a:latin typeface="Calibri"/>
              </a:rPr>
              <a:t>14. savings_rate</a:t>
            </a:r>
          </a:p>
        </p:txBody>
      </p:sp>
      <p:sp>
        <p:nvSpPr>
          <p:cNvPr id="21" name="TextBox 20"/>
          <p:cNvSpPr txBox="1"/>
          <p:nvPr/>
        </p:nvSpPr>
        <p:spPr>
          <a:xfrm>
            <a:off x="457200" y="5477255"/>
            <a:ext cx="4754880" cy="274320"/>
          </a:xfrm>
          <a:prstGeom prst="rect">
            <a:avLst/>
          </a:prstGeom>
          <a:noFill/>
        </p:spPr>
        <p:txBody>
          <a:bodyPr wrap="square">
            <a:spAutoFit/>
          </a:bodyPr>
          <a:lstStyle/>
          <a:p>
            <a:pPr algn="l"/>
            <a:r>
              <a:rPr sz="1150" b="0">
                <a:solidFill>
                  <a:srgbClr val="FFFFFF"/>
                </a:solidFill>
                <a:latin typeface="Calibri"/>
              </a:rPr>
              <a:t>15. expense_growth</a:t>
            </a:r>
          </a:p>
        </p:txBody>
      </p:sp>
      <p:sp>
        <p:nvSpPr>
          <p:cNvPr id="22" name="TextBox 21"/>
          <p:cNvSpPr txBox="1"/>
          <p:nvPr/>
        </p:nvSpPr>
        <p:spPr>
          <a:xfrm>
            <a:off x="457200" y="5760719"/>
            <a:ext cx="4754880" cy="274320"/>
          </a:xfrm>
          <a:prstGeom prst="rect">
            <a:avLst/>
          </a:prstGeom>
          <a:noFill/>
        </p:spPr>
        <p:txBody>
          <a:bodyPr wrap="square">
            <a:spAutoFit/>
          </a:bodyPr>
          <a:lstStyle/>
          <a:p>
            <a:pPr algn="l"/>
            <a:r>
              <a:rPr sz="1150" b="0">
                <a:solidFill>
                  <a:srgbClr val="FFFFFF"/>
                </a:solidFill>
                <a:latin typeface="Calibri"/>
              </a:rPr>
              <a:t>16. avg_savings_last_3m</a:t>
            </a:r>
          </a:p>
        </p:txBody>
      </p:sp>
      <p:sp>
        <p:nvSpPr>
          <p:cNvPr id="23" name="TextBox 22"/>
          <p:cNvSpPr txBox="1"/>
          <p:nvPr/>
        </p:nvSpPr>
        <p:spPr>
          <a:xfrm>
            <a:off x="457200" y="6181343"/>
            <a:ext cx="4754880" cy="320040"/>
          </a:xfrm>
          <a:prstGeom prst="rect">
            <a:avLst/>
          </a:prstGeom>
          <a:noFill/>
        </p:spPr>
        <p:txBody>
          <a:bodyPr wrap="square">
            <a:spAutoFit/>
          </a:bodyPr>
          <a:lstStyle/>
          <a:p>
            <a:pPr algn="l"/>
            <a:r>
              <a:rPr sz="1200" b="1">
                <a:solidFill>
                  <a:srgbClr val="F97316"/>
                </a:solidFill>
                <a:latin typeface="Calibri"/>
              </a:rPr>
              <a:t>Target:  next_month_savings</a:t>
            </a:r>
          </a:p>
        </p:txBody>
      </p:sp>
      <p:sp>
        <p:nvSpPr>
          <p:cNvPr id="24" name="Rectangle 23"/>
          <p:cNvSpPr/>
          <p:nvPr/>
        </p:nvSpPr>
        <p:spPr>
          <a:xfrm>
            <a:off x="5577840" y="1005840"/>
            <a:ext cx="6309360" cy="21031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0" y="1078992"/>
            <a:ext cx="5943600" cy="320040"/>
          </a:xfrm>
          <a:prstGeom prst="rect">
            <a:avLst/>
          </a:prstGeom>
          <a:noFill/>
        </p:spPr>
        <p:txBody>
          <a:bodyPr wrap="square">
            <a:spAutoFit/>
          </a:bodyPr>
          <a:lstStyle/>
          <a:p>
            <a:pPr algn="l"/>
            <a:r>
              <a:rPr sz="1400" b="1">
                <a:solidFill>
                  <a:srgbClr val="7C3AED"/>
                </a:solidFill>
                <a:latin typeface="Calibri"/>
              </a:rPr>
              <a:t>Model Configuration</a:t>
            </a:r>
          </a:p>
        </p:txBody>
      </p:sp>
      <p:sp>
        <p:nvSpPr>
          <p:cNvPr id="26" name="TextBox 25"/>
          <p:cNvSpPr txBox="1"/>
          <p:nvPr/>
        </p:nvSpPr>
        <p:spPr>
          <a:xfrm>
            <a:off x="5760720" y="1463040"/>
            <a:ext cx="5943600" cy="274320"/>
          </a:xfrm>
          <a:prstGeom prst="rect">
            <a:avLst/>
          </a:prstGeom>
          <a:noFill/>
        </p:spPr>
        <p:txBody>
          <a:bodyPr wrap="square">
            <a:spAutoFit/>
          </a:bodyPr>
          <a:lstStyle/>
          <a:p>
            <a:pPr algn="l"/>
            <a:r>
              <a:rPr sz="1200" b="0">
                <a:solidFill>
                  <a:srgbClr val="FFFFFF"/>
                </a:solidFill>
                <a:latin typeface="Calibri"/>
              </a:rPr>
              <a:t>• Algorithm:  randomForest() — R package</a:t>
            </a:r>
          </a:p>
        </p:txBody>
      </p:sp>
      <p:sp>
        <p:nvSpPr>
          <p:cNvPr id="27" name="TextBox 26"/>
          <p:cNvSpPr txBox="1"/>
          <p:nvPr/>
        </p:nvSpPr>
        <p:spPr>
          <a:xfrm>
            <a:off x="5760720" y="1764792"/>
            <a:ext cx="5943600" cy="274320"/>
          </a:xfrm>
          <a:prstGeom prst="rect">
            <a:avLst/>
          </a:prstGeom>
          <a:noFill/>
        </p:spPr>
        <p:txBody>
          <a:bodyPr wrap="square">
            <a:spAutoFit/>
          </a:bodyPr>
          <a:lstStyle/>
          <a:p>
            <a:pPr algn="l"/>
            <a:r>
              <a:rPr sz="1200" b="0">
                <a:solidFill>
                  <a:srgbClr val="FFFFFF"/>
                </a:solidFill>
                <a:latin typeface="Calibri"/>
              </a:rPr>
              <a:t>• ntree = 100 decision trees (ensemble)</a:t>
            </a:r>
          </a:p>
        </p:txBody>
      </p:sp>
      <p:sp>
        <p:nvSpPr>
          <p:cNvPr id="28" name="TextBox 27"/>
          <p:cNvSpPr txBox="1"/>
          <p:nvPr/>
        </p:nvSpPr>
        <p:spPr>
          <a:xfrm>
            <a:off x="5760720" y="2066544"/>
            <a:ext cx="5943600" cy="274320"/>
          </a:xfrm>
          <a:prstGeom prst="rect">
            <a:avLst/>
          </a:prstGeom>
          <a:noFill/>
        </p:spPr>
        <p:txBody>
          <a:bodyPr wrap="square">
            <a:spAutoFit/>
          </a:bodyPr>
          <a:lstStyle/>
          <a:p>
            <a:pPr algn="l"/>
            <a:r>
              <a:rPr sz="1200" b="0">
                <a:solidFill>
                  <a:srgbClr val="FFFFFF"/>
                </a:solidFill>
                <a:latin typeface="Calibri"/>
              </a:rPr>
              <a:t>• mtry = 5 features sampled per split</a:t>
            </a:r>
          </a:p>
        </p:txBody>
      </p:sp>
      <p:sp>
        <p:nvSpPr>
          <p:cNvPr id="29" name="TextBox 28"/>
          <p:cNvSpPr txBox="1"/>
          <p:nvPr/>
        </p:nvSpPr>
        <p:spPr>
          <a:xfrm>
            <a:off x="5760720" y="2368296"/>
            <a:ext cx="5943600" cy="274320"/>
          </a:xfrm>
          <a:prstGeom prst="rect">
            <a:avLst/>
          </a:prstGeom>
          <a:noFill/>
        </p:spPr>
        <p:txBody>
          <a:bodyPr wrap="square">
            <a:spAutoFit/>
          </a:bodyPr>
          <a:lstStyle/>
          <a:p>
            <a:pPr algn="l"/>
            <a:r>
              <a:rPr sz="1200" b="0">
                <a:solidFill>
                  <a:srgbClr val="FFFFFF"/>
                </a:solidFill>
                <a:latin typeface="Calibri"/>
              </a:rPr>
              <a:t>• importance = TRUE for %IncMSE ranking</a:t>
            </a:r>
          </a:p>
        </p:txBody>
      </p:sp>
      <p:sp>
        <p:nvSpPr>
          <p:cNvPr id="30" name="TextBox 29"/>
          <p:cNvSpPr txBox="1"/>
          <p:nvPr/>
        </p:nvSpPr>
        <p:spPr>
          <a:xfrm>
            <a:off x="5760720" y="2670048"/>
            <a:ext cx="5943600" cy="274320"/>
          </a:xfrm>
          <a:prstGeom prst="rect">
            <a:avLst/>
          </a:prstGeom>
          <a:noFill/>
        </p:spPr>
        <p:txBody>
          <a:bodyPr wrap="square">
            <a:spAutoFit/>
          </a:bodyPr>
          <a:lstStyle/>
          <a:p>
            <a:pPr algn="l"/>
            <a:r>
              <a:rPr sz="1200" b="0">
                <a:solidFill>
                  <a:srgbClr val="FFFFFF"/>
                </a:solidFill>
                <a:latin typeface="Calibri"/>
              </a:rPr>
              <a:t>• Train/Test split:  80% / 20%  (stratified random)</a:t>
            </a:r>
          </a:p>
        </p:txBody>
      </p:sp>
      <p:sp>
        <p:nvSpPr>
          <p:cNvPr id="31" name="TextBox 30"/>
          <p:cNvSpPr txBox="1"/>
          <p:nvPr/>
        </p:nvSpPr>
        <p:spPr>
          <a:xfrm>
            <a:off x="5760720" y="2971800"/>
            <a:ext cx="5943600" cy="274320"/>
          </a:xfrm>
          <a:prstGeom prst="rect">
            <a:avLst/>
          </a:prstGeom>
          <a:noFill/>
        </p:spPr>
        <p:txBody>
          <a:bodyPr wrap="square">
            <a:spAutoFit/>
          </a:bodyPr>
          <a:lstStyle/>
          <a:p>
            <a:pPr algn="l"/>
            <a:r>
              <a:rPr sz="1200" b="0">
                <a:solidFill>
                  <a:srgbClr val="FFFFFF"/>
                </a:solidFill>
                <a:latin typeface="Calibri"/>
              </a:rPr>
              <a:t>• Sample cap:  15,000 rows (for compute efficiency)</a:t>
            </a:r>
          </a:p>
        </p:txBody>
      </p:sp>
      <p:sp>
        <p:nvSpPr>
          <p:cNvPr id="32" name="Rectangle 31"/>
          <p:cNvSpPr/>
          <p:nvPr/>
        </p:nvSpPr>
        <p:spPr>
          <a:xfrm>
            <a:off x="5577840" y="3246120"/>
            <a:ext cx="6309360" cy="16459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0" y="3319272"/>
            <a:ext cx="5943600" cy="320040"/>
          </a:xfrm>
          <a:prstGeom prst="rect">
            <a:avLst/>
          </a:prstGeom>
          <a:noFill/>
        </p:spPr>
        <p:txBody>
          <a:bodyPr wrap="square">
            <a:spAutoFit/>
          </a:bodyPr>
          <a:lstStyle/>
          <a:p>
            <a:pPr algn="l"/>
            <a:r>
              <a:rPr sz="1400" b="1">
                <a:solidFill>
                  <a:srgbClr val="7C3AED"/>
                </a:solidFill>
                <a:latin typeface="Calibri"/>
              </a:rPr>
              <a:t>Evaluation Metrics (Test Set)</a:t>
            </a:r>
          </a:p>
        </p:txBody>
      </p:sp>
      <p:sp>
        <p:nvSpPr>
          <p:cNvPr id="34" name="TextBox 33"/>
          <p:cNvSpPr txBox="1"/>
          <p:nvPr/>
        </p:nvSpPr>
        <p:spPr>
          <a:xfrm>
            <a:off x="5760720" y="3730752"/>
            <a:ext cx="2011680" cy="274320"/>
          </a:xfrm>
          <a:prstGeom prst="rect">
            <a:avLst/>
          </a:prstGeom>
          <a:noFill/>
        </p:spPr>
        <p:txBody>
          <a:bodyPr wrap="square">
            <a:spAutoFit/>
          </a:bodyPr>
          <a:lstStyle/>
          <a:p>
            <a:pPr algn="l"/>
            <a:r>
              <a:rPr sz="1200" b="1">
                <a:solidFill>
                  <a:srgbClr val="C7D2FE"/>
                </a:solidFill>
                <a:latin typeface="Calibri"/>
              </a:rPr>
              <a:t>R² (R-squared)</a:t>
            </a:r>
          </a:p>
        </p:txBody>
      </p:sp>
      <p:sp>
        <p:nvSpPr>
          <p:cNvPr id="35" name="TextBox 34"/>
          <p:cNvSpPr txBox="1"/>
          <p:nvPr/>
        </p:nvSpPr>
        <p:spPr>
          <a:xfrm>
            <a:off x="7863840" y="3730752"/>
            <a:ext cx="3931920" cy="274320"/>
          </a:xfrm>
          <a:prstGeom prst="rect">
            <a:avLst/>
          </a:prstGeom>
          <a:noFill/>
        </p:spPr>
        <p:txBody>
          <a:bodyPr wrap="square">
            <a:spAutoFit/>
          </a:bodyPr>
          <a:lstStyle/>
          <a:p>
            <a:pPr algn="l"/>
            <a:r>
              <a:rPr sz="1150" b="0">
                <a:solidFill>
                  <a:srgbClr val="FFFFFF"/>
                </a:solidFill>
                <a:latin typeface="Calibri"/>
              </a:rPr>
              <a:t>Proportion of variance explained  |  &gt;0.80 = good</a:t>
            </a:r>
          </a:p>
        </p:txBody>
      </p:sp>
      <p:sp>
        <p:nvSpPr>
          <p:cNvPr id="36" name="TextBox 35"/>
          <p:cNvSpPr txBox="1"/>
          <p:nvPr/>
        </p:nvSpPr>
        <p:spPr>
          <a:xfrm>
            <a:off x="5760720" y="4078224"/>
            <a:ext cx="2011680" cy="274320"/>
          </a:xfrm>
          <a:prstGeom prst="rect">
            <a:avLst/>
          </a:prstGeom>
          <a:noFill/>
        </p:spPr>
        <p:txBody>
          <a:bodyPr wrap="square">
            <a:spAutoFit/>
          </a:bodyPr>
          <a:lstStyle/>
          <a:p>
            <a:pPr algn="l"/>
            <a:r>
              <a:rPr sz="1200" b="1">
                <a:solidFill>
                  <a:srgbClr val="C7D2FE"/>
                </a:solidFill>
                <a:latin typeface="Calibri"/>
              </a:rPr>
              <a:t>RMSE</a:t>
            </a:r>
          </a:p>
        </p:txBody>
      </p:sp>
      <p:sp>
        <p:nvSpPr>
          <p:cNvPr id="37" name="TextBox 36"/>
          <p:cNvSpPr txBox="1"/>
          <p:nvPr/>
        </p:nvSpPr>
        <p:spPr>
          <a:xfrm>
            <a:off x="7863840" y="4078224"/>
            <a:ext cx="3931920" cy="274320"/>
          </a:xfrm>
          <a:prstGeom prst="rect">
            <a:avLst/>
          </a:prstGeom>
          <a:noFill/>
        </p:spPr>
        <p:txBody>
          <a:bodyPr wrap="square">
            <a:spAutoFit/>
          </a:bodyPr>
          <a:lstStyle/>
          <a:p>
            <a:pPr algn="l"/>
            <a:r>
              <a:rPr sz="1150" b="0">
                <a:solidFill>
                  <a:srgbClr val="FFFFFF"/>
                </a:solidFill>
                <a:latin typeface="Calibri"/>
              </a:rPr>
              <a:t>Root Mean Squared Error in $  |  lower = better</a:t>
            </a:r>
          </a:p>
        </p:txBody>
      </p:sp>
      <p:sp>
        <p:nvSpPr>
          <p:cNvPr id="38" name="TextBox 37"/>
          <p:cNvSpPr txBox="1"/>
          <p:nvPr/>
        </p:nvSpPr>
        <p:spPr>
          <a:xfrm>
            <a:off x="5760720" y="4425696"/>
            <a:ext cx="2011680" cy="274320"/>
          </a:xfrm>
          <a:prstGeom prst="rect">
            <a:avLst/>
          </a:prstGeom>
          <a:noFill/>
        </p:spPr>
        <p:txBody>
          <a:bodyPr wrap="square">
            <a:spAutoFit/>
          </a:bodyPr>
          <a:lstStyle/>
          <a:p>
            <a:pPr algn="l"/>
            <a:r>
              <a:rPr sz="1200" b="1">
                <a:solidFill>
                  <a:srgbClr val="C7D2FE"/>
                </a:solidFill>
                <a:latin typeface="Calibri"/>
              </a:rPr>
              <a:t>MAE</a:t>
            </a:r>
          </a:p>
        </p:txBody>
      </p:sp>
      <p:sp>
        <p:nvSpPr>
          <p:cNvPr id="39" name="TextBox 38"/>
          <p:cNvSpPr txBox="1"/>
          <p:nvPr/>
        </p:nvSpPr>
        <p:spPr>
          <a:xfrm>
            <a:off x="7863840" y="4425696"/>
            <a:ext cx="3931920" cy="274320"/>
          </a:xfrm>
          <a:prstGeom prst="rect">
            <a:avLst/>
          </a:prstGeom>
          <a:noFill/>
        </p:spPr>
        <p:txBody>
          <a:bodyPr wrap="square">
            <a:spAutoFit/>
          </a:bodyPr>
          <a:lstStyle/>
          <a:p>
            <a:pPr algn="l"/>
            <a:r>
              <a:rPr sz="1150" b="0">
                <a:solidFill>
                  <a:srgbClr val="FFFFFF"/>
                </a:solidFill>
                <a:latin typeface="Calibri"/>
              </a:rPr>
              <a:t>Mean Absolute Error in $  |  average prediction error</a:t>
            </a:r>
          </a:p>
        </p:txBody>
      </p:sp>
      <p:sp>
        <p:nvSpPr>
          <p:cNvPr id="40" name="TextBox 39"/>
          <p:cNvSpPr txBox="1"/>
          <p:nvPr/>
        </p:nvSpPr>
        <p:spPr>
          <a:xfrm>
            <a:off x="5760720" y="4818888"/>
            <a:ext cx="5943600" cy="274320"/>
          </a:xfrm>
          <a:prstGeom prst="rect">
            <a:avLst/>
          </a:prstGeom>
          <a:noFill/>
        </p:spPr>
        <p:txBody>
          <a:bodyPr wrap="square">
            <a:spAutoFit/>
          </a:bodyPr>
          <a:lstStyle/>
          <a:p>
            <a:pPr algn="l"/>
            <a:r>
              <a:rPr sz="1050" b="0">
                <a:solidFill>
                  <a:srgbClr val="94A3B8"/>
                </a:solidFill>
                <a:latin typeface="Calibri"/>
              </a:rPr>
              <a:t>(Exact values printed to console when you run train_prediction.R)</a:t>
            </a:r>
          </a:p>
        </p:txBody>
      </p:sp>
      <p:sp>
        <p:nvSpPr>
          <p:cNvPr id="41" name="Rectangle 40"/>
          <p:cNvSpPr/>
          <p:nvPr/>
        </p:nvSpPr>
        <p:spPr>
          <a:xfrm>
            <a:off x="5577840" y="5029200"/>
            <a:ext cx="6309360" cy="15544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60720" y="5102352"/>
            <a:ext cx="5943600" cy="320040"/>
          </a:xfrm>
          <a:prstGeom prst="rect">
            <a:avLst/>
          </a:prstGeom>
          <a:noFill/>
        </p:spPr>
        <p:txBody>
          <a:bodyPr wrap="square">
            <a:spAutoFit/>
          </a:bodyPr>
          <a:lstStyle/>
          <a:p>
            <a:pPr algn="l"/>
            <a:r>
              <a:rPr sz="1400" b="1">
                <a:solidFill>
                  <a:srgbClr val="7C3AED"/>
                </a:solidFill>
                <a:latin typeface="Calibri"/>
              </a:rPr>
              <a:t>Output Artifacts</a:t>
            </a:r>
          </a:p>
        </p:txBody>
      </p:sp>
      <p:sp>
        <p:nvSpPr>
          <p:cNvPr id="43" name="TextBox 42"/>
          <p:cNvSpPr txBox="1"/>
          <p:nvPr/>
        </p:nvSpPr>
        <p:spPr>
          <a:xfrm>
            <a:off x="5760720" y="5486400"/>
            <a:ext cx="5943600" cy="274320"/>
          </a:xfrm>
          <a:prstGeom prst="rect">
            <a:avLst/>
          </a:prstGeom>
          <a:noFill/>
        </p:spPr>
        <p:txBody>
          <a:bodyPr wrap="square">
            <a:spAutoFit/>
          </a:bodyPr>
          <a:lstStyle/>
          <a:p>
            <a:pPr algn="l"/>
            <a:r>
              <a:rPr sz="1150" b="0">
                <a:solidFill>
                  <a:srgbClr val="FFFFFF"/>
                </a:solidFill>
                <a:latin typeface="Calibri"/>
              </a:rPr>
              <a:t>📁  models/rf_savings_model.rds  — trained model file</a:t>
            </a:r>
          </a:p>
        </p:txBody>
      </p:sp>
      <p:sp>
        <p:nvSpPr>
          <p:cNvPr id="44" name="TextBox 43"/>
          <p:cNvSpPr txBox="1"/>
          <p:nvPr/>
        </p:nvSpPr>
        <p:spPr>
          <a:xfrm>
            <a:off x="5760720" y="5788152"/>
            <a:ext cx="5943600" cy="274320"/>
          </a:xfrm>
          <a:prstGeom prst="rect">
            <a:avLst/>
          </a:prstGeom>
          <a:noFill/>
        </p:spPr>
        <p:txBody>
          <a:bodyPr wrap="square">
            <a:spAutoFit/>
          </a:bodyPr>
          <a:lstStyle/>
          <a:p>
            <a:pPr algn="l"/>
            <a:r>
              <a:rPr sz="1150" b="0">
                <a:solidFill>
                  <a:srgbClr val="FFFFFF"/>
                </a:solidFill>
                <a:latin typeface="Calibri"/>
              </a:rPr>
              <a:t>📊  outputs/rf_feature_importance.png  — bar chart</a:t>
            </a:r>
          </a:p>
        </p:txBody>
      </p:sp>
      <p:sp>
        <p:nvSpPr>
          <p:cNvPr id="45" name="TextBox 44"/>
          <p:cNvSpPr txBox="1"/>
          <p:nvPr/>
        </p:nvSpPr>
        <p:spPr>
          <a:xfrm>
            <a:off x="5760720" y="6089904"/>
            <a:ext cx="5943600" cy="274320"/>
          </a:xfrm>
          <a:prstGeom prst="rect">
            <a:avLst/>
          </a:prstGeom>
          <a:noFill/>
        </p:spPr>
        <p:txBody>
          <a:bodyPr wrap="square">
            <a:spAutoFit/>
          </a:bodyPr>
          <a:lstStyle/>
          <a:p>
            <a:pPr algn="l"/>
            <a:r>
              <a:rPr sz="1150" b="0">
                <a:solidFill>
                  <a:srgbClr val="FFFFFF"/>
                </a:solidFill>
                <a:latin typeface="Calibri"/>
              </a:rPr>
              <a:t>📈  outputs/rf_actual_vs_predicted.png  — scatter plot</a:t>
            </a:r>
          </a:p>
        </p:txBody>
      </p:sp>
      <p:sp>
        <p:nvSpPr>
          <p:cNvPr id="46" name="TextBox 45"/>
          <p:cNvSpPr txBox="1"/>
          <p:nvPr/>
        </p:nvSpPr>
        <p:spPr>
          <a:xfrm>
            <a:off x="5760720" y="6391656"/>
            <a:ext cx="5943600" cy="274320"/>
          </a:xfrm>
          <a:prstGeom prst="rect">
            <a:avLst/>
          </a:prstGeom>
          <a:noFill/>
        </p:spPr>
        <p:txBody>
          <a:bodyPr wrap="square">
            <a:spAutoFit/>
          </a:bodyPr>
          <a:lstStyle/>
          <a:p>
            <a:pPr algn="l"/>
            <a:r>
              <a:rPr sz="1150" b="0">
                <a:solidFill>
                  <a:srgbClr val="FFFFFF"/>
                </a:solidFill>
                <a:latin typeface="Calibri"/>
              </a:rPr>
              <a:t>🖨️  Console: correlation table, model summary, metrics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13. Results — Overspending Detection (9 Rules)</a:t>
            </a:r>
          </a:p>
        </p:txBody>
      </p:sp>
      <p:sp>
        <p:nvSpPr>
          <p:cNvPr id="4" name="Rectangle 3"/>
          <p:cNvSpPr/>
          <p:nvPr/>
        </p:nvSpPr>
        <p:spPr>
          <a:xfrm>
            <a:off x="274320" y="804672"/>
            <a:ext cx="11795760" cy="36576"/>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3749039" cy="64008"/>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115568"/>
            <a:ext cx="3566160" cy="274320"/>
          </a:xfrm>
          <a:prstGeom prst="rect">
            <a:avLst/>
          </a:prstGeom>
          <a:noFill/>
        </p:spPr>
        <p:txBody>
          <a:bodyPr wrap="square">
            <a:spAutoFit/>
          </a:bodyPr>
          <a:lstStyle/>
          <a:p>
            <a:pPr algn="l"/>
            <a:r>
              <a:rPr sz="1000" b="1">
                <a:solidFill>
                  <a:srgbClr val="94A3B8"/>
                </a:solidFill>
                <a:latin typeface="Calibri"/>
              </a:rPr>
              <a:t>Rule 1</a:t>
            </a:r>
          </a:p>
        </p:txBody>
      </p:sp>
      <p:sp>
        <p:nvSpPr>
          <p:cNvPr id="8" name="TextBox 7"/>
          <p:cNvSpPr txBox="1"/>
          <p:nvPr/>
        </p:nvSpPr>
        <p:spPr>
          <a:xfrm>
            <a:off x="384048" y="1389888"/>
            <a:ext cx="3566160" cy="411480"/>
          </a:xfrm>
          <a:prstGeom prst="rect">
            <a:avLst/>
          </a:prstGeom>
          <a:noFill/>
        </p:spPr>
        <p:txBody>
          <a:bodyPr wrap="square">
            <a:spAutoFit/>
          </a:bodyPr>
          <a:lstStyle/>
          <a:p>
            <a:pPr algn="l"/>
            <a:r>
              <a:rPr sz="1300" b="1">
                <a:solidFill>
                  <a:srgbClr val="FFFFFF"/>
                </a:solidFill>
                <a:latin typeface="Calibri"/>
              </a:rPr>
              <a:t>Entertainment share &gt; 20%</a:t>
            </a:r>
          </a:p>
        </p:txBody>
      </p:sp>
      <p:sp>
        <p:nvSpPr>
          <p:cNvPr id="9" name="TextBox 8"/>
          <p:cNvSpPr txBox="1"/>
          <p:nvPr/>
        </p:nvSpPr>
        <p:spPr>
          <a:xfrm>
            <a:off x="384048" y="1874519"/>
            <a:ext cx="3566160" cy="274320"/>
          </a:xfrm>
          <a:prstGeom prst="rect">
            <a:avLst/>
          </a:prstGeom>
          <a:noFill/>
        </p:spPr>
        <p:txBody>
          <a:bodyPr wrap="square">
            <a:spAutoFit/>
          </a:bodyPr>
          <a:lstStyle/>
          <a:p>
            <a:pPr algn="l"/>
            <a:r>
              <a:rPr sz="1100" b="1">
                <a:solidFill>
                  <a:srgbClr val="EAB308"/>
                </a:solidFill>
                <a:latin typeface="Calibri"/>
              </a:rPr>
              <a:t>Severity:  MEDIUM</a:t>
            </a:r>
          </a:p>
        </p:txBody>
      </p:sp>
      <p:sp>
        <p:nvSpPr>
          <p:cNvPr id="10" name="TextBox 9"/>
          <p:cNvSpPr txBox="1"/>
          <p:nvPr/>
        </p:nvSpPr>
        <p:spPr>
          <a:xfrm>
            <a:off x="384048" y="2148840"/>
            <a:ext cx="3566160" cy="274320"/>
          </a:xfrm>
          <a:prstGeom prst="rect">
            <a:avLst/>
          </a:prstGeom>
          <a:noFill/>
        </p:spPr>
        <p:txBody>
          <a:bodyPr wrap="square">
            <a:spAutoFit/>
          </a:bodyPr>
          <a:lstStyle/>
          <a:p>
            <a:pPr algn="l"/>
            <a:r>
              <a:rPr sz="1050" b="0">
                <a:solidFill>
                  <a:srgbClr val="94A3B8"/>
                </a:solidFill>
                <a:latin typeface="Calibri"/>
              </a:rPr>
              <a:t>Score penalty: −10 pts</a:t>
            </a:r>
          </a:p>
        </p:txBody>
      </p:sp>
      <p:sp>
        <p:nvSpPr>
          <p:cNvPr id="11" name="Rectangle 10"/>
          <p:cNvSpPr/>
          <p:nvPr/>
        </p:nvSpPr>
        <p:spPr>
          <a:xfrm>
            <a:off x="4206240" y="100584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005840"/>
            <a:ext cx="3749039"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1115568"/>
            <a:ext cx="3566160" cy="274320"/>
          </a:xfrm>
          <a:prstGeom prst="rect">
            <a:avLst/>
          </a:prstGeom>
          <a:noFill/>
        </p:spPr>
        <p:txBody>
          <a:bodyPr wrap="square">
            <a:spAutoFit/>
          </a:bodyPr>
          <a:lstStyle/>
          <a:p>
            <a:pPr algn="l"/>
            <a:r>
              <a:rPr sz="1000" b="1">
                <a:solidFill>
                  <a:srgbClr val="94A3B8"/>
                </a:solidFill>
                <a:latin typeface="Calibri"/>
              </a:rPr>
              <a:t>Rule 2</a:t>
            </a:r>
          </a:p>
        </p:txBody>
      </p:sp>
      <p:sp>
        <p:nvSpPr>
          <p:cNvPr id="14" name="TextBox 13"/>
          <p:cNvSpPr txBox="1"/>
          <p:nvPr/>
        </p:nvSpPr>
        <p:spPr>
          <a:xfrm>
            <a:off x="4315968" y="1389888"/>
            <a:ext cx="3566160" cy="411480"/>
          </a:xfrm>
          <a:prstGeom prst="rect">
            <a:avLst/>
          </a:prstGeom>
          <a:noFill/>
        </p:spPr>
        <p:txBody>
          <a:bodyPr wrap="square">
            <a:spAutoFit/>
          </a:bodyPr>
          <a:lstStyle/>
          <a:p>
            <a:pPr algn="l"/>
            <a:r>
              <a:rPr sz="1300" b="1">
                <a:solidFill>
                  <a:srgbClr val="FFFFFF"/>
                </a:solidFill>
                <a:latin typeface="Calibri"/>
              </a:rPr>
              <a:t>Rent share &gt; 40%</a:t>
            </a:r>
          </a:p>
        </p:txBody>
      </p:sp>
      <p:sp>
        <p:nvSpPr>
          <p:cNvPr id="15" name="TextBox 14"/>
          <p:cNvSpPr txBox="1"/>
          <p:nvPr/>
        </p:nvSpPr>
        <p:spPr>
          <a:xfrm>
            <a:off x="4315968" y="1874519"/>
            <a:ext cx="3566160" cy="274320"/>
          </a:xfrm>
          <a:prstGeom prst="rect">
            <a:avLst/>
          </a:prstGeom>
          <a:noFill/>
        </p:spPr>
        <p:txBody>
          <a:bodyPr wrap="square">
            <a:spAutoFit/>
          </a:bodyPr>
          <a:lstStyle/>
          <a:p>
            <a:pPr algn="l"/>
            <a:r>
              <a:rPr sz="1100" b="1">
                <a:solidFill>
                  <a:srgbClr val="F97316"/>
                </a:solidFill>
                <a:latin typeface="Calibri"/>
              </a:rPr>
              <a:t>Severity:  HIGH</a:t>
            </a:r>
          </a:p>
        </p:txBody>
      </p:sp>
      <p:sp>
        <p:nvSpPr>
          <p:cNvPr id="16" name="TextBox 15"/>
          <p:cNvSpPr txBox="1"/>
          <p:nvPr/>
        </p:nvSpPr>
        <p:spPr>
          <a:xfrm>
            <a:off x="4315968" y="2148840"/>
            <a:ext cx="3566160" cy="274320"/>
          </a:xfrm>
          <a:prstGeom prst="rect">
            <a:avLst/>
          </a:prstGeom>
          <a:noFill/>
        </p:spPr>
        <p:txBody>
          <a:bodyPr wrap="square">
            <a:spAutoFit/>
          </a:bodyPr>
          <a:lstStyle/>
          <a:p>
            <a:pPr algn="l"/>
            <a:r>
              <a:rPr sz="1050" b="0">
                <a:solidFill>
                  <a:srgbClr val="94A3B8"/>
                </a:solidFill>
                <a:latin typeface="Calibri"/>
              </a:rPr>
              <a:t>Score penalty: −15 pts</a:t>
            </a:r>
          </a:p>
        </p:txBody>
      </p:sp>
      <p:sp>
        <p:nvSpPr>
          <p:cNvPr id="17" name="Rectangle 16"/>
          <p:cNvSpPr/>
          <p:nvPr/>
        </p:nvSpPr>
        <p:spPr>
          <a:xfrm>
            <a:off x="8138160" y="100584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005840"/>
            <a:ext cx="3749039"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1115568"/>
            <a:ext cx="3566160" cy="274320"/>
          </a:xfrm>
          <a:prstGeom prst="rect">
            <a:avLst/>
          </a:prstGeom>
          <a:noFill/>
        </p:spPr>
        <p:txBody>
          <a:bodyPr wrap="square">
            <a:spAutoFit/>
          </a:bodyPr>
          <a:lstStyle/>
          <a:p>
            <a:pPr algn="l"/>
            <a:r>
              <a:rPr sz="1000" b="1">
                <a:solidFill>
                  <a:srgbClr val="94A3B8"/>
                </a:solidFill>
                <a:latin typeface="Calibri"/>
              </a:rPr>
              <a:t>Rule 3</a:t>
            </a:r>
          </a:p>
        </p:txBody>
      </p:sp>
      <p:sp>
        <p:nvSpPr>
          <p:cNvPr id="20" name="TextBox 19"/>
          <p:cNvSpPr txBox="1"/>
          <p:nvPr/>
        </p:nvSpPr>
        <p:spPr>
          <a:xfrm>
            <a:off x="8247888" y="1389888"/>
            <a:ext cx="3566160" cy="411480"/>
          </a:xfrm>
          <a:prstGeom prst="rect">
            <a:avLst/>
          </a:prstGeom>
          <a:noFill/>
        </p:spPr>
        <p:txBody>
          <a:bodyPr wrap="square">
            <a:spAutoFit/>
          </a:bodyPr>
          <a:lstStyle/>
          <a:p>
            <a:pPr algn="l"/>
            <a:r>
              <a:rPr sz="1300" b="1">
                <a:solidFill>
                  <a:srgbClr val="FFFFFF"/>
                </a:solidFill>
                <a:latin typeface="Calibri"/>
              </a:rPr>
              <a:t>Savings rate &lt; 10%</a:t>
            </a:r>
          </a:p>
        </p:txBody>
      </p:sp>
      <p:sp>
        <p:nvSpPr>
          <p:cNvPr id="21" name="TextBox 20"/>
          <p:cNvSpPr txBox="1"/>
          <p:nvPr/>
        </p:nvSpPr>
        <p:spPr>
          <a:xfrm>
            <a:off x="8247888" y="1874519"/>
            <a:ext cx="3566160" cy="274320"/>
          </a:xfrm>
          <a:prstGeom prst="rect">
            <a:avLst/>
          </a:prstGeom>
          <a:noFill/>
        </p:spPr>
        <p:txBody>
          <a:bodyPr wrap="square">
            <a:spAutoFit/>
          </a:bodyPr>
          <a:lstStyle/>
          <a:p>
            <a:pPr algn="l"/>
            <a:r>
              <a:rPr sz="1100" b="1">
                <a:solidFill>
                  <a:srgbClr val="F97316"/>
                </a:solidFill>
                <a:latin typeface="Calibri"/>
              </a:rPr>
              <a:t>Severity:  HIGH</a:t>
            </a:r>
          </a:p>
        </p:txBody>
      </p:sp>
      <p:sp>
        <p:nvSpPr>
          <p:cNvPr id="22" name="TextBox 21"/>
          <p:cNvSpPr txBox="1"/>
          <p:nvPr/>
        </p:nvSpPr>
        <p:spPr>
          <a:xfrm>
            <a:off x="8247888" y="2148840"/>
            <a:ext cx="3566160" cy="274320"/>
          </a:xfrm>
          <a:prstGeom prst="rect">
            <a:avLst/>
          </a:prstGeom>
          <a:noFill/>
        </p:spPr>
        <p:txBody>
          <a:bodyPr wrap="square">
            <a:spAutoFit/>
          </a:bodyPr>
          <a:lstStyle/>
          <a:p>
            <a:pPr algn="l"/>
            <a:r>
              <a:rPr sz="1050" b="0">
                <a:solidFill>
                  <a:srgbClr val="94A3B8"/>
                </a:solidFill>
                <a:latin typeface="Calibri"/>
              </a:rPr>
              <a:t>Score penalty: −15 pts</a:t>
            </a:r>
          </a:p>
        </p:txBody>
      </p:sp>
      <p:sp>
        <p:nvSpPr>
          <p:cNvPr id="23" name="Rectangle 22"/>
          <p:cNvSpPr/>
          <p:nvPr/>
        </p:nvSpPr>
        <p:spPr>
          <a:xfrm>
            <a:off x="274320" y="265176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2651760"/>
            <a:ext cx="3749039" cy="64008"/>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761488"/>
            <a:ext cx="3566160" cy="274320"/>
          </a:xfrm>
          <a:prstGeom prst="rect">
            <a:avLst/>
          </a:prstGeom>
          <a:noFill/>
        </p:spPr>
        <p:txBody>
          <a:bodyPr wrap="square">
            <a:spAutoFit/>
          </a:bodyPr>
          <a:lstStyle/>
          <a:p>
            <a:pPr algn="l"/>
            <a:r>
              <a:rPr sz="1000" b="1">
                <a:solidFill>
                  <a:srgbClr val="94A3B8"/>
                </a:solidFill>
                <a:latin typeface="Calibri"/>
              </a:rPr>
              <a:t>Rule 4</a:t>
            </a:r>
          </a:p>
        </p:txBody>
      </p:sp>
      <p:sp>
        <p:nvSpPr>
          <p:cNvPr id="26" name="TextBox 25"/>
          <p:cNvSpPr txBox="1"/>
          <p:nvPr/>
        </p:nvSpPr>
        <p:spPr>
          <a:xfrm>
            <a:off x="384048" y="3035808"/>
            <a:ext cx="3566160" cy="411480"/>
          </a:xfrm>
          <a:prstGeom prst="rect">
            <a:avLst/>
          </a:prstGeom>
          <a:noFill/>
        </p:spPr>
        <p:txBody>
          <a:bodyPr wrap="square">
            <a:spAutoFit/>
          </a:bodyPr>
          <a:lstStyle/>
          <a:p>
            <a:pPr algn="l"/>
            <a:r>
              <a:rPr sz="1300" b="1">
                <a:solidFill>
                  <a:srgbClr val="FFFFFF"/>
                </a:solidFill>
                <a:latin typeface="Calibri"/>
              </a:rPr>
              <a:t>Food share &gt; 30%</a:t>
            </a:r>
          </a:p>
        </p:txBody>
      </p:sp>
      <p:sp>
        <p:nvSpPr>
          <p:cNvPr id="27" name="TextBox 26"/>
          <p:cNvSpPr txBox="1"/>
          <p:nvPr/>
        </p:nvSpPr>
        <p:spPr>
          <a:xfrm>
            <a:off x="384048" y="3520440"/>
            <a:ext cx="3566160" cy="274320"/>
          </a:xfrm>
          <a:prstGeom prst="rect">
            <a:avLst/>
          </a:prstGeom>
          <a:noFill/>
        </p:spPr>
        <p:txBody>
          <a:bodyPr wrap="square">
            <a:spAutoFit/>
          </a:bodyPr>
          <a:lstStyle/>
          <a:p>
            <a:pPr algn="l"/>
            <a:r>
              <a:rPr sz="1100" b="1">
                <a:solidFill>
                  <a:srgbClr val="EAB308"/>
                </a:solidFill>
                <a:latin typeface="Calibri"/>
              </a:rPr>
              <a:t>Severity:  MEDIUM</a:t>
            </a:r>
          </a:p>
        </p:txBody>
      </p:sp>
      <p:sp>
        <p:nvSpPr>
          <p:cNvPr id="28" name="TextBox 27"/>
          <p:cNvSpPr txBox="1"/>
          <p:nvPr/>
        </p:nvSpPr>
        <p:spPr>
          <a:xfrm>
            <a:off x="384048" y="3794760"/>
            <a:ext cx="3566160" cy="274320"/>
          </a:xfrm>
          <a:prstGeom prst="rect">
            <a:avLst/>
          </a:prstGeom>
          <a:noFill/>
        </p:spPr>
        <p:txBody>
          <a:bodyPr wrap="square">
            <a:spAutoFit/>
          </a:bodyPr>
          <a:lstStyle/>
          <a:p>
            <a:pPr algn="l"/>
            <a:r>
              <a:rPr sz="1050" b="0">
                <a:solidFill>
                  <a:srgbClr val="94A3B8"/>
                </a:solidFill>
                <a:latin typeface="Calibri"/>
              </a:rPr>
              <a:t>Score penalty: −10 pts</a:t>
            </a:r>
          </a:p>
        </p:txBody>
      </p:sp>
      <p:sp>
        <p:nvSpPr>
          <p:cNvPr id="29" name="Rectangle 28"/>
          <p:cNvSpPr/>
          <p:nvPr/>
        </p:nvSpPr>
        <p:spPr>
          <a:xfrm>
            <a:off x="4206240" y="265176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06240" y="2651760"/>
            <a:ext cx="3749039" cy="640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5968" y="2761488"/>
            <a:ext cx="3566160" cy="274320"/>
          </a:xfrm>
          <a:prstGeom prst="rect">
            <a:avLst/>
          </a:prstGeom>
          <a:noFill/>
        </p:spPr>
        <p:txBody>
          <a:bodyPr wrap="square">
            <a:spAutoFit/>
          </a:bodyPr>
          <a:lstStyle/>
          <a:p>
            <a:pPr algn="l"/>
            <a:r>
              <a:rPr sz="1000" b="1">
                <a:solidFill>
                  <a:srgbClr val="94A3B8"/>
                </a:solidFill>
                <a:latin typeface="Calibri"/>
              </a:rPr>
              <a:t>Rule 5</a:t>
            </a:r>
          </a:p>
        </p:txBody>
      </p:sp>
      <p:sp>
        <p:nvSpPr>
          <p:cNvPr id="32" name="TextBox 31"/>
          <p:cNvSpPr txBox="1"/>
          <p:nvPr/>
        </p:nvSpPr>
        <p:spPr>
          <a:xfrm>
            <a:off x="4315968" y="3035808"/>
            <a:ext cx="3566160" cy="411480"/>
          </a:xfrm>
          <a:prstGeom prst="rect">
            <a:avLst/>
          </a:prstGeom>
          <a:noFill/>
        </p:spPr>
        <p:txBody>
          <a:bodyPr wrap="square">
            <a:spAutoFit/>
          </a:bodyPr>
          <a:lstStyle/>
          <a:p>
            <a:pPr algn="l"/>
            <a:r>
              <a:rPr sz="1300" b="1">
                <a:solidFill>
                  <a:srgbClr val="FFFFFF"/>
                </a:solidFill>
                <a:latin typeface="Calibri"/>
              </a:rPr>
              <a:t>Total expenses &gt; Income</a:t>
            </a:r>
          </a:p>
        </p:txBody>
      </p:sp>
      <p:sp>
        <p:nvSpPr>
          <p:cNvPr id="33" name="TextBox 32"/>
          <p:cNvSpPr txBox="1"/>
          <p:nvPr/>
        </p:nvSpPr>
        <p:spPr>
          <a:xfrm>
            <a:off x="4315968" y="3520440"/>
            <a:ext cx="3566160" cy="274320"/>
          </a:xfrm>
          <a:prstGeom prst="rect">
            <a:avLst/>
          </a:prstGeom>
          <a:noFill/>
        </p:spPr>
        <p:txBody>
          <a:bodyPr wrap="square">
            <a:spAutoFit/>
          </a:bodyPr>
          <a:lstStyle/>
          <a:p>
            <a:pPr algn="l"/>
            <a:r>
              <a:rPr sz="1100" b="1">
                <a:solidFill>
                  <a:srgbClr val="DC2626"/>
                </a:solidFill>
                <a:latin typeface="Calibri"/>
              </a:rPr>
              <a:t>Severity:  CRITICAL</a:t>
            </a:r>
          </a:p>
        </p:txBody>
      </p:sp>
      <p:sp>
        <p:nvSpPr>
          <p:cNvPr id="34" name="TextBox 33"/>
          <p:cNvSpPr txBox="1"/>
          <p:nvPr/>
        </p:nvSpPr>
        <p:spPr>
          <a:xfrm>
            <a:off x="4315968" y="3794760"/>
            <a:ext cx="3566160" cy="274320"/>
          </a:xfrm>
          <a:prstGeom prst="rect">
            <a:avLst/>
          </a:prstGeom>
          <a:noFill/>
        </p:spPr>
        <p:txBody>
          <a:bodyPr wrap="square">
            <a:spAutoFit/>
          </a:bodyPr>
          <a:lstStyle/>
          <a:p>
            <a:pPr algn="l"/>
            <a:r>
              <a:rPr sz="1050" b="0">
                <a:solidFill>
                  <a:srgbClr val="94A3B8"/>
                </a:solidFill>
                <a:latin typeface="Calibri"/>
              </a:rPr>
              <a:t>Score penalty: −25 pts</a:t>
            </a:r>
          </a:p>
        </p:txBody>
      </p:sp>
      <p:sp>
        <p:nvSpPr>
          <p:cNvPr id="35" name="Rectangle 34"/>
          <p:cNvSpPr/>
          <p:nvPr/>
        </p:nvSpPr>
        <p:spPr>
          <a:xfrm>
            <a:off x="8138160" y="265176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38160" y="2651760"/>
            <a:ext cx="3749039" cy="64008"/>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47888" y="2761488"/>
            <a:ext cx="3566160" cy="274320"/>
          </a:xfrm>
          <a:prstGeom prst="rect">
            <a:avLst/>
          </a:prstGeom>
          <a:noFill/>
        </p:spPr>
        <p:txBody>
          <a:bodyPr wrap="square">
            <a:spAutoFit/>
          </a:bodyPr>
          <a:lstStyle/>
          <a:p>
            <a:pPr algn="l"/>
            <a:r>
              <a:rPr sz="1000" b="1">
                <a:solidFill>
                  <a:srgbClr val="94A3B8"/>
                </a:solidFill>
                <a:latin typeface="Calibri"/>
              </a:rPr>
              <a:t>Rule 6</a:t>
            </a:r>
          </a:p>
        </p:txBody>
      </p:sp>
      <p:sp>
        <p:nvSpPr>
          <p:cNvPr id="38" name="TextBox 37"/>
          <p:cNvSpPr txBox="1"/>
          <p:nvPr/>
        </p:nvSpPr>
        <p:spPr>
          <a:xfrm>
            <a:off x="8247888" y="3035808"/>
            <a:ext cx="3566160" cy="411480"/>
          </a:xfrm>
          <a:prstGeom prst="rect">
            <a:avLst/>
          </a:prstGeom>
          <a:noFill/>
        </p:spPr>
        <p:txBody>
          <a:bodyPr wrap="square">
            <a:spAutoFit/>
          </a:bodyPr>
          <a:lstStyle/>
          <a:p>
            <a:pPr algn="l"/>
            <a:r>
              <a:rPr sz="1300" b="1">
                <a:solidFill>
                  <a:srgbClr val="FFFFFF"/>
                </a:solidFill>
                <a:latin typeface="Calibri"/>
              </a:rPr>
              <a:t>Expense growth MoM &gt; 20%</a:t>
            </a:r>
          </a:p>
        </p:txBody>
      </p:sp>
      <p:sp>
        <p:nvSpPr>
          <p:cNvPr id="39" name="TextBox 38"/>
          <p:cNvSpPr txBox="1"/>
          <p:nvPr/>
        </p:nvSpPr>
        <p:spPr>
          <a:xfrm>
            <a:off x="8247888" y="3520440"/>
            <a:ext cx="3566160" cy="274320"/>
          </a:xfrm>
          <a:prstGeom prst="rect">
            <a:avLst/>
          </a:prstGeom>
          <a:noFill/>
        </p:spPr>
        <p:txBody>
          <a:bodyPr wrap="square">
            <a:spAutoFit/>
          </a:bodyPr>
          <a:lstStyle/>
          <a:p>
            <a:pPr algn="l"/>
            <a:r>
              <a:rPr sz="1100" b="1">
                <a:solidFill>
                  <a:srgbClr val="EAB308"/>
                </a:solidFill>
                <a:latin typeface="Calibri"/>
              </a:rPr>
              <a:t>Severity:  MEDIUM</a:t>
            </a:r>
          </a:p>
        </p:txBody>
      </p:sp>
      <p:sp>
        <p:nvSpPr>
          <p:cNvPr id="40" name="TextBox 39"/>
          <p:cNvSpPr txBox="1"/>
          <p:nvPr/>
        </p:nvSpPr>
        <p:spPr>
          <a:xfrm>
            <a:off x="8247888" y="3794760"/>
            <a:ext cx="3566160" cy="274320"/>
          </a:xfrm>
          <a:prstGeom prst="rect">
            <a:avLst/>
          </a:prstGeom>
          <a:noFill/>
        </p:spPr>
        <p:txBody>
          <a:bodyPr wrap="square">
            <a:spAutoFit/>
          </a:bodyPr>
          <a:lstStyle/>
          <a:p>
            <a:pPr algn="l"/>
            <a:r>
              <a:rPr sz="1050" b="0">
                <a:solidFill>
                  <a:srgbClr val="94A3B8"/>
                </a:solidFill>
                <a:latin typeface="Calibri"/>
              </a:rPr>
              <a:t>Score penalty: −10 pts</a:t>
            </a:r>
          </a:p>
        </p:txBody>
      </p:sp>
      <p:sp>
        <p:nvSpPr>
          <p:cNvPr id="41" name="Rectangle 40"/>
          <p:cNvSpPr/>
          <p:nvPr/>
        </p:nvSpPr>
        <p:spPr>
          <a:xfrm>
            <a:off x="274320" y="429768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4320" y="4297680"/>
            <a:ext cx="3749039" cy="640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4048" y="4407408"/>
            <a:ext cx="3566160" cy="274320"/>
          </a:xfrm>
          <a:prstGeom prst="rect">
            <a:avLst/>
          </a:prstGeom>
          <a:noFill/>
        </p:spPr>
        <p:txBody>
          <a:bodyPr wrap="square">
            <a:spAutoFit/>
          </a:bodyPr>
          <a:lstStyle/>
          <a:p>
            <a:pPr algn="l"/>
            <a:r>
              <a:rPr sz="1000" b="1">
                <a:solidFill>
                  <a:srgbClr val="94A3B8"/>
                </a:solidFill>
                <a:latin typeface="Calibri"/>
              </a:rPr>
              <a:t>Rule 7</a:t>
            </a:r>
          </a:p>
        </p:txBody>
      </p:sp>
      <p:sp>
        <p:nvSpPr>
          <p:cNvPr id="44" name="TextBox 43"/>
          <p:cNvSpPr txBox="1"/>
          <p:nvPr/>
        </p:nvSpPr>
        <p:spPr>
          <a:xfrm>
            <a:off x="384048" y="4681728"/>
            <a:ext cx="3566160" cy="411480"/>
          </a:xfrm>
          <a:prstGeom prst="rect">
            <a:avLst/>
          </a:prstGeom>
          <a:noFill/>
        </p:spPr>
        <p:txBody>
          <a:bodyPr wrap="square">
            <a:spAutoFit/>
          </a:bodyPr>
          <a:lstStyle/>
          <a:p>
            <a:pPr algn="l"/>
            <a:r>
              <a:rPr sz="1300" b="1">
                <a:solidFill>
                  <a:srgbClr val="FFFFFF"/>
                </a:solidFill>
                <a:latin typeface="Calibri"/>
              </a:rPr>
              <a:t>Transport share &gt; 25%</a:t>
            </a:r>
          </a:p>
        </p:txBody>
      </p:sp>
      <p:sp>
        <p:nvSpPr>
          <p:cNvPr id="45" name="TextBox 44"/>
          <p:cNvSpPr txBox="1"/>
          <p:nvPr/>
        </p:nvSpPr>
        <p:spPr>
          <a:xfrm>
            <a:off x="384048" y="5166360"/>
            <a:ext cx="3566160" cy="274320"/>
          </a:xfrm>
          <a:prstGeom prst="rect">
            <a:avLst/>
          </a:prstGeom>
          <a:noFill/>
        </p:spPr>
        <p:txBody>
          <a:bodyPr wrap="square">
            <a:spAutoFit/>
          </a:bodyPr>
          <a:lstStyle/>
          <a:p>
            <a:pPr algn="l"/>
            <a:r>
              <a:rPr sz="1100" b="1">
                <a:solidFill>
                  <a:srgbClr val="3B82F6"/>
                </a:solidFill>
                <a:latin typeface="Calibri"/>
              </a:rPr>
              <a:t>Severity:  LOW</a:t>
            </a:r>
          </a:p>
        </p:txBody>
      </p:sp>
      <p:sp>
        <p:nvSpPr>
          <p:cNvPr id="46" name="TextBox 45"/>
          <p:cNvSpPr txBox="1"/>
          <p:nvPr/>
        </p:nvSpPr>
        <p:spPr>
          <a:xfrm>
            <a:off x="384048" y="5440680"/>
            <a:ext cx="3566160" cy="274320"/>
          </a:xfrm>
          <a:prstGeom prst="rect">
            <a:avLst/>
          </a:prstGeom>
          <a:noFill/>
        </p:spPr>
        <p:txBody>
          <a:bodyPr wrap="square">
            <a:spAutoFit/>
          </a:bodyPr>
          <a:lstStyle/>
          <a:p>
            <a:pPr algn="l"/>
            <a:r>
              <a:rPr sz="1050" b="0">
                <a:solidFill>
                  <a:srgbClr val="94A3B8"/>
                </a:solidFill>
                <a:latin typeface="Calibri"/>
              </a:rPr>
              <a:t>Score penalty: −5 pts</a:t>
            </a:r>
          </a:p>
        </p:txBody>
      </p:sp>
      <p:sp>
        <p:nvSpPr>
          <p:cNvPr id="47" name="Rectangle 46"/>
          <p:cNvSpPr/>
          <p:nvPr/>
        </p:nvSpPr>
        <p:spPr>
          <a:xfrm>
            <a:off x="4206240" y="429768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206240" y="4297680"/>
            <a:ext cx="3749039" cy="64008"/>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15968" y="4407408"/>
            <a:ext cx="3566160" cy="274320"/>
          </a:xfrm>
          <a:prstGeom prst="rect">
            <a:avLst/>
          </a:prstGeom>
          <a:noFill/>
        </p:spPr>
        <p:txBody>
          <a:bodyPr wrap="square">
            <a:spAutoFit/>
          </a:bodyPr>
          <a:lstStyle/>
          <a:p>
            <a:pPr algn="l"/>
            <a:r>
              <a:rPr sz="1000" b="1">
                <a:solidFill>
                  <a:srgbClr val="94A3B8"/>
                </a:solidFill>
                <a:latin typeface="Calibri"/>
              </a:rPr>
              <a:t>Rule 8</a:t>
            </a:r>
          </a:p>
        </p:txBody>
      </p:sp>
      <p:sp>
        <p:nvSpPr>
          <p:cNvPr id="50" name="TextBox 49"/>
          <p:cNvSpPr txBox="1"/>
          <p:nvPr/>
        </p:nvSpPr>
        <p:spPr>
          <a:xfrm>
            <a:off x="4315968" y="4681728"/>
            <a:ext cx="3566160" cy="411480"/>
          </a:xfrm>
          <a:prstGeom prst="rect">
            <a:avLst/>
          </a:prstGeom>
          <a:noFill/>
        </p:spPr>
        <p:txBody>
          <a:bodyPr wrap="square">
            <a:spAutoFit/>
          </a:bodyPr>
          <a:lstStyle/>
          <a:p>
            <a:pPr algn="l"/>
            <a:r>
              <a:rPr sz="1300" b="1">
                <a:solidFill>
                  <a:srgbClr val="FFFFFF"/>
                </a:solidFill>
                <a:latin typeface="Calibri"/>
              </a:rPr>
              <a:t>Discretionary share &gt; 40%</a:t>
            </a:r>
          </a:p>
        </p:txBody>
      </p:sp>
      <p:sp>
        <p:nvSpPr>
          <p:cNvPr id="51" name="TextBox 50"/>
          <p:cNvSpPr txBox="1"/>
          <p:nvPr/>
        </p:nvSpPr>
        <p:spPr>
          <a:xfrm>
            <a:off x="4315968" y="5166360"/>
            <a:ext cx="3566160" cy="274320"/>
          </a:xfrm>
          <a:prstGeom prst="rect">
            <a:avLst/>
          </a:prstGeom>
          <a:noFill/>
        </p:spPr>
        <p:txBody>
          <a:bodyPr wrap="square">
            <a:spAutoFit/>
          </a:bodyPr>
          <a:lstStyle/>
          <a:p>
            <a:pPr algn="l"/>
            <a:r>
              <a:rPr sz="1100" b="1">
                <a:solidFill>
                  <a:srgbClr val="EAB308"/>
                </a:solidFill>
                <a:latin typeface="Calibri"/>
              </a:rPr>
              <a:t>Severity:  MEDIUM</a:t>
            </a:r>
          </a:p>
        </p:txBody>
      </p:sp>
      <p:sp>
        <p:nvSpPr>
          <p:cNvPr id="52" name="TextBox 51"/>
          <p:cNvSpPr txBox="1"/>
          <p:nvPr/>
        </p:nvSpPr>
        <p:spPr>
          <a:xfrm>
            <a:off x="4315968" y="5440680"/>
            <a:ext cx="3566160" cy="274320"/>
          </a:xfrm>
          <a:prstGeom prst="rect">
            <a:avLst/>
          </a:prstGeom>
          <a:noFill/>
        </p:spPr>
        <p:txBody>
          <a:bodyPr wrap="square">
            <a:spAutoFit/>
          </a:bodyPr>
          <a:lstStyle/>
          <a:p>
            <a:pPr algn="l"/>
            <a:r>
              <a:rPr sz="1050" b="0">
                <a:solidFill>
                  <a:srgbClr val="94A3B8"/>
                </a:solidFill>
                <a:latin typeface="Calibri"/>
              </a:rPr>
              <a:t>Score penalty: −10 pts</a:t>
            </a:r>
          </a:p>
        </p:txBody>
      </p:sp>
      <p:sp>
        <p:nvSpPr>
          <p:cNvPr id="53" name="Rectangle 52"/>
          <p:cNvSpPr/>
          <p:nvPr/>
        </p:nvSpPr>
        <p:spPr>
          <a:xfrm>
            <a:off x="8138160" y="4297680"/>
            <a:ext cx="3749039" cy="1463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138160" y="4297680"/>
            <a:ext cx="3749039"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47888" y="4407408"/>
            <a:ext cx="3566160" cy="274320"/>
          </a:xfrm>
          <a:prstGeom prst="rect">
            <a:avLst/>
          </a:prstGeom>
          <a:noFill/>
        </p:spPr>
        <p:txBody>
          <a:bodyPr wrap="square">
            <a:spAutoFit/>
          </a:bodyPr>
          <a:lstStyle/>
          <a:p>
            <a:pPr algn="l"/>
            <a:r>
              <a:rPr sz="1000" b="1">
                <a:solidFill>
                  <a:srgbClr val="94A3B8"/>
                </a:solidFill>
                <a:latin typeface="Calibri"/>
              </a:rPr>
              <a:t>Rule 9</a:t>
            </a:r>
          </a:p>
        </p:txBody>
      </p:sp>
      <p:sp>
        <p:nvSpPr>
          <p:cNvPr id="56" name="TextBox 55"/>
          <p:cNvSpPr txBox="1"/>
          <p:nvPr/>
        </p:nvSpPr>
        <p:spPr>
          <a:xfrm>
            <a:off x="8247888" y="4681728"/>
            <a:ext cx="3566160" cy="411480"/>
          </a:xfrm>
          <a:prstGeom prst="rect">
            <a:avLst/>
          </a:prstGeom>
          <a:noFill/>
        </p:spPr>
        <p:txBody>
          <a:bodyPr wrap="square">
            <a:spAutoFit/>
          </a:bodyPr>
          <a:lstStyle/>
          <a:p>
            <a:pPr algn="l"/>
            <a:r>
              <a:rPr sz="1300" b="1">
                <a:solidFill>
                  <a:srgbClr val="FFFFFF"/>
                </a:solidFill>
                <a:latin typeface="Calibri"/>
              </a:rPr>
              <a:t>Custom budget exceeded</a:t>
            </a:r>
          </a:p>
        </p:txBody>
      </p:sp>
      <p:sp>
        <p:nvSpPr>
          <p:cNvPr id="57" name="TextBox 56"/>
          <p:cNvSpPr txBox="1"/>
          <p:nvPr/>
        </p:nvSpPr>
        <p:spPr>
          <a:xfrm>
            <a:off x="8247888" y="5166360"/>
            <a:ext cx="3566160" cy="274320"/>
          </a:xfrm>
          <a:prstGeom prst="rect">
            <a:avLst/>
          </a:prstGeom>
          <a:noFill/>
        </p:spPr>
        <p:txBody>
          <a:bodyPr wrap="square">
            <a:spAutoFit/>
          </a:bodyPr>
          <a:lstStyle/>
          <a:p>
            <a:pPr algn="l"/>
            <a:r>
              <a:rPr sz="1100" b="1">
                <a:solidFill>
                  <a:srgbClr val="F97316"/>
                </a:solidFill>
                <a:latin typeface="Calibri"/>
              </a:rPr>
              <a:t>Severity:  HIGH</a:t>
            </a:r>
          </a:p>
        </p:txBody>
      </p:sp>
      <p:sp>
        <p:nvSpPr>
          <p:cNvPr id="58" name="TextBox 57"/>
          <p:cNvSpPr txBox="1"/>
          <p:nvPr/>
        </p:nvSpPr>
        <p:spPr>
          <a:xfrm>
            <a:off x="8247888" y="5440680"/>
            <a:ext cx="3566160" cy="274320"/>
          </a:xfrm>
          <a:prstGeom prst="rect">
            <a:avLst/>
          </a:prstGeom>
          <a:noFill/>
        </p:spPr>
        <p:txBody>
          <a:bodyPr wrap="square">
            <a:spAutoFit/>
          </a:bodyPr>
          <a:lstStyle/>
          <a:p>
            <a:pPr algn="l"/>
            <a:r>
              <a:rPr sz="1050" b="0">
                <a:solidFill>
                  <a:srgbClr val="94A3B8"/>
                </a:solidFill>
                <a:latin typeface="Calibri"/>
              </a:rPr>
              <a:t>Score penalty: −15 pts</a:t>
            </a:r>
          </a:p>
        </p:txBody>
      </p:sp>
      <p:sp>
        <p:nvSpPr>
          <p:cNvPr id="59" name="Rectangle 58"/>
          <p:cNvSpPr/>
          <p:nvPr/>
        </p:nvSpPr>
        <p:spPr>
          <a:xfrm>
            <a:off x="274320" y="6035040"/>
            <a:ext cx="11795760" cy="5486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6080760"/>
            <a:ext cx="11430000" cy="411480"/>
          </a:xfrm>
          <a:prstGeom prst="rect">
            <a:avLst/>
          </a:prstGeom>
          <a:noFill/>
        </p:spPr>
        <p:txBody>
          <a:bodyPr wrap="square">
            <a:spAutoFit/>
          </a:bodyPr>
          <a:lstStyle/>
          <a:p>
            <a:pPr algn="l"/>
            <a:r>
              <a:rPr sz="1300" b="1">
                <a:solidFill>
                  <a:srgbClr val="C7D2FE"/>
                </a:solidFill>
                <a:latin typeface="Calibri"/>
              </a:rPr>
              <a:t>Financial Health Score  =  100  −  Σ(severity penalties)  +  savings bonus (+10 if &gt;20%, +5 if &gt;30%)    →    Range: 0 to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14. Results — Visualizations (ggplot2)</a:t>
            </a:r>
          </a:p>
        </p:txBody>
      </p:sp>
      <p:sp>
        <p:nvSpPr>
          <p:cNvPr id="4" name="Rectangle 3"/>
          <p:cNvSpPr/>
          <p:nvPr/>
        </p:nvSpPr>
        <p:spPr>
          <a:xfrm>
            <a:off x="274320" y="804672"/>
            <a:ext cx="1179576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2834640" cy="25603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097280"/>
            <a:ext cx="2651760" cy="411480"/>
          </a:xfrm>
          <a:prstGeom prst="rect">
            <a:avLst/>
          </a:prstGeom>
          <a:noFill/>
        </p:spPr>
        <p:txBody>
          <a:bodyPr wrap="square">
            <a:spAutoFit/>
          </a:bodyPr>
          <a:lstStyle/>
          <a:p>
            <a:pPr algn="l"/>
            <a:r>
              <a:rPr sz="1300" b="1">
                <a:solidFill>
                  <a:srgbClr val="06B6D4"/>
                </a:solidFill>
                <a:latin typeface="Calibri"/>
              </a:rPr>
              <a:t>1. Income Distribution</a:t>
            </a:r>
          </a:p>
        </p:txBody>
      </p:sp>
      <p:sp>
        <p:nvSpPr>
          <p:cNvPr id="7" name="TextBox 6"/>
          <p:cNvSpPr txBox="1"/>
          <p:nvPr/>
        </p:nvSpPr>
        <p:spPr>
          <a:xfrm>
            <a:off x="384048" y="1554480"/>
            <a:ext cx="2651760" cy="914400"/>
          </a:xfrm>
          <a:prstGeom prst="rect">
            <a:avLst/>
          </a:prstGeom>
          <a:noFill/>
        </p:spPr>
        <p:txBody>
          <a:bodyPr wrap="square">
            <a:spAutoFit/>
          </a:bodyPr>
          <a:lstStyle/>
          <a:p>
            <a:pPr algn="l"/>
            <a:r>
              <a:rPr sz="1200" b="0">
                <a:solidFill>
                  <a:srgbClr val="FFFFFF"/>
                </a:solidFill>
                <a:latin typeface="Calibri"/>
              </a:rPr>
              <a:t>Histogram
(40 bins, indigo fill)</a:t>
            </a:r>
          </a:p>
        </p:txBody>
      </p:sp>
      <p:sp>
        <p:nvSpPr>
          <p:cNvPr id="8" name="TextBox 7"/>
          <p:cNvSpPr txBox="1"/>
          <p:nvPr/>
        </p:nvSpPr>
        <p:spPr>
          <a:xfrm>
            <a:off x="384048" y="3154680"/>
            <a:ext cx="2651760" cy="274320"/>
          </a:xfrm>
          <a:prstGeom prst="rect">
            <a:avLst/>
          </a:prstGeom>
          <a:noFill/>
        </p:spPr>
        <p:txBody>
          <a:bodyPr wrap="square">
            <a:spAutoFit/>
          </a:bodyPr>
          <a:lstStyle/>
          <a:p>
            <a:pPr algn="l"/>
            <a:r>
              <a:rPr sz="1000" b="0">
                <a:solidFill>
                  <a:srgbClr val="94A3B8"/>
                </a:solidFill>
                <a:latin typeface="Calibri"/>
              </a:rPr>
              <a:t>Source: preprocess_data.R</a:t>
            </a:r>
          </a:p>
        </p:txBody>
      </p:sp>
      <p:sp>
        <p:nvSpPr>
          <p:cNvPr id="9" name="Rectangle 8"/>
          <p:cNvSpPr/>
          <p:nvPr/>
        </p:nvSpPr>
        <p:spPr>
          <a:xfrm>
            <a:off x="3246120" y="1005840"/>
            <a:ext cx="2834640" cy="25603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1097280"/>
            <a:ext cx="2651760" cy="411480"/>
          </a:xfrm>
          <a:prstGeom prst="rect">
            <a:avLst/>
          </a:prstGeom>
          <a:noFill/>
        </p:spPr>
        <p:txBody>
          <a:bodyPr wrap="square">
            <a:spAutoFit/>
          </a:bodyPr>
          <a:lstStyle/>
          <a:p>
            <a:pPr algn="l"/>
            <a:r>
              <a:rPr sz="1300" b="1">
                <a:solidFill>
                  <a:srgbClr val="06B6D4"/>
                </a:solidFill>
                <a:latin typeface="Calibri"/>
              </a:rPr>
              <a:t>2. Savings Rate Density</a:t>
            </a:r>
          </a:p>
        </p:txBody>
      </p:sp>
      <p:sp>
        <p:nvSpPr>
          <p:cNvPr id="11" name="TextBox 10"/>
          <p:cNvSpPr txBox="1"/>
          <p:nvPr/>
        </p:nvSpPr>
        <p:spPr>
          <a:xfrm>
            <a:off x="3355848" y="1554480"/>
            <a:ext cx="2651760" cy="914400"/>
          </a:xfrm>
          <a:prstGeom prst="rect">
            <a:avLst/>
          </a:prstGeom>
          <a:noFill/>
        </p:spPr>
        <p:txBody>
          <a:bodyPr wrap="square">
            <a:spAutoFit/>
          </a:bodyPr>
          <a:lstStyle/>
          <a:p>
            <a:pPr algn="l"/>
            <a:r>
              <a:rPr sz="1200" b="0">
                <a:solidFill>
                  <a:srgbClr val="FFFFFF"/>
                </a:solidFill>
                <a:latin typeface="Calibri"/>
              </a:rPr>
              <a:t>Density plot with
red zero-line</a:t>
            </a:r>
          </a:p>
        </p:txBody>
      </p:sp>
      <p:sp>
        <p:nvSpPr>
          <p:cNvPr id="12" name="TextBox 11"/>
          <p:cNvSpPr txBox="1"/>
          <p:nvPr/>
        </p:nvSpPr>
        <p:spPr>
          <a:xfrm>
            <a:off x="3355848" y="3154680"/>
            <a:ext cx="2651760" cy="274320"/>
          </a:xfrm>
          <a:prstGeom prst="rect">
            <a:avLst/>
          </a:prstGeom>
          <a:noFill/>
        </p:spPr>
        <p:txBody>
          <a:bodyPr wrap="square">
            <a:spAutoFit/>
          </a:bodyPr>
          <a:lstStyle/>
          <a:p>
            <a:pPr algn="l"/>
            <a:r>
              <a:rPr sz="1000" b="0">
                <a:solidFill>
                  <a:srgbClr val="94A3B8"/>
                </a:solidFill>
                <a:latin typeface="Calibri"/>
              </a:rPr>
              <a:t>Source: preprocess_data.R</a:t>
            </a:r>
          </a:p>
        </p:txBody>
      </p:sp>
      <p:sp>
        <p:nvSpPr>
          <p:cNvPr id="13" name="Rectangle 12"/>
          <p:cNvSpPr/>
          <p:nvPr/>
        </p:nvSpPr>
        <p:spPr>
          <a:xfrm>
            <a:off x="6217920" y="1005840"/>
            <a:ext cx="2834640" cy="25603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097280"/>
            <a:ext cx="2651760" cy="411480"/>
          </a:xfrm>
          <a:prstGeom prst="rect">
            <a:avLst/>
          </a:prstGeom>
          <a:noFill/>
        </p:spPr>
        <p:txBody>
          <a:bodyPr wrap="square">
            <a:spAutoFit/>
          </a:bodyPr>
          <a:lstStyle/>
          <a:p>
            <a:pPr algn="l"/>
            <a:r>
              <a:rPr sz="1300" b="1">
                <a:solidFill>
                  <a:srgbClr val="06B6D4"/>
                </a:solidFill>
                <a:latin typeface="Calibri"/>
              </a:rPr>
              <a:t>3. Spending Breakdown</a:t>
            </a:r>
          </a:p>
        </p:txBody>
      </p:sp>
      <p:sp>
        <p:nvSpPr>
          <p:cNvPr id="15" name="TextBox 14"/>
          <p:cNvSpPr txBox="1"/>
          <p:nvPr/>
        </p:nvSpPr>
        <p:spPr>
          <a:xfrm>
            <a:off x="6327648" y="1554480"/>
            <a:ext cx="2651760" cy="914400"/>
          </a:xfrm>
          <a:prstGeom prst="rect">
            <a:avLst/>
          </a:prstGeom>
          <a:noFill/>
        </p:spPr>
        <p:txBody>
          <a:bodyPr wrap="square">
            <a:spAutoFit/>
          </a:bodyPr>
          <a:lstStyle/>
          <a:p>
            <a:pPr algn="l"/>
            <a:r>
              <a:rPr sz="1200" b="0">
                <a:solidFill>
                  <a:srgbClr val="FFFFFF"/>
                </a:solidFill>
                <a:latin typeface="Calibri"/>
              </a:rPr>
              <a:t>Horizontal bar chart
11 categories sorted</a:t>
            </a:r>
          </a:p>
        </p:txBody>
      </p:sp>
      <p:sp>
        <p:nvSpPr>
          <p:cNvPr id="16" name="TextBox 15"/>
          <p:cNvSpPr txBox="1"/>
          <p:nvPr/>
        </p:nvSpPr>
        <p:spPr>
          <a:xfrm>
            <a:off x="6327648" y="3154680"/>
            <a:ext cx="2651760" cy="274320"/>
          </a:xfrm>
          <a:prstGeom prst="rect">
            <a:avLst/>
          </a:prstGeom>
          <a:noFill/>
        </p:spPr>
        <p:txBody>
          <a:bodyPr wrap="square">
            <a:spAutoFit/>
          </a:bodyPr>
          <a:lstStyle/>
          <a:p>
            <a:pPr algn="l"/>
            <a:r>
              <a:rPr sz="1000" b="0">
                <a:solidFill>
                  <a:srgbClr val="94A3B8"/>
                </a:solidFill>
                <a:latin typeface="Calibri"/>
              </a:rPr>
              <a:t>Source: preprocess_data.R</a:t>
            </a:r>
          </a:p>
        </p:txBody>
      </p:sp>
      <p:sp>
        <p:nvSpPr>
          <p:cNvPr id="17" name="Rectangle 16"/>
          <p:cNvSpPr/>
          <p:nvPr/>
        </p:nvSpPr>
        <p:spPr>
          <a:xfrm>
            <a:off x="9189720" y="1005840"/>
            <a:ext cx="2834640" cy="25603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1097280"/>
            <a:ext cx="2651760" cy="411480"/>
          </a:xfrm>
          <a:prstGeom prst="rect">
            <a:avLst/>
          </a:prstGeom>
          <a:noFill/>
        </p:spPr>
        <p:txBody>
          <a:bodyPr wrap="square">
            <a:spAutoFit/>
          </a:bodyPr>
          <a:lstStyle/>
          <a:p>
            <a:pPr algn="l"/>
            <a:r>
              <a:rPr sz="1300" b="1">
                <a:solidFill>
                  <a:srgbClr val="06B6D4"/>
                </a:solidFill>
                <a:latin typeface="Calibri"/>
              </a:rPr>
              <a:t>4. Correlation Heatmap</a:t>
            </a:r>
          </a:p>
        </p:txBody>
      </p:sp>
      <p:sp>
        <p:nvSpPr>
          <p:cNvPr id="19" name="TextBox 18"/>
          <p:cNvSpPr txBox="1"/>
          <p:nvPr/>
        </p:nvSpPr>
        <p:spPr>
          <a:xfrm>
            <a:off x="9299448" y="1554480"/>
            <a:ext cx="2651760" cy="914400"/>
          </a:xfrm>
          <a:prstGeom prst="rect">
            <a:avLst/>
          </a:prstGeom>
          <a:noFill/>
        </p:spPr>
        <p:txBody>
          <a:bodyPr wrap="square">
            <a:spAutoFit/>
          </a:bodyPr>
          <a:lstStyle/>
          <a:p>
            <a:pPr algn="l"/>
            <a:r>
              <a:rPr sz="1200" b="0">
                <a:solidFill>
                  <a:srgbClr val="FFFFFF"/>
                </a:solidFill>
                <a:latin typeface="Calibri"/>
              </a:rPr>
              <a:t>12×12 tile plot
green/red gradient</a:t>
            </a:r>
          </a:p>
        </p:txBody>
      </p:sp>
      <p:sp>
        <p:nvSpPr>
          <p:cNvPr id="20" name="TextBox 19"/>
          <p:cNvSpPr txBox="1"/>
          <p:nvPr/>
        </p:nvSpPr>
        <p:spPr>
          <a:xfrm>
            <a:off x="9299448" y="3154680"/>
            <a:ext cx="2651760" cy="274320"/>
          </a:xfrm>
          <a:prstGeom prst="rect">
            <a:avLst/>
          </a:prstGeom>
          <a:noFill/>
        </p:spPr>
        <p:txBody>
          <a:bodyPr wrap="square">
            <a:spAutoFit/>
          </a:bodyPr>
          <a:lstStyle/>
          <a:p>
            <a:pPr algn="l"/>
            <a:r>
              <a:rPr sz="1000" b="0">
                <a:solidFill>
                  <a:srgbClr val="94A3B8"/>
                </a:solidFill>
                <a:latin typeface="Calibri"/>
              </a:rPr>
              <a:t>Source: preprocess_data.R</a:t>
            </a:r>
          </a:p>
        </p:txBody>
      </p:sp>
      <p:sp>
        <p:nvSpPr>
          <p:cNvPr id="21" name="Rectangle 20"/>
          <p:cNvSpPr/>
          <p:nvPr/>
        </p:nvSpPr>
        <p:spPr>
          <a:xfrm>
            <a:off x="274320" y="3840480"/>
            <a:ext cx="2834640" cy="25603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931920"/>
            <a:ext cx="2651760" cy="411480"/>
          </a:xfrm>
          <a:prstGeom prst="rect">
            <a:avLst/>
          </a:prstGeom>
          <a:noFill/>
        </p:spPr>
        <p:txBody>
          <a:bodyPr wrap="square">
            <a:spAutoFit/>
          </a:bodyPr>
          <a:lstStyle/>
          <a:p>
            <a:pPr algn="l"/>
            <a:r>
              <a:rPr sz="1300" b="1">
                <a:solidFill>
                  <a:srgbClr val="06B6D4"/>
                </a:solidFill>
                <a:latin typeface="Calibri"/>
              </a:rPr>
              <a:t>5. Cluster Centroids</a:t>
            </a:r>
          </a:p>
        </p:txBody>
      </p:sp>
      <p:sp>
        <p:nvSpPr>
          <p:cNvPr id="23" name="TextBox 22"/>
          <p:cNvSpPr txBox="1"/>
          <p:nvPr/>
        </p:nvSpPr>
        <p:spPr>
          <a:xfrm>
            <a:off x="384048" y="4389120"/>
            <a:ext cx="2651760" cy="914400"/>
          </a:xfrm>
          <a:prstGeom prst="rect">
            <a:avLst/>
          </a:prstGeom>
          <a:noFill/>
        </p:spPr>
        <p:txBody>
          <a:bodyPr wrap="square">
            <a:spAutoFit/>
          </a:bodyPr>
          <a:lstStyle/>
          <a:p>
            <a:pPr algn="l"/>
            <a:r>
              <a:rPr sz="1200" b="0">
                <a:solidFill>
                  <a:srgbClr val="FFFFFF"/>
                </a:solidFill>
                <a:latin typeface="Calibri"/>
              </a:rPr>
              <a:t>Grouped bar chart
4 clusters × 12 features</a:t>
            </a:r>
          </a:p>
        </p:txBody>
      </p:sp>
      <p:sp>
        <p:nvSpPr>
          <p:cNvPr id="24" name="TextBox 23"/>
          <p:cNvSpPr txBox="1"/>
          <p:nvPr/>
        </p:nvSpPr>
        <p:spPr>
          <a:xfrm>
            <a:off x="384048" y="5989320"/>
            <a:ext cx="2651760" cy="274320"/>
          </a:xfrm>
          <a:prstGeom prst="rect">
            <a:avLst/>
          </a:prstGeom>
          <a:noFill/>
        </p:spPr>
        <p:txBody>
          <a:bodyPr wrap="square">
            <a:spAutoFit/>
          </a:bodyPr>
          <a:lstStyle/>
          <a:p>
            <a:pPr algn="l"/>
            <a:r>
              <a:rPr sz="1000" b="0">
                <a:solidFill>
                  <a:srgbClr val="94A3B8"/>
                </a:solidFill>
                <a:latin typeface="Calibri"/>
              </a:rPr>
              <a:t>Source: train_clustering.R</a:t>
            </a:r>
          </a:p>
        </p:txBody>
      </p:sp>
      <p:sp>
        <p:nvSpPr>
          <p:cNvPr id="25" name="Rectangle 24"/>
          <p:cNvSpPr/>
          <p:nvPr/>
        </p:nvSpPr>
        <p:spPr>
          <a:xfrm>
            <a:off x="3246120" y="3840480"/>
            <a:ext cx="2834640" cy="25603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5848" y="3931920"/>
            <a:ext cx="2651760" cy="411480"/>
          </a:xfrm>
          <a:prstGeom prst="rect">
            <a:avLst/>
          </a:prstGeom>
          <a:noFill/>
        </p:spPr>
        <p:txBody>
          <a:bodyPr wrap="square">
            <a:spAutoFit/>
          </a:bodyPr>
          <a:lstStyle/>
          <a:p>
            <a:pPr algn="l"/>
            <a:r>
              <a:rPr sz="1300" b="1">
                <a:solidFill>
                  <a:srgbClr val="06B6D4"/>
                </a:solidFill>
                <a:latin typeface="Calibri"/>
              </a:rPr>
              <a:t>6. Feature Importance</a:t>
            </a:r>
          </a:p>
        </p:txBody>
      </p:sp>
      <p:sp>
        <p:nvSpPr>
          <p:cNvPr id="27" name="TextBox 26"/>
          <p:cNvSpPr txBox="1"/>
          <p:nvPr/>
        </p:nvSpPr>
        <p:spPr>
          <a:xfrm>
            <a:off x="3355848" y="4389120"/>
            <a:ext cx="2651760" cy="914400"/>
          </a:xfrm>
          <a:prstGeom prst="rect">
            <a:avLst/>
          </a:prstGeom>
          <a:noFill/>
        </p:spPr>
        <p:txBody>
          <a:bodyPr wrap="square">
            <a:spAutoFit/>
          </a:bodyPr>
          <a:lstStyle/>
          <a:p>
            <a:pPr algn="l"/>
            <a:r>
              <a:rPr sz="1200" b="0">
                <a:solidFill>
                  <a:srgbClr val="FFFFFF"/>
                </a:solidFill>
                <a:latin typeface="Calibri"/>
              </a:rPr>
              <a:t>%IncMSE bar chart
16 features ranked</a:t>
            </a:r>
          </a:p>
        </p:txBody>
      </p:sp>
      <p:sp>
        <p:nvSpPr>
          <p:cNvPr id="28" name="TextBox 27"/>
          <p:cNvSpPr txBox="1"/>
          <p:nvPr/>
        </p:nvSpPr>
        <p:spPr>
          <a:xfrm>
            <a:off x="3355848" y="5989320"/>
            <a:ext cx="2651760" cy="274320"/>
          </a:xfrm>
          <a:prstGeom prst="rect">
            <a:avLst/>
          </a:prstGeom>
          <a:noFill/>
        </p:spPr>
        <p:txBody>
          <a:bodyPr wrap="square">
            <a:spAutoFit/>
          </a:bodyPr>
          <a:lstStyle/>
          <a:p>
            <a:pPr algn="l"/>
            <a:r>
              <a:rPr sz="1000" b="0">
                <a:solidFill>
                  <a:srgbClr val="94A3B8"/>
                </a:solidFill>
                <a:latin typeface="Calibri"/>
              </a:rPr>
              <a:t>Source: train_prediction.R</a:t>
            </a:r>
          </a:p>
        </p:txBody>
      </p:sp>
      <p:sp>
        <p:nvSpPr>
          <p:cNvPr id="29" name="Rectangle 28"/>
          <p:cNvSpPr/>
          <p:nvPr/>
        </p:nvSpPr>
        <p:spPr>
          <a:xfrm>
            <a:off x="6217920" y="3840480"/>
            <a:ext cx="2834640" cy="25603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27648" y="3931920"/>
            <a:ext cx="2651760" cy="411480"/>
          </a:xfrm>
          <a:prstGeom prst="rect">
            <a:avLst/>
          </a:prstGeom>
          <a:noFill/>
        </p:spPr>
        <p:txBody>
          <a:bodyPr wrap="square">
            <a:spAutoFit/>
          </a:bodyPr>
          <a:lstStyle/>
          <a:p>
            <a:pPr algn="l"/>
            <a:r>
              <a:rPr sz="1300" b="1">
                <a:solidFill>
                  <a:srgbClr val="06B6D4"/>
                </a:solidFill>
                <a:latin typeface="Calibri"/>
              </a:rPr>
              <a:t>7. Actual vs Predicted</a:t>
            </a:r>
          </a:p>
        </p:txBody>
      </p:sp>
      <p:sp>
        <p:nvSpPr>
          <p:cNvPr id="31" name="TextBox 30"/>
          <p:cNvSpPr txBox="1"/>
          <p:nvPr/>
        </p:nvSpPr>
        <p:spPr>
          <a:xfrm>
            <a:off x="6327648" y="4389120"/>
            <a:ext cx="2651760" cy="914400"/>
          </a:xfrm>
          <a:prstGeom prst="rect">
            <a:avLst/>
          </a:prstGeom>
          <a:noFill/>
        </p:spPr>
        <p:txBody>
          <a:bodyPr wrap="square">
            <a:spAutoFit/>
          </a:bodyPr>
          <a:lstStyle/>
          <a:p>
            <a:pPr algn="l"/>
            <a:r>
              <a:rPr sz="1200" b="0">
                <a:solidFill>
                  <a:srgbClr val="FFFFFF"/>
                </a:solidFill>
                <a:latin typeface="Calibri"/>
              </a:rPr>
              <a:t>Scatter + 45° red
perfect-fit line</a:t>
            </a:r>
          </a:p>
        </p:txBody>
      </p:sp>
      <p:sp>
        <p:nvSpPr>
          <p:cNvPr id="32" name="TextBox 31"/>
          <p:cNvSpPr txBox="1"/>
          <p:nvPr/>
        </p:nvSpPr>
        <p:spPr>
          <a:xfrm>
            <a:off x="6327648" y="5989320"/>
            <a:ext cx="2651760" cy="274320"/>
          </a:xfrm>
          <a:prstGeom prst="rect">
            <a:avLst/>
          </a:prstGeom>
          <a:noFill/>
        </p:spPr>
        <p:txBody>
          <a:bodyPr wrap="square">
            <a:spAutoFit/>
          </a:bodyPr>
          <a:lstStyle/>
          <a:p>
            <a:pPr algn="l"/>
            <a:r>
              <a:rPr sz="1000" b="0">
                <a:solidFill>
                  <a:srgbClr val="94A3B8"/>
                </a:solidFill>
                <a:latin typeface="Calibri"/>
              </a:rPr>
              <a:t>Source: train_prediction.R</a:t>
            </a:r>
          </a:p>
        </p:txBody>
      </p:sp>
      <p:sp>
        <p:nvSpPr>
          <p:cNvPr id="33" name="TextBox 32"/>
          <p:cNvSpPr txBox="1"/>
          <p:nvPr/>
        </p:nvSpPr>
        <p:spPr>
          <a:xfrm>
            <a:off x="365760" y="6217920"/>
            <a:ext cx="11430000" cy="365760"/>
          </a:xfrm>
          <a:prstGeom prst="rect">
            <a:avLst/>
          </a:prstGeom>
          <a:noFill/>
        </p:spPr>
        <p:txBody>
          <a:bodyPr wrap="square">
            <a:spAutoFit/>
          </a:bodyPr>
          <a:lstStyle/>
          <a:p>
            <a:pPr algn="l"/>
            <a:r>
              <a:rPr sz="1200" b="0">
                <a:solidFill>
                  <a:srgbClr val="94A3B8"/>
                </a:solidFill>
                <a:latin typeface="Calibri"/>
              </a:rPr>
              <a:t>All plots are saved to the  outputs/  directory and also served live through the Plumber API for the admin panel.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15. Reliability Tests</a:t>
            </a:r>
          </a:p>
        </p:txBody>
      </p:sp>
      <p:sp>
        <p:nvSpPr>
          <p:cNvPr id="4" name="Rectangle 3"/>
          <p:cNvSpPr/>
          <p:nvPr/>
        </p:nvSpPr>
        <p:spPr>
          <a:xfrm>
            <a:off x="274320" y="804672"/>
            <a:ext cx="11795760" cy="36576"/>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3749039"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3749039"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143000"/>
            <a:ext cx="2743200" cy="502920"/>
          </a:xfrm>
          <a:prstGeom prst="rect">
            <a:avLst/>
          </a:prstGeom>
          <a:noFill/>
        </p:spPr>
        <p:txBody>
          <a:bodyPr wrap="square">
            <a:spAutoFit/>
          </a:bodyPr>
          <a:lstStyle/>
          <a:p>
            <a:pPr algn="l"/>
            <a:r>
              <a:rPr sz="1300" b="1">
                <a:solidFill>
                  <a:srgbClr val="10B981"/>
                </a:solidFill>
                <a:latin typeface="Calibri"/>
              </a:rPr>
              <a:t>Reproducibility</a:t>
            </a:r>
          </a:p>
        </p:txBody>
      </p:sp>
      <p:sp>
        <p:nvSpPr>
          <p:cNvPr id="8" name="TextBox 7"/>
          <p:cNvSpPr txBox="1"/>
          <p:nvPr/>
        </p:nvSpPr>
        <p:spPr>
          <a:xfrm>
            <a:off x="384048" y="1645920"/>
            <a:ext cx="3566160" cy="274320"/>
          </a:xfrm>
          <a:prstGeom prst="rect">
            <a:avLst/>
          </a:prstGeom>
          <a:noFill/>
        </p:spPr>
        <p:txBody>
          <a:bodyPr wrap="square">
            <a:spAutoFit/>
          </a:bodyPr>
          <a:lstStyle/>
          <a:p>
            <a:pPr algn="l"/>
            <a:r>
              <a:rPr sz="1100" b="1">
                <a:solidFill>
                  <a:srgbClr val="94A3B8"/>
                </a:solidFill>
                <a:latin typeface="Calibri"/>
              </a:rPr>
              <a:t>set.seed(42)</a:t>
            </a:r>
          </a:p>
        </p:txBody>
      </p:sp>
      <p:sp>
        <p:nvSpPr>
          <p:cNvPr id="9" name="TextBox 8"/>
          <p:cNvSpPr txBox="1"/>
          <p:nvPr/>
        </p:nvSpPr>
        <p:spPr>
          <a:xfrm>
            <a:off x="384048" y="1965960"/>
            <a:ext cx="3566160" cy="1463040"/>
          </a:xfrm>
          <a:prstGeom prst="rect">
            <a:avLst/>
          </a:prstGeom>
          <a:noFill/>
        </p:spPr>
        <p:txBody>
          <a:bodyPr wrap="square">
            <a:spAutoFit/>
          </a:bodyPr>
          <a:lstStyle/>
          <a:p>
            <a:pPr algn="l"/>
            <a:r>
              <a:rPr sz="1150" b="0">
                <a:solidFill>
                  <a:srgbClr val="FFFFFF"/>
                </a:solidFill>
                <a:latin typeface="Calibri"/>
              </a:rPr>
              <a:t>All scripts use set.seed(42) for deterministic results.
Re-running any script produces identical models, splits,
and evaluation metrics every time.</a:t>
            </a:r>
          </a:p>
        </p:txBody>
      </p:sp>
      <p:sp>
        <p:nvSpPr>
          <p:cNvPr id="10" name="Rectangle 9"/>
          <p:cNvSpPr/>
          <p:nvPr/>
        </p:nvSpPr>
        <p:spPr>
          <a:xfrm>
            <a:off x="4206240" y="1005840"/>
            <a:ext cx="3749039"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005840"/>
            <a:ext cx="3749039"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5968" y="1143000"/>
            <a:ext cx="2743200" cy="502920"/>
          </a:xfrm>
          <a:prstGeom prst="rect">
            <a:avLst/>
          </a:prstGeom>
          <a:noFill/>
        </p:spPr>
        <p:txBody>
          <a:bodyPr wrap="square">
            <a:spAutoFit/>
          </a:bodyPr>
          <a:lstStyle/>
          <a:p>
            <a:pPr algn="l"/>
            <a:r>
              <a:rPr sz="1300" b="1">
                <a:solidFill>
                  <a:srgbClr val="4F46E5"/>
                </a:solidFill>
                <a:latin typeface="Calibri"/>
              </a:rPr>
              <a:t>Train/Test Separation</a:t>
            </a:r>
          </a:p>
        </p:txBody>
      </p:sp>
      <p:sp>
        <p:nvSpPr>
          <p:cNvPr id="13" name="TextBox 12"/>
          <p:cNvSpPr txBox="1"/>
          <p:nvPr/>
        </p:nvSpPr>
        <p:spPr>
          <a:xfrm>
            <a:off x="4315968" y="1645920"/>
            <a:ext cx="3566160" cy="274320"/>
          </a:xfrm>
          <a:prstGeom prst="rect">
            <a:avLst/>
          </a:prstGeom>
          <a:noFill/>
        </p:spPr>
        <p:txBody>
          <a:bodyPr wrap="square">
            <a:spAutoFit/>
          </a:bodyPr>
          <a:lstStyle/>
          <a:p>
            <a:pPr algn="l"/>
            <a:r>
              <a:rPr sz="1100" b="1">
                <a:solidFill>
                  <a:srgbClr val="94A3B8"/>
                </a:solidFill>
                <a:latin typeface="Calibri"/>
              </a:rPr>
              <a:t>80% / 20% split</a:t>
            </a:r>
          </a:p>
        </p:txBody>
      </p:sp>
      <p:sp>
        <p:nvSpPr>
          <p:cNvPr id="14" name="TextBox 13"/>
          <p:cNvSpPr txBox="1"/>
          <p:nvPr/>
        </p:nvSpPr>
        <p:spPr>
          <a:xfrm>
            <a:off x="4315968" y="1965960"/>
            <a:ext cx="3566160" cy="1463040"/>
          </a:xfrm>
          <a:prstGeom prst="rect">
            <a:avLst/>
          </a:prstGeom>
          <a:noFill/>
        </p:spPr>
        <p:txBody>
          <a:bodyPr wrap="square">
            <a:spAutoFit/>
          </a:bodyPr>
          <a:lstStyle/>
          <a:p>
            <a:pPr algn="l"/>
            <a:r>
              <a:rPr sz="1150" b="0">
                <a:solidFill>
                  <a:srgbClr val="FFFFFF"/>
                </a:solidFill>
                <a:latin typeface="Calibri"/>
              </a:rPr>
              <a:t>Model evaluation uses held-out test data that was never
seen during training. Prevents overfitting bias in metrics.
Stratified random sampling ensures balanced representation.</a:t>
            </a:r>
          </a:p>
        </p:txBody>
      </p:sp>
      <p:sp>
        <p:nvSpPr>
          <p:cNvPr id="15" name="Rectangle 14"/>
          <p:cNvSpPr/>
          <p:nvPr/>
        </p:nvSpPr>
        <p:spPr>
          <a:xfrm>
            <a:off x="8138160" y="1005840"/>
            <a:ext cx="3749039"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005840"/>
            <a:ext cx="3749039"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143000"/>
            <a:ext cx="2743200" cy="502920"/>
          </a:xfrm>
          <a:prstGeom prst="rect">
            <a:avLst/>
          </a:prstGeom>
          <a:noFill/>
        </p:spPr>
        <p:txBody>
          <a:bodyPr wrap="square">
            <a:spAutoFit/>
          </a:bodyPr>
          <a:lstStyle/>
          <a:p>
            <a:pPr algn="l"/>
            <a:r>
              <a:rPr sz="1300" b="1">
                <a:solidFill>
                  <a:srgbClr val="7C3AED"/>
                </a:solidFill>
                <a:latin typeface="Calibri"/>
              </a:rPr>
              <a:t>K-Means Stability</a:t>
            </a:r>
          </a:p>
        </p:txBody>
      </p:sp>
      <p:sp>
        <p:nvSpPr>
          <p:cNvPr id="18" name="TextBox 17"/>
          <p:cNvSpPr txBox="1"/>
          <p:nvPr/>
        </p:nvSpPr>
        <p:spPr>
          <a:xfrm>
            <a:off x="8247888" y="1645920"/>
            <a:ext cx="3566160" cy="274320"/>
          </a:xfrm>
          <a:prstGeom prst="rect">
            <a:avLst/>
          </a:prstGeom>
          <a:noFill/>
        </p:spPr>
        <p:txBody>
          <a:bodyPr wrap="square">
            <a:spAutoFit/>
          </a:bodyPr>
          <a:lstStyle/>
          <a:p>
            <a:pPr algn="l"/>
            <a:r>
              <a:rPr sz="1100" b="1">
                <a:solidFill>
                  <a:srgbClr val="94A3B8"/>
                </a:solidFill>
                <a:latin typeface="Calibri"/>
              </a:rPr>
              <a:t>nstart = 25</a:t>
            </a:r>
          </a:p>
        </p:txBody>
      </p:sp>
      <p:sp>
        <p:nvSpPr>
          <p:cNvPr id="19" name="TextBox 18"/>
          <p:cNvSpPr txBox="1"/>
          <p:nvPr/>
        </p:nvSpPr>
        <p:spPr>
          <a:xfrm>
            <a:off x="8247888" y="1965960"/>
            <a:ext cx="3566160" cy="1463040"/>
          </a:xfrm>
          <a:prstGeom prst="rect">
            <a:avLst/>
          </a:prstGeom>
          <a:noFill/>
        </p:spPr>
        <p:txBody>
          <a:bodyPr wrap="square">
            <a:spAutoFit/>
          </a:bodyPr>
          <a:lstStyle/>
          <a:p>
            <a:pPr algn="l"/>
            <a:r>
              <a:rPr sz="1150" b="0">
                <a:solidFill>
                  <a:srgbClr val="FFFFFF"/>
                </a:solidFill>
                <a:latin typeface="Calibri"/>
              </a:rPr>
              <a:t>25 random restarts with best-fit selection guards against
poor centroid initialization. Between-SS/Total-SS ratio
reported as cluster quality measure.</a:t>
            </a:r>
          </a:p>
        </p:txBody>
      </p:sp>
      <p:sp>
        <p:nvSpPr>
          <p:cNvPr id="20" name="Rectangle 19"/>
          <p:cNvSpPr/>
          <p:nvPr/>
        </p:nvSpPr>
        <p:spPr>
          <a:xfrm>
            <a:off x="274320" y="3840480"/>
            <a:ext cx="3749039"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840480"/>
            <a:ext cx="3749039"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977640"/>
            <a:ext cx="2743200" cy="502920"/>
          </a:xfrm>
          <a:prstGeom prst="rect">
            <a:avLst/>
          </a:prstGeom>
          <a:noFill/>
        </p:spPr>
        <p:txBody>
          <a:bodyPr wrap="square">
            <a:spAutoFit/>
          </a:bodyPr>
          <a:lstStyle/>
          <a:p>
            <a:pPr algn="l"/>
            <a:r>
              <a:rPr sz="1300" b="1">
                <a:solidFill>
                  <a:srgbClr val="F97316"/>
                </a:solidFill>
                <a:latin typeface="Calibri"/>
              </a:rPr>
              <a:t>Random Forest OOB</a:t>
            </a:r>
          </a:p>
        </p:txBody>
      </p:sp>
      <p:sp>
        <p:nvSpPr>
          <p:cNvPr id="23" name="TextBox 22"/>
          <p:cNvSpPr txBox="1"/>
          <p:nvPr/>
        </p:nvSpPr>
        <p:spPr>
          <a:xfrm>
            <a:off x="384048" y="4480560"/>
            <a:ext cx="3566160" cy="274320"/>
          </a:xfrm>
          <a:prstGeom prst="rect">
            <a:avLst/>
          </a:prstGeom>
          <a:noFill/>
        </p:spPr>
        <p:txBody>
          <a:bodyPr wrap="square">
            <a:spAutoFit/>
          </a:bodyPr>
          <a:lstStyle/>
          <a:p>
            <a:pPr algn="l"/>
            <a:r>
              <a:rPr sz="1100" b="1">
                <a:solidFill>
                  <a:srgbClr val="94A3B8"/>
                </a:solidFill>
                <a:latin typeface="Calibri"/>
              </a:rPr>
              <a:t>Out-of-Bag Error</a:t>
            </a:r>
          </a:p>
        </p:txBody>
      </p:sp>
      <p:sp>
        <p:nvSpPr>
          <p:cNvPr id="24" name="TextBox 23"/>
          <p:cNvSpPr txBox="1"/>
          <p:nvPr/>
        </p:nvSpPr>
        <p:spPr>
          <a:xfrm>
            <a:off x="384048" y="4800600"/>
            <a:ext cx="3566160" cy="1463040"/>
          </a:xfrm>
          <a:prstGeom prst="rect">
            <a:avLst/>
          </a:prstGeom>
          <a:noFill/>
        </p:spPr>
        <p:txBody>
          <a:bodyPr wrap="square">
            <a:spAutoFit/>
          </a:bodyPr>
          <a:lstStyle/>
          <a:p>
            <a:pPr algn="l"/>
            <a:r>
              <a:rPr sz="1150" b="0">
                <a:solidFill>
                  <a:srgbClr val="FFFFFF"/>
                </a:solidFill>
                <a:latin typeface="Calibri"/>
              </a:rPr>
              <a:t>randomForest() internally computes OOB error using
bootstrap samples not used in each tree. Serves as a
secondary validation independent of the test split.</a:t>
            </a:r>
          </a:p>
        </p:txBody>
      </p:sp>
      <p:sp>
        <p:nvSpPr>
          <p:cNvPr id="25" name="Rectangle 24"/>
          <p:cNvSpPr/>
          <p:nvPr/>
        </p:nvSpPr>
        <p:spPr>
          <a:xfrm>
            <a:off x="4206240" y="3840480"/>
            <a:ext cx="3749039"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06240" y="3840480"/>
            <a:ext cx="3749039" cy="640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15968" y="3977640"/>
            <a:ext cx="2743200" cy="502920"/>
          </a:xfrm>
          <a:prstGeom prst="rect">
            <a:avLst/>
          </a:prstGeom>
          <a:noFill/>
        </p:spPr>
        <p:txBody>
          <a:bodyPr wrap="square">
            <a:spAutoFit/>
          </a:bodyPr>
          <a:lstStyle/>
          <a:p>
            <a:pPr algn="l"/>
            <a:r>
              <a:rPr sz="1300" b="1">
                <a:solidFill>
                  <a:srgbClr val="DC2626"/>
                </a:solidFill>
                <a:latin typeface="Calibri"/>
              </a:rPr>
              <a:t>Feature Importance
Validation</a:t>
            </a:r>
          </a:p>
        </p:txBody>
      </p:sp>
      <p:sp>
        <p:nvSpPr>
          <p:cNvPr id="28" name="TextBox 27"/>
          <p:cNvSpPr txBox="1"/>
          <p:nvPr/>
        </p:nvSpPr>
        <p:spPr>
          <a:xfrm>
            <a:off x="4315968" y="4480560"/>
            <a:ext cx="3566160" cy="274320"/>
          </a:xfrm>
          <a:prstGeom prst="rect">
            <a:avLst/>
          </a:prstGeom>
          <a:noFill/>
        </p:spPr>
        <p:txBody>
          <a:bodyPr wrap="square">
            <a:spAutoFit/>
          </a:bodyPr>
          <a:lstStyle/>
          <a:p>
            <a:pPr algn="l"/>
            <a:r>
              <a:rPr sz="1100" b="1">
                <a:solidFill>
                  <a:srgbClr val="94A3B8"/>
                </a:solidFill>
                <a:latin typeface="Calibri"/>
              </a:rPr>
              <a:t>%IncMSE permutation</a:t>
            </a:r>
          </a:p>
        </p:txBody>
      </p:sp>
      <p:sp>
        <p:nvSpPr>
          <p:cNvPr id="29" name="TextBox 28"/>
          <p:cNvSpPr txBox="1"/>
          <p:nvPr/>
        </p:nvSpPr>
        <p:spPr>
          <a:xfrm>
            <a:off x="4315968" y="4800600"/>
            <a:ext cx="3566160" cy="1463040"/>
          </a:xfrm>
          <a:prstGeom prst="rect">
            <a:avLst/>
          </a:prstGeom>
          <a:noFill/>
        </p:spPr>
        <p:txBody>
          <a:bodyPr wrap="square">
            <a:spAutoFit/>
          </a:bodyPr>
          <a:lstStyle/>
          <a:p>
            <a:pPr algn="l"/>
            <a:r>
              <a:rPr sz="1150" b="0">
                <a:solidFill>
                  <a:srgbClr val="FFFFFF"/>
                </a:solidFill>
                <a:latin typeface="Calibri"/>
              </a:rPr>
              <a:t>Features ranked by %IncMSE — the increase in error
when each feature is randomly permuted. This is a
well-established method (Breiman, 2001).</a:t>
            </a:r>
          </a:p>
        </p:txBody>
      </p:sp>
      <p:sp>
        <p:nvSpPr>
          <p:cNvPr id="30" name="Rectangle 29"/>
          <p:cNvSpPr/>
          <p:nvPr/>
        </p:nvSpPr>
        <p:spPr>
          <a:xfrm>
            <a:off x="8138160" y="3840480"/>
            <a:ext cx="3749039" cy="260604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0" y="3840480"/>
            <a:ext cx="3749039"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3977640"/>
            <a:ext cx="2743200" cy="502920"/>
          </a:xfrm>
          <a:prstGeom prst="rect">
            <a:avLst/>
          </a:prstGeom>
          <a:noFill/>
        </p:spPr>
        <p:txBody>
          <a:bodyPr wrap="square">
            <a:spAutoFit/>
          </a:bodyPr>
          <a:lstStyle/>
          <a:p>
            <a:pPr algn="l"/>
            <a:r>
              <a:rPr sz="1300" b="1">
                <a:solidFill>
                  <a:srgbClr val="06B6D4"/>
                </a:solidFill>
                <a:latin typeface="Calibri"/>
              </a:rPr>
              <a:t>Correlation Pre-Check</a:t>
            </a:r>
          </a:p>
        </p:txBody>
      </p:sp>
      <p:sp>
        <p:nvSpPr>
          <p:cNvPr id="33" name="TextBox 32"/>
          <p:cNvSpPr txBox="1"/>
          <p:nvPr/>
        </p:nvSpPr>
        <p:spPr>
          <a:xfrm>
            <a:off x="8247888" y="4480560"/>
            <a:ext cx="3566160" cy="274320"/>
          </a:xfrm>
          <a:prstGeom prst="rect">
            <a:avLst/>
          </a:prstGeom>
          <a:noFill/>
        </p:spPr>
        <p:txBody>
          <a:bodyPr wrap="square">
            <a:spAutoFit/>
          </a:bodyPr>
          <a:lstStyle/>
          <a:p>
            <a:pPr algn="l"/>
            <a:r>
              <a:rPr sz="1100" b="1">
                <a:solidFill>
                  <a:srgbClr val="94A3B8"/>
                </a:solidFill>
                <a:latin typeface="Calibri"/>
              </a:rPr>
              <a:t>Pearson r printed</a:t>
            </a:r>
          </a:p>
        </p:txBody>
      </p:sp>
      <p:sp>
        <p:nvSpPr>
          <p:cNvPr id="34" name="TextBox 33"/>
          <p:cNvSpPr txBox="1"/>
          <p:nvPr/>
        </p:nvSpPr>
        <p:spPr>
          <a:xfrm>
            <a:off x="8247888" y="4800600"/>
            <a:ext cx="3566160" cy="1463040"/>
          </a:xfrm>
          <a:prstGeom prst="rect">
            <a:avLst/>
          </a:prstGeom>
          <a:noFill/>
        </p:spPr>
        <p:txBody>
          <a:bodyPr wrap="square">
            <a:spAutoFit/>
          </a:bodyPr>
          <a:lstStyle/>
          <a:p>
            <a:pPr algn="l"/>
            <a:r>
              <a:rPr sz="1150" b="0">
                <a:solidFill>
                  <a:srgbClr val="FFFFFF"/>
                </a:solidFill>
                <a:latin typeface="Calibri"/>
              </a:rPr>
              <a:t>Before training, each predictor's Pearson correlation
with the target is printed. Helps verify features have
expected directional relationships.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16. Discussion</a:t>
            </a:r>
          </a:p>
        </p:txBody>
      </p:sp>
      <p:sp>
        <p:nvSpPr>
          <p:cNvPr id="4" name="Rectangle 3"/>
          <p:cNvSpPr/>
          <p:nvPr/>
        </p:nvSpPr>
        <p:spPr>
          <a:xfrm>
            <a:off x="274320" y="804672"/>
            <a:ext cx="117957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05840"/>
            <a:ext cx="64008" cy="10515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060704"/>
            <a:ext cx="11338560" cy="292608"/>
          </a:xfrm>
          <a:prstGeom prst="rect">
            <a:avLst/>
          </a:prstGeom>
          <a:noFill/>
        </p:spPr>
        <p:txBody>
          <a:bodyPr wrap="square">
            <a:spAutoFit/>
          </a:bodyPr>
          <a:lstStyle/>
          <a:p>
            <a:pPr algn="l"/>
            <a:r>
              <a:rPr sz="1300" b="1">
                <a:solidFill>
                  <a:srgbClr val="C7D2FE"/>
                </a:solidFill>
                <a:latin typeface="Calibri"/>
              </a:rPr>
              <a:t>Clustering Effectiveness</a:t>
            </a:r>
          </a:p>
        </p:txBody>
      </p:sp>
      <p:sp>
        <p:nvSpPr>
          <p:cNvPr id="8" name="TextBox 7"/>
          <p:cNvSpPr txBox="1"/>
          <p:nvPr/>
        </p:nvSpPr>
        <p:spPr>
          <a:xfrm>
            <a:off x="502920" y="1371600"/>
            <a:ext cx="11338560" cy="658368"/>
          </a:xfrm>
          <a:prstGeom prst="rect">
            <a:avLst/>
          </a:prstGeom>
          <a:noFill/>
        </p:spPr>
        <p:txBody>
          <a:bodyPr wrap="square">
            <a:spAutoFit/>
          </a:bodyPr>
          <a:lstStyle/>
          <a:p>
            <a:pPr algn="l"/>
            <a:r>
              <a:rPr sz="1150" b="0">
                <a:solidFill>
                  <a:srgbClr val="FFFFFF"/>
                </a:solidFill>
                <a:latin typeface="Calibri"/>
              </a:rPr>
              <a:t>K-Means with k=4 effectively separates users into interpretable financial personas.
The "High Saver" and "Rent Burdened" clusters show the most distinct profiles, while
"Balanced Spender" represents the majority. The method works well because the feature
space (spending shares) naturally forms cluster-friendly distributions.</a:t>
            </a:r>
          </a:p>
        </p:txBody>
      </p:sp>
      <p:sp>
        <p:nvSpPr>
          <p:cNvPr id="9" name="Rectangle 8"/>
          <p:cNvSpPr/>
          <p:nvPr/>
        </p:nvSpPr>
        <p:spPr>
          <a:xfrm>
            <a:off x="274320" y="2148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148840"/>
            <a:ext cx="64008" cy="10515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03704"/>
            <a:ext cx="11338560" cy="292608"/>
          </a:xfrm>
          <a:prstGeom prst="rect">
            <a:avLst/>
          </a:prstGeom>
          <a:noFill/>
        </p:spPr>
        <p:txBody>
          <a:bodyPr wrap="square">
            <a:spAutoFit/>
          </a:bodyPr>
          <a:lstStyle/>
          <a:p>
            <a:pPr algn="l"/>
            <a:r>
              <a:rPr sz="1300" b="1">
                <a:solidFill>
                  <a:srgbClr val="C7D2FE"/>
                </a:solidFill>
                <a:latin typeface="Calibri"/>
              </a:rPr>
              <a:t>Prediction Accuracy</a:t>
            </a:r>
          </a:p>
        </p:txBody>
      </p:sp>
      <p:sp>
        <p:nvSpPr>
          <p:cNvPr id="12" name="TextBox 11"/>
          <p:cNvSpPr txBox="1"/>
          <p:nvPr/>
        </p:nvSpPr>
        <p:spPr>
          <a:xfrm>
            <a:off x="502920" y="2514600"/>
            <a:ext cx="11338560" cy="658368"/>
          </a:xfrm>
          <a:prstGeom prst="rect">
            <a:avLst/>
          </a:prstGeom>
          <a:noFill/>
        </p:spPr>
        <p:txBody>
          <a:bodyPr wrap="square">
            <a:spAutoFit/>
          </a:bodyPr>
          <a:lstStyle/>
          <a:p>
            <a:pPr algn="l"/>
            <a:r>
              <a:rPr sz="1150" b="0">
                <a:solidFill>
                  <a:srgbClr val="FFFFFF"/>
                </a:solidFill>
                <a:latin typeface="Calibri"/>
              </a:rPr>
              <a:t>Random Forest typically achieves high R² on this dataset because savings are largely
determined by Income minus total_expense — a near-linear relationship. The model's
value lies in capturing nonlinear effects of category shares and time-series trends
that a simple subtraction formula would miss.</a:t>
            </a:r>
          </a:p>
        </p:txBody>
      </p:sp>
      <p:sp>
        <p:nvSpPr>
          <p:cNvPr id="13" name="Rectangle 12"/>
          <p:cNvSpPr/>
          <p:nvPr/>
        </p:nvSpPr>
        <p:spPr>
          <a:xfrm>
            <a:off x="274320" y="3291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3291840"/>
            <a:ext cx="64008" cy="10515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346704"/>
            <a:ext cx="11338560" cy="292608"/>
          </a:xfrm>
          <a:prstGeom prst="rect">
            <a:avLst/>
          </a:prstGeom>
          <a:noFill/>
        </p:spPr>
        <p:txBody>
          <a:bodyPr wrap="square">
            <a:spAutoFit/>
          </a:bodyPr>
          <a:lstStyle/>
          <a:p>
            <a:pPr algn="l"/>
            <a:r>
              <a:rPr sz="1300" b="1">
                <a:solidFill>
                  <a:srgbClr val="C7D2FE"/>
                </a:solidFill>
                <a:latin typeface="Calibri"/>
              </a:rPr>
              <a:t>Rule-Based vs. ML Approach</a:t>
            </a:r>
          </a:p>
        </p:txBody>
      </p:sp>
      <p:sp>
        <p:nvSpPr>
          <p:cNvPr id="16" name="TextBox 15"/>
          <p:cNvSpPr txBox="1"/>
          <p:nvPr/>
        </p:nvSpPr>
        <p:spPr>
          <a:xfrm>
            <a:off x="502920" y="3657600"/>
            <a:ext cx="11338560" cy="658368"/>
          </a:xfrm>
          <a:prstGeom prst="rect">
            <a:avLst/>
          </a:prstGeom>
          <a:noFill/>
        </p:spPr>
        <p:txBody>
          <a:bodyPr wrap="square">
            <a:spAutoFit/>
          </a:bodyPr>
          <a:lstStyle/>
          <a:p>
            <a:pPr algn="l"/>
            <a:r>
              <a:rPr sz="1150" b="0">
                <a:solidFill>
                  <a:srgbClr val="FFFFFF"/>
                </a:solidFill>
                <a:latin typeface="Calibri"/>
              </a:rPr>
              <a:t>The 9-rule overspending engine provides transparency that black-box ML cannot. Users
understand why they received each flag. Combining ML personas with interpretable rules
gives the best of both worlds: automated pattern discovery + human-readable explanations.</a:t>
            </a:r>
          </a:p>
        </p:txBody>
      </p:sp>
      <p:sp>
        <p:nvSpPr>
          <p:cNvPr id="17" name="Rectangle 16"/>
          <p:cNvSpPr/>
          <p:nvPr/>
        </p:nvSpPr>
        <p:spPr>
          <a:xfrm>
            <a:off x="274320" y="4434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434840"/>
            <a:ext cx="64008" cy="10515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489703"/>
            <a:ext cx="11338560" cy="292608"/>
          </a:xfrm>
          <a:prstGeom prst="rect">
            <a:avLst/>
          </a:prstGeom>
          <a:noFill/>
        </p:spPr>
        <p:txBody>
          <a:bodyPr wrap="square">
            <a:spAutoFit/>
          </a:bodyPr>
          <a:lstStyle/>
          <a:p>
            <a:pPr algn="l"/>
            <a:r>
              <a:rPr sz="1300" b="1">
                <a:solidFill>
                  <a:srgbClr val="C7D2FE"/>
                </a:solidFill>
                <a:latin typeface="Calibri"/>
              </a:rPr>
              <a:t>Limitations</a:t>
            </a:r>
          </a:p>
        </p:txBody>
      </p:sp>
      <p:sp>
        <p:nvSpPr>
          <p:cNvPr id="20" name="TextBox 19"/>
          <p:cNvSpPr txBox="1"/>
          <p:nvPr/>
        </p:nvSpPr>
        <p:spPr>
          <a:xfrm>
            <a:off x="502920" y="4800600"/>
            <a:ext cx="11338560" cy="658368"/>
          </a:xfrm>
          <a:prstGeom prst="rect">
            <a:avLst/>
          </a:prstGeom>
          <a:noFill/>
        </p:spPr>
        <p:txBody>
          <a:bodyPr wrap="square">
            <a:spAutoFit/>
          </a:bodyPr>
          <a:lstStyle/>
          <a:p>
            <a:pPr algn="l"/>
            <a:r>
              <a:rPr sz="1150" b="0">
                <a:solidFill>
                  <a:srgbClr val="FFFFFF"/>
                </a:solidFill>
                <a:latin typeface="Calibri"/>
              </a:rPr>
              <a:t>• Simulated 6-month history may not capture real-world spending seasonality.
• Kaggle data is cross-sectional; true longitudinal panel data would improve lag features.
• K-Means assumes spherical clusters; density-based methods (DBSCAN) could find
  irregularly shaped segments. • Model generalizability untested on non-Kaggle populations.</a:t>
            </a:r>
          </a:p>
        </p:txBody>
      </p:sp>
      <p:sp>
        <p:nvSpPr>
          <p:cNvPr id="21" name="Rectangle 20"/>
          <p:cNvSpPr/>
          <p:nvPr/>
        </p:nvSpPr>
        <p:spPr>
          <a:xfrm>
            <a:off x="274320" y="5577840"/>
            <a:ext cx="11795760" cy="10515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5577840"/>
            <a:ext cx="64008" cy="10515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632703"/>
            <a:ext cx="11338560" cy="292608"/>
          </a:xfrm>
          <a:prstGeom prst="rect">
            <a:avLst/>
          </a:prstGeom>
          <a:noFill/>
        </p:spPr>
        <p:txBody>
          <a:bodyPr wrap="square">
            <a:spAutoFit/>
          </a:bodyPr>
          <a:lstStyle/>
          <a:p>
            <a:pPr algn="l"/>
            <a:r>
              <a:rPr sz="1300" b="1">
                <a:solidFill>
                  <a:srgbClr val="C7D2FE"/>
                </a:solidFill>
                <a:latin typeface="Calibri"/>
              </a:rPr>
              <a:t>Practical Impact</a:t>
            </a:r>
          </a:p>
        </p:txBody>
      </p:sp>
      <p:sp>
        <p:nvSpPr>
          <p:cNvPr id="24" name="TextBox 23"/>
          <p:cNvSpPr txBox="1"/>
          <p:nvPr/>
        </p:nvSpPr>
        <p:spPr>
          <a:xfrm>
            <a:off x="502920" y="5943600"/>
            <a:ext cx="11338560" cy="658368"/>
          </a:xfrm>
          <a:prstGeom prst="rect">
            <a:avLst/>
          </a:prstGeom>
          <a:noFill/>
        </p:spPr>
        <p:txBody>
          <a:bodyPr wrap="square">
            <a:spAutoFit/>
          </a:bodyPr>
          <a:lstStyle/>
          <a:p>
            <a:pPr algn="l"/>
            <a:r>
              <a:rPr sz="1150" b="0">
                <a:solidFill>
                  <a:srgbClr val="FFFFFF"/>
                </a:solidFill>
                <a:latin typeface="Calibri"/>
              </a:rPr>
              <a:t>Deploying via REST API bridges the gap between academic analysis and real user value.
The web application makes analytics accessible to non-technical users. Excel report
generation adds enterprise utility. This is a reproducible, deployable MVP.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17. Web Application — Deployment Overview</a:t>
            </a:r>
          </a:p>
        </p:txBody>
      </p:sp>
      <p:sp>
        <p:nvSpPr>
          <p:cNvPr id="4" name="Rectangle 3"/>
          <p:cNvSpPr/>
          <p:nvPr/>
        </p:nvSpPr>
        <p:spPr>
          <a:xfrm>
            <a:off x="274320" y="804672"/>
            <a:ext cx="117957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2103120" cy="1188720"/>
          </a:xfrm>
          <a:prstGeom prst="rect">
            <a:avLst/>
          </a:prstGeom>
          <a:solidFill>
            <a:srgbClr val="312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097280"/>
            <a:ext cx="1920240" cy="914400"/>
          </a:xfrm>
          <a:prstGeom prst="rect">
            <a:avLst/>
          </a:prstGeom>
          <a:noFill/>
        </p:spPr>
        <p:txBody>
          <a:bodyPr wrap="square">
            <a:spAutoFit/>
          </a:bodyPr>
          <a:lstStyle/>
          <a:p>
            <a:pPr algn="ctr"/>
            <a:r>
              <a:rPr sz="1200" b="0">
                <a:solidFill>
                  <a:srgbClr val="FFFFFF"/>
                </a:solidFill>
                <a:latin typeface="Calibri"/>
              </a:rPr>
              <a:t>User logs in
&amp; enters data</a:t>
            </a:r>
          </a:p>
        </p:txBody>
      </p:sp>
      <p:sp>
        <p:nvSpPr>
          <p:cNvPr id="7" name="TextBox 6"/>
          <p:cNvSpPr txBox="1"/>
          <p:nvPr/>
        </p:nvSpPr>
        <p:spPr>
          <a:xfrm>
            <a:off x="2395727" y="1417320"/>
            <a:ext cx="182880" cy="365760"/>
          </a:xfrm>
          <a:prstGeom prst="rect">
            <a:avLst/>
          </a:prstGeom>
          <a:noFill/>
        </p:spPr>
        <p:txBody>
          <a:bodyPr wrap="square">
            <a:spAutoFit/>
          </a:bodyPr>
          <a:lstStyle/>
          <a:p>
            <a:pPr algn="l"/>
            <a:r>
              <a:rPr sz="1800" b="0">
                <a:solidFill>
                  <a:srgbClr val="C7D2FE"/>
                </a:solidFill>
                <a:latin typeface="Calibri"/>
              </a:rPr>
              <a:t>→</a:t>
            </a:r>
          </a:p>
        </p:txBody>
      </p:sp>
      <p:sp>
        <p:nvSpPr>
          <p:cNvPr id="8" name="Rectangle 7"/>
          <p:cNvSpPr/>
          <p:nvPr/>
        </p:nvSpPr>
        <p:spPr>
          <a:xfrm>
            <a:off x="2578608" y="1005840"/>
            <a:ext cx="210312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70048" y="1097280"/>
            <a:ext cx="1920240" cy="914400"/>
          </a:xfrm>
          <a:prstGeom prst="rect">
            <a:avLst/>
          </a:prstGeom>
          <a:noFill/>
        </p:spPr>
        <p:txBody>
          <a:bodyPr wrap="square">
            <a:spAutoFit/>
          </a:bodyPr>
          <a:lstStyle/>
          <a:p>
            <a:pPr algn="ctr"/>
            <a:r>
              <a:rPr sz="1200" b="0">
                <a:solidFill>
                  <a:srgbClr val="FFFFFF"/>
                </a:solidFill>
                <a:latin typeface="Calibri"/>
              </a:rPr>
              <a:t>Next.js calls
Plumber REST API</a:t>
            </a:r>
          </a:p>
        </p:txBody>
      </p:sp>
      <p:sp>
        <p:nvSpPr>
          <p:cNvPr id="10" name="TextBox 9"/>
          <p:cNvSpPr txBox="1"/>
          <p:nvPr/>
        </p:nvSpPr>
        <p:spPr>
          <a:xfrm>
            <a:off x="4700016" y="1417320"/>
            <a:ext cx="182880" cy="365760"/>
          </a:xfrm>
          <a:prstGeom prst="rect">
            <a:avLst/>
          </a:prstGeom>
          <a:noFill/>
        </p:spPr>
        <p:txBody>
          <a:bodyPr wrap="square">
            <a:spAutoFit/>
          </a:bodyPr>
          <a:lstStyle/>
          <a:p>
            <a:pPr algn="l"/>
            <a:r>
              <a:rPr sz="1800" b="0">
                <a:solidFill>
                  <a:srgbClr val="C7D2FE"/>
                </a:solidFill>
                <a:latin typeface="Calibri"/>
              </a:rPr>
              <a:t>→</a:t>
            </a:r>
          </a:p>
        </p:txBody>
      </p:sp>
      <p:sp>
        <p:nvSpPr>
          <p:cNvPr id="11" name="Rectangle 10"/>
          <p:cNvSpPr/>
          <p:nvPr/>
        </p:nvSpPr>
        <p:spPr>
          <a:xfrm>
            <a:off x="4882896" y="1005840"/>
            <a:ext cx="2103120" cy="1188720"/>
          </a:xfrm>
          <a:prstGeom prst="rect">
            <a:avLst/>
          </a:prstGeom>
          <a:solidFill>
            <a:srgbClr val="312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74336" y="1097280"/>
            <a:ext cx="1920240" cy="914400"/>
          </a:xfrm>
          <a:prstGeom prst="rect">
            <a:avLst/>
          </a:prstGeom>
          <a:noFill/>
        </p:spPr>
        <p:txBody>
          <a:bodyPr wrap="square">
            <a:spAutoFit/>
          </a:bodyPr>
          <a:lstStyle/>
          <a:p>
            <a:pPr algn="ctr"/>
            <a:r>
              <a:rPr sz="1200" b="0">
                <a:solidFill>
                  <a:srgbClr val="FFFFFF"/>
                </a:solidFill>
                <a:latin typeface="Calibri"/>
              </a:rPr>
              <a:t>R computes
features &amp; ML</a:t>
            </a:r>
          </a:p>
        </p:txBody>
      </p:sp>
      <p:sp>
        <p:nvSpPr>
          <p:cNvPr id="13" name="TextBox 12"/>
          <p:cNvSpPr txBox="1"/>
          <p:nvPr/>
        </p:nvSpPr>
        <p:spPr>
          <a:xfrm>
            <a:off x="7004304" y="1417320"/>
            <a:ext cx="182880" cy="365760"/>
          </a:xfrm>
          <a:prstGeom prst="rect">
            <a:avLst/>
          </a:prstGeom>
          <a:noFill/>
        </p:spPr>
        <p:txBody>
          <a:bodyPr wrap="square">
            <a:spAutoFit/>
          </a:bodyPr>
          <a:lstStyle/>
          <a:p>
            <a:pPr algn="l"/>
            <a:r>
              <a:rPr sz="1800" b="0">
                <a:solidFill>
                  <a:srgbClr val="C7D2FE"/>
                </a:solidFill>
                <a:latin typeface="Calibri"/>
              </a:rPr>
              <a:t>→</a:t>
            </a:r>
          </a:p>
        </p:txBody>
      </p:sp>
      <p:sp>
        <p:nvSpPr>
          <p:cNvPr id="14" name="Rectangle 13"/>
          <p:cNvSpPr/>
          <p:nvPr/>
        </p:nvSpPr>
        <p:spPr>
          <a:xfrm>
            <a:off x="7187184" y="1005840"/>
            <a:ext cx="2103120" cy="11887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8624" y="1097280"/>
            <a:ext cx="1920240" cy="914400"/>
          </a:xfrm>
          <a:prstGeom prst="rect">
            <a:avLst/>
          </a:prstGeom>
          <a:noFill/>
        </p:spPr>
        <p:txBody>
          <a:bodyPr wrap="square">
            <a:spAutoFit/>
          </a:bodyPr>
          <a:lstStyle/>
          <a:p>
            <a:pPr algn="ctr"/>
            <a:r>
              <a:rPr sz="1200" b="0">
                <a:solidFill>
                  <a:srgbClr val="FFFFFF"/>
                </a:solidFill>
                <a:latin typeface="Calibri"/>
              </a:rPr>
              <a:t>JSON results
returned</a:t>
            </a:r>
          </a:p>
        </p:txBody>
      </p:sp>
      <p:sp>
        <p:nvSpPr>
          <p:cNvPr id="16" name="TextBox 15"/>
          <p:cNvSpPr txBox="1"/>
          <p:nvPr/>
        </p:nvSpPr>
        <p:spPr>
          <a:xfrm>
            <a:off x="9308592" y="1417320"/>
            <a:ext cx="182880" cy="365760"/>
          </a:xfrm>
          <a:prstGeom prst="rect">
            <a:avLst/>
          </a:prstGeom>
          <a:noFill/>
        </p:spPr>
        <p:txBody>
          <a:bodyPr wrap="square">
            <a:spAutoFit/>
          </a:bodyPr>
          <a:lstStyle/>
          <a:p>
            <a:pPr algn="l"/>
            <a:r>
              <a:rPr sz="1800" b="0">
                <a:solidFill>
                  <a:srgbClr val="C7D2FE"/>
                </a:solidFill>
                <a:latin typeface="Calibri"/>
              </a:rPr>
              <a:t>→</a:t>
            </a:r>
          </a:p>
        </p:txBody>
      </p:sp>
      <p:sp>
        <p:nvSpPr>
          <p:cNvPr id="17" name="Rectangle 16"/>
          <p:cNvSpPr/>
          <p:nvPr/>
        </p:nvSpPr>
        <p:spPr>
          <a:xfrm>
            <a:off x="9491472" y="1005840"/>
            <a:ext cx="2103120" cy="1188720"/>
          </a:xfrm>
          <a:prstGeom prst="rect">
            <a:avLst/>
          </a:prstGeom>
          <a:solidFill>
            <a:srgbClr val="312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82912" y="1097280"/>
            <a:ext cx="1920240" cy="914400"/>
          </a:xfrm>
          <a:prstGeom prst="rect">
            <a:avLst/>
          </a:prstGeom>
          <a:noFill/>
        </p:spPr>
        <p:txBody>
          <a:bodyPr wrap="square">
            <a:spAutoFit/>
          </a:bodyPr>
          <a:lstStyle/>
          <a:p>
            <a:pPr algn="ctr"/>
            <a:r>
              <a:rPr sz="1200" b="0">
                <a:solidFill>
                  <a:srgbClr val="FFFFFF"/>
                </a:solidFill>
                <a:latin typeface="Calibri"/>
              </a:rPr>
              <a:t>Frontend renders
charts &amp; advice</a:t>
            </a:r>
          </a:p>
        </p:txBody>
      </p:sp>
      <p:sp>
        <p:nvSpPr>
          <p:cNvPr id="19" name="Rectangle 18"/>
          <p:cNvSpPr/>
          <p:nvPr/>
        </p:nvSpPr>
        <p:spPr>
          <a:xfrm>
            <a:off x="274320" y="2468880"/>
            <a:ext cx="3749039" cy="19659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542032"/>
            <a:ext cx="3474720" cy="365760"/>
          </a:xfrm>
          <a:prstGeom prst="rect">
            <a:avLst/>
          </a:prstGeom>
          <a:noFill/>
        </p:spPr>
        <p:txBody>
          <a:bodyPr wrap="square">
            <a:spAutoFit/>
          </a:bodyPr>
          <a:lstStyle/>
          <a:p>
            <a:pPr algn="l"/>
            <a:r>
              <a:rPr sz="1400" b="1">
                <a:solidFill>
                  <a:srgbClr val="C7D2FE"/>
                </a:solidFill>
                <a:latin typeface="Calibri"/>
              </a:rPr>
              <a:t>Dashboard</a:t>
            </a:r>
          </a:p>
        </p:txBody>
      </p:sp>
      <p:sp>
        <p:nvSpPr>
          <p:cNvPr id="21" name="TextBox 20"/>
          <p:cNvSpPr txBox="1"/>
          <p:nvPr/>
        </p:nvSpPr>
        <p:spPr>
          <a:xfrm>
            <a:off x="411479" y="2944368"/>
            <a:ext cx="3474720" cy="1371600"/>
          </a:xfrm>
          <a:prstGeom prst="rect">
            <a:avLst/>
          </a:prstGeom>
          <a:noFill/>
        </p:spPr>
        <p:txBody>
          <a:bodyPr wrap="square">
            <a:spAutoFit/>
          </a:bodyPr>
          <a:lstStyle/>
          <a:p>
            <a:pPr algn="l"/>
            <a:r>
              <a:rPr sz="1150" b="0">
                <a:solidFill>
                  <a:srgbClr val="FFFFFF"/>
                </a:solidFill>
                <a:latin typeface="Calibri"/>
              </a:rPr>
              <a:t>Income vs. expenses overview
Recharts line &amp; pie charts
Live month-to-month comparison</a:t>
            </a:r>
          </a:p>
        </p:txBody>
      </p:sp>
      <p:sp>
        <p:nvSpPr>
          <p:cNvPr id="22" name="Rectangle 21"/>
          <p:cNvSpPr/>
          <p:nvPr/>
        </p:nvSpPr>
        <p:spPr>
          <a:xfrm>
            <a:off x="4206240" y="2468880"/>
            <a:ext cx="3749039" cy="19659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542032"/>
            <a:ext cx="3474720" cy="365760"/>
          </a:xfrm>
          <a:prstGeom prst="rect">
            <a:avLst/>
          </a:prstGeom>
          <a:noFill/>
        </p:spPr>
        <p:txBody>
          <a:bodyPr wrap="square">
            <a:spAutoFit/>
          </a:bodyPr>
          <a:lstStyle/>
          <a:p>
            <a:pPr algn="l"/>
            <a:r>
              <a:rPr sz="1400" b="1">
                <a:solidFill>
                  <a:srgbClr val="C7D2FE"/>
                </a:solidFill>
                <a:latin typeface="Calibri"/>
              </a:rPr>
              <a:t>Analysis</a:t>
            </a:r>
          </a:p>
        </p:txBody>
      </p:sp>
      <p:sp>
        <p:nvSpPr>
          <p:cNvPr id="24" name="TextBox 23"/>
          <p:cNvSpPr txBox="1"/>
          <p:nvPr/>
        </p:nvSpPr>
        <p:spPr>
          <a:xfrm>
            <a:off x="4343400" y="2944368"/>
            <a:ext cx="3474720" cy="1371600"/>
          </a:xfrm>
          <a:prstGeom prst="rect">
            <a:avLst/>
          </a:prstGeom>
          <a:noFill/>
        </p:spPr>
        <p:txBody>
          <a:bodyPr wrap="square">
            <a:spAutoFit/>
          </a:bodyPr>
          <a:lstStyle/>
          <a:p>
            <a:pPr algn="l"/>
            <a:r>
              <a:rPr sz="1150" b="0">
                <a:solidFill>
                  <a:srgbClr val="FFFFFF"/>
                </a:solidFill>
                <a:latin typeface="Calibri"/>
              </a:rPr>
              <a:t>ML cluster persona label
Financial score (0–100)
9 overspending flags
Personalized recommendations</a:t>
            </a:r>
          </a:p>
        </p:txBody>
      </p:sp>
      <p:sp>
        <p:nvSpPr>
          <p:cNvPr id="25" name="Rectangle 24"/>
          <p:cNvSpPr/>
          <p:nvPr/>
        </p:nvSpPr>
        <p:spPr>
          <a:xfrm>
            <a:off x="8138160" y="2468880"/>
            <a:ext cx="3749039" cy="19659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542032"/>
            <a:ext cx="3474720" cy="365760"/>
          </a:xfrm>
          <a:prstGeom prst="rect">
            <a:avLst/>
          </a:prstGeom>
          <a:noFill/>
        </p:spPr>
        <p:txBody>
          <a:bodyPr wrap="square">
            <a:spAutoFit/>
          </a:bodyPr>
          <a:lstStyle/>
          <a:p>
            <a:pPr algn="l"/>
            <a:r>
              <a:rPr sz="1400" b="1">
                <a:solidFill>
                  <a:srgbClr val="C7D2FE"/>
                </a:solidFill>
                <a:latin typeface="Calibri"/>
              </a:rPr>
              <a:t>Expenses</a:t>
            </a:r>
          </a:p>
        </p:txBody>
      </p:sp>
      <p:sp>
        <p:nvSpPr>
          <p:cNvPr id="27" name="TextBox 26"/>
          <p:cNvSpPr txBox="1"/>
          <p:nvPr/>
        </p:nvSpPr>
        <p:spPr>
          <a:xfrm>
            <a:off x="8275320" y="2944368"/>
            <a:ext cx="3474720" cy="1371600"/>
          </a:xfrm>
          <a:prstGeom prst="rect">
            <a:avLst/>
          </a:prstGeom>
          <a:noFill/>
        </p:spPr>
        <p:txBody>
          <a:bodyPr wrap="square">
            <a:spAutoFit/>
          </a:bodyPr>
          <a:lstStyle/>
          <a:p>
            <a:pPr algn="l"/>
            <a:r>
              <a:rPr sz="1150" b="0">
                <a:solidFill>
                  <a:srgbClr val="FFFFFF"/>
                </a:solidFill>
                <a:latin typeface="Calibri"/>
              </a:rPr>
              <a:t>Add / edit / delete expenses
Category picker with budgets
Monthly totals per category</a:t>
            </a:r>
          </a:p>
        </p:txBody>
      </p:sp>
      <p:sp>
        <p:nvSpPr>
          <p:cNvPr id="28" name="Rectangle 27"/>
          <p:cNvSpPr/>
          <p:nvPr/>
        </p:nvSpPr>
        <p:spPr>
          <a:xfrm>
            <a:off x="274320" y="4663440"/>
            <a:ext cx="3749039" cy="19659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4736592"/>
            <a:ext cx="3474720" cy="365760"/>
          </a:xfrm>
          <a:prstGeom prst="rect">
            <a:avLst/>
          </a:prstGeom>
          <a:noFill/>
        </p:spPr>
        <p:txBody>
          <a:bodyPr wrap="square">
            <a:spAutoFit/>
          </a:bodyPr>
          <a:lstStyle/>
          <a:p>
            <a:pPr algn="l"/>
            <a:r>
              <a:rPr sz="1400" b="1">
                <a:solidFill>
                  <a:srgbClr val="C7D2FE"/>
                </a:solidFill>
                <a:latin typeface="Calibri"/>
              </a:rPr>
              <a:t>Reports</a:t>
            </a:r>
          </a:p>
        </p:txBody>
      </p:sp>
      <p:sp>
        <p:nvSpPr>
          <p:cNvPr id="30" name="TextBox 29"/>
          <p:cNvSpPr txBox="1"/>
          <p:nvPr/>
        </p:nvSpPr>
        <p:spPr>
          <a:xfrm>
            <a:off x="411479" y="5138927"/>
            <a:ext cx="3474720" cy="1371600"/>
          </a:xfrm>
          <a:prstGeom prst="rect">
            <a:avLst/>
          </a:prstGeom>
          <a:noFill/>
        </p:spPr>
        <p:txBody>
          <a:bodyPr wrap="square">
            <a:spAutoFit/>
          </a:bodyPr>
          <a:lstStyle/>
          <a:p>
            <a:pPr algn="l"/>
            <a:r>
              <a:rPr sz="1150" b="0">
                <a:solidFill>
                  <a:srgbClr val="FFFFFF"/>
                </a:solidFill>
                <a:latin typeface="Calibri"/>
              </a:rPr>
              <a:t>1-click Excel download
5 sheets: summary, expenses,
analysis, charts, raw data</a:t>
            </a:r>
          </a:p>
        </p:txBody>
      </p:sp>
      <p:sp>
        <p:nvSpPr>
          <p:cNvPr id="31" name="Rectangle 30"/>
          <p:cNvSpPr/>
          <p:nvPr/>
        </p:nvSpPr>
        <p:spPr>
          <a:xfrm>
            <a:off x="4206240" y="4663440"/>
            <a:ext cx="3749039" cy="196596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43400" y="4736592"/>
            <a:ext cx="3474720" cy="365760"/>
          </a:xfrm>
          <a:prstGeom prst="rect">
            <a:avLst/>
          </a:prstGeom>
          <a:noFill/>
        </p:spPr>
        <p:txBody>
          <a:bodyPr wrap="square">
            <a:spAutoFit/>
          </a:bodyPr>
          <a:lstStyle/>
          <a:p>
            <a:pPr algn="l"/>
            <a:r>
              <a:rPr sz="1400" b="1">
                <a:solidFill>
                  <a:srgbClr val="C7D2FE"/>
                </a:solidFill>
                <a:latin typeface="Calibri"/>
              </a:rPr>
              <a:t>Admin Panel</a:t>
            </a:r>
          </a:p>
        </p:txBody>
      </p:sp>
      <p:sp>
        <p:nvSpPr>
          <p:cNvPr id="33" name="TextBox 32"/>
          <p:cNvSpPr txBox="1"/>
          <p:nvPr/>
        </p:nvSpPr>
        <p:spPr>
          <a:xfrm>
            <a:off x="4343400" y="5138927"/>
            <a:ext cx="3474720" cy="1371600"/>
          </a:xfrm>
          <a:prstGeom prst="rect">
            <a:avLst/>
          </a:prstGeom>
          <a:noFill/>
        </p:spPr>
        <p:txBody>
          <a:bodyPr wrap="square">
            <a:spAutoFit/>
          </a:bodyPr>
          <a:lstStyle/>
          <a:p>
            <a:pPr algn="l"/>
            <a:r>
              <a:rPr sz="1150" b="0">
                <a:solidFill>
                  <a:srgbClr val="FFFFFF"/>
                </a:solidFill>
                <a:latin typeface="Calibri"/>
              </a:rPr>
              <a:t>Live ggplot2 PNG charts served
User listing &amp; analytics
All 7 plots viewable in-browser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18. End-to-End Data Flow</a:t>
            </a:r>
          </a:p>
        </p:txBody>
      </p:sp>
      <p:sp>
        <p:nvSpPr>
          <p:cNvPr id="4" name="Rectangle 3"/>
          <p:cNvSpPr/>
          <p:nvPr/>
        </p:nvSpPr>
        <p:spPr>
          <a:xfrm>
            <a:off x="274320" y="804672"/>
            <a:ext cx="1179576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97280"/>
            <a:ext cx="1234440"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234440"/>
            <a:ext cx="1143000" cy="1645920"/>
          </a:xfrm>
          <a:prstGeom prst="rect">
            <a:avLst/>
          </a:prstGeom>
          <a:noFill/>
        </p:spPr>
        <p:txBody>
          <a:bodyPr wrap="square">
            <a:spAutoFit/>
          </a:bodyPr>
          <a:lstStyle/>
          <a:p>
            <a:pPr algn="ctr"/>
            <a:r>
              <a:rPr sz="1000" b="0">
                <a:solidFill>
                  <a:srgbClr val="FFFFFF"/>
                </a:solidFill>
                <a:latin typeface="Calibri"/>
              </a:rPr>
              <a:t>data.csv
(Kaggle)</a:t>
            </a:r>
          </a:p>
        </p:txBody>
      </p:sp>
      <p:sp>
        <p:nvSpPr>
          <p:cNvPr id="8" name="TextBox 7"/>
          <p:cNvSpPr txBox="1"/>
          <p:nvPr/>
        </p:nvSpPr>
        <p:spPr>
          <a:xfrm>
            <a:off x="1435608"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9" name="Rectangle 8"/>
          <p:cNvSpPr/>
          <p:nvPr/>
        </p:nvSpPr>
        <p:spPr>
          <a:xfrm>
            <a:off x="1508760"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08760" y="1097280"/>
            <a:ext cx="1234440"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1234440"/>
            <a:ext cx="1143000" cy="1645920"/>
          </a:xfrm>
          <a:prstGeom prst="rect">
            <a:avLst/>
          </a:prstGeom>
          <a:noFill/>
        </p:spPr>
        <p:txBody>
          <a:bodyPr wrap="square">
            <a:spAutoFit/>
          </a:bodyPr>
          <a:lstStyle/>
          <a:p>
            <a:pPr algn="ctr"/>
            <a:r>
              <a:rPr sz="1000" b="0">
                <a:solidFill>
                  <a:srgbClr val="FFFFFF"/>
                </a:solidFill>
                <a:latin typeface="Calibri"/>
              </a:rPr>
              <a:t>preprocess
_data.R</a:t>
            </a:r>
          </a:p>
        </p:txBody>
      </p:sp>
      <p:sp>
        <p:nvSpPr>
          <p:cNvPr id="12" name="TextBox 11"/>
          <p:cNvSpPr txBox="1"/>
          <p:nvPr/>
        </p:nvSpPr>
        <p:spPr>
          <a:xfrm>
            <a:off x="2761488"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13" name="Rectangle 12"/>
          <p:cNvSpPr/>
          <p:nvPr/>
        </p:nvSpPr>
        <p:spPr>
          <a:xfrm>
            <a:off x="2834640"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34640" y="1097280"/>
            <a:ext cx="1234440" cy="6400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1234440"/>
            <a:ext cx="1143000" cy="1645920"/>
          </a:xfrm>
          <a:prstGeom prst="rect">
            <a:avLst/>
          </a:prstGeom>
          <a:noFill/>
        </p:spPr>
        <p:txBody>
          <a:bodyPr wrap="square">
            <a:spAutoFit/>
          </a:bodyPr>
          <a:lstStyle/>
          <a:p>
            <a:pPr algn="ctr"/>
            <a:r>
              <a:rPr sz="1000" b="0">
                <a:solidFill>
                  <a:srgbClr val="FFFFFF"/>
                </a:solidFill>
                <a:latin typeface="Calibri"/>
              </a:rPr>
              <a:t>features
.csv</a:t>
            </a:r>
          </a:p>
        </p:txBody>
      </p:sp>
      <p:sp>
        <p:nvSpPr>
          <p:cNvPr id="16" name="TextBox 15"/>
          <p:cNvSpPr txBox="1"/>
          <p:nvPr/>
        </p:nvSpPr>
        <p:spPr>
          <a:xfrm>
            <a:off x="4087368"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17" name="Rectangle 16"/>
          <p:cNvSpPr/>
          <p:nvPr/>
        </p:nvSpPr>
        <p:spPr>
          <a:xfrm>
            <a:off x="4160520"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1097280"/>
            <a:ext cx="123444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1234440"/>
            <a:ext cx="1143000" cy="1645920"/>
          </a:xfrm>
          <a:prstGeom prst="rect">
            <a:avLst/>
          </a:prstGeom>
          <a:noFill/>
        </p:spPr>
        <p:txBody>
          <a:bodyPr wrap="square">
            <a:spAutoFit/>
          </a:bodyPr>
          <a:lstStyle/>
          <a:p>
            <a:pPr algn="ctr"/>
            <a:r>
              <a:rPr sz="1000" b="0">
                <a:solidFill>
                  <a:srgbClr val="FFFFFF"/>
                </a:solidFill>
                <a:latin typeface="Calibri"/>
              </a:rPr>
              <a:t>train
_clustering.R</a:t>
            </a:r>
          </a:p>
        </p:txBody>
      </p:sp>
      <p:sp>
        <p:nvSpPr>
          <p:cNvPr id="20" name="TextBox 19"/>
          <p:cNvSpPr txBox="1"/>
          <p:nvPr/>
        </p:nvSpPr>
        <p:spPr>
          <a:xfrm>
            <a:off x="5413248"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21" name="Rectangle 20"/>
          <p:cNvSpPr/>
          <p:nvPr/>
        </p:nvSpPr>
        <p:spPr>
          <a:xfrm>
            <a:off x="5486400"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0" y="1097280"/>
            <a:ext cx="1234440" cy="6400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1234440"/>
            <a:ext cx="1143000" cy="1645920"/>
          </a:xfrm>
          <a:prstGeom prst="rect">
            <a:avLst/>
          </a:prstGeom>
          <a:noFill/>
        </p:spPr>
        <p:txBody>
          <a:bodyPr wrap="square">
            <a:spAutoFit/>
          </a:bodyPr>
          <a:lstStyle/>
          <a:p>
            <a:pPr algn="ctr"/>
            <a:r>
              <a:rPr sz="1000" b="0">
                <a:solidFill>
                  <a:srgbClr val="FFFFFF"/>
                </a:solidFill>
                <a:latin typeface="Calibri"/>
              </a:rPr>
              <a:t>kmeans
_model.rds</a:t>
            </a:r>
          </a:p>
        </p:txBody>
      </p:sp>
      <p:sp>
        <p:nvSpPr>
          <p:cNvPr id="24" name="TextBox 23"/>
          <p:cNvSpPr txBox="1"/>
          <p:nvPr/>
        </p:nvSpPr>
        <p:spPr>
          <a:xfrm>
            <a:off x="6739128"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25" name="Rectangle 24"/>
          <p:cNvSpPr/>
          <p:nvPr/>
        </p:nvSpPr>
        <p:spPr>
          <a:xfrm>
            <a:off x="6812280"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12280" y="1097280"/>
            <a:ext cx="1234440"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1234440"/>
            <a:ext cx="1143000" cy="1645920"/>
          </a:xfrm>
          <a:prstGeom prst="rect">
            <a:avLst/>
          </a:prstGeom>
          <a:noFill/>
        </p:spPr>
        <p:txBody>
          <a:bodyPr wrap="square">
            <a:spAutoFit/>
          </a:bodyPr>
          <a:lstStyle/>
          <a:p>
            <a:pPr algn="ctr"/>
            <a:r>
              <a:rPr sz="1000" b="0">
                <a:solidFill>
                  <a:srgbClr val="FFFFFF"/>
                </a:solidFill>
                <a:latin typeface="Calibri"/>
              </a:rPr>
              <a:t>train
_prediction.R</a:t>
            </a:r>
          </a:p>
        </p:txBody>
      </p:sp>
      <p:sp>
        <p:nvSpPr>
          <p:cNvPr id="28" name="TextBox 27"/>
          <p:cNvSpPr txBox="1"/>
          <p:nvPr/>
        </p:nvSpPr>
        <p:spPr>
          <a:xfrm>
            <a:off x="8065008"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29" name="Rectangle 28"/>
          <p:cNvSpPr/>
          <p:nvPr/>
        </p:nvSpPr>
        <p:spPr>
          <a:xfrm>
            <a:off x="8138159"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59" y="1097280"/>
            <a:ext cx="1234440" cy="64008"/>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79" y="1234440"/>
            <a:ext cx="1143000" cy="1645920"/>
          </a:xfrm>
          <a:prstGeom prst="rect">
            <a:avLst/>
          </a:prstGeom>
          <a:noFill/>
        </p:spPr>
        <p:txBody>
          <a:bodyPr wrap="square">
            <a:spAutoFit/>
          </a:bodyPr>
          <a:lstStyle/>
          <a:p>
            <a:pPr algn="ctr"/>
            <a:r>
              <a:rPr sz="1000" b="0">
                <a:solidFill>
                  <a:srgbClr val="FFFFFF"/>
                </a:solidFill>
                <a:latin typeface="Calibri"/>
              </a:rPr>
              <a:t>rf_model
.rds</a:t>
            </a:r>
          </a:p>
        </p:txBody>
      </p:sp>
      <p:sp>
        <p:nvSpPr>
          <p:cNvPr id="32" name="TextBox 31"/>
          <p:cNvSpPr txBox="1"/>
          <p:nvPr/>
        </p:nvSpPr>
        <p:spPr>
          <a:xfrm>
            <a:off x="9390888"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33" name="Rectangle 32"/>
          <p:cNvSpPr/>
          <p:nvPr/>
        </p:nvSpPr>
        <p:spPr>
          <a:xfrm>
            <a:off x="9464040"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464040" y="1097280"/>
            <a:ext cx="1234440" cy="640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09760" y="1234440"/>
            <a:ext cx="1143000" cy="1645920"/>
          </a:xfrm>
          <a:prstGeom prst="rect">
            <a:avLst/>
          </a:prstGeom>
          <a:noFill/>
        </p:spPr>
        <p:txBody>
          <a:bodyPr wrap="square">
            <a:spAutoFit/>
          </a:bodyPr>
          <a:lstStyle/>
          <a:p>
            <a:pPr algn="ctr"/>
            <a:r>
              <a:rPr sz="1000" b="0">
                <a:solidFill>
                  <a:srgbClr val="FFFFFF"/>
                </a:solidFill>
                <a:latin typeface="Calibri"/>
              </a:rPr>
              <a:t>Plumber
REST API</a:t>
            </a:r>
          </a:p>
        </p:txBody>
      </p:sp>
      <p:sp>
        <p:nvSpPr>
          <p:cNvPr id="36" name="TextBox 35"/>
          <p:cNvSpPr txBox="1"/>
          <p:nvPr/>
        </p:nvSpPr>
        <p:spPr>
          <a:xfrm>
            <a:off x="10716767" y="1828800"/>
            <a:ext cx="91440" cy="320040"/>
          </a:xfrm>
          <a:prstGeom prst="rect">
            <a:avLst/>
          </a:prstGeom>
          <a:noFill/>
        </p:spPr>
        <p:txBody>
          <a:bodyPr wrap="square">
            <a:spAutoFit/>
          </a:bodyPr>
          <a:lstStyle/>
          <a:p>
            <a:pPr algn="l"/>
            <a:r>
              <a:rPr sz="1400" b="0">
                <a:solidFill>
                  <a:srgbClr val="94A3B8"/>
                </a:solidFill>
                <a:latin typeface="Calibri"/>
              </a:rPr>
              <a:t>→</a:t>
            </a:r>
          </a:p>
        </p:txBody>
      </p:sp>
      <p:sp>
        <p:nvSpPr>
          <p:cNvPr id="37" name="Rectangle 36"/>
          <p:cNvSpPr/>
          <p:nvPr/>
        </p:nvSpPr>
        <p:spPr>
          <a:xfrm>
            <a:off x="10789919" y="1097280"/>
            <a:ext cx="1234440" cy="18288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789919" y="1097280"/>
            <a:ext cx="1234440" cy="6400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35640" y="1234440"/>
            <a:ext cx="1143000" cy="1645920"/>
          </a:xfrm>
          <a:prstGeom prst="rect">
            <a:avLst/>
          </a:prstGeom>
          <a:noFill/>
        </p:spPr>
        <p:txBody>
          <a:bodyPr wrap="square">
            <a:spAutoFit/>
          </a:bodyPr>
          <a:lstStyle/>
          <a:p>
            <a:pPr algn="ctr"/>
            <a:r>
              <a:rPr sz="1000" b="0">
                <a:solidFill>
                  <a:srgbClr val="FFFFFF"/>
                </a:solidFill>
                <a:latin typeface="Calibri"/>
              </a:rPr>
              <a:t>Next.js
Frontend</a:t>
            </a:r>
          </a:p>
        </p:txBody>
      </p:sp>
      <p:sp>
        <p:nvSpPr>
          <p:cNvPr id="40" name="Rectangle 39"/>
          <p:cNvSpPr/>
          <p:nvPr/>
        </p:nvSpPr>
        <p:spPr>
          <a:xfrm>
            <a:off x="182880" y="3200400"/>
            <a:ext cx="8412480" cy="36576"/>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74320" y="3291840"/>
            <a:ext cx="7315200" cy="320040"/>
          </a:xfrm>
          <a:prstGeom prst="rect">
            <a:avLst/>
          </a:prstGeom>
          <a:noFill/>
        </p:spPr>
        <p:txBody>
          <a:bodyPr wrap="square">
            <a:spAutoFit/>
          </a:bodyPr>
          <a:lstStyle/>
          <a:p>
            <a:pPr algn="l"/>
            <a:r>
              <a:rPr sz="1100" b="1">
                <a:solidFill>
                  <a:srgbClr val="94A3B8"/>
                </a:solidFill>
                <a:latin typeface="Calibri"/>
              </a:rPr>
              <a:t>Offline Pipeline (run once in RStudio)</a:t>
            </a:r>
          </a:p>
        </p:txBody>
      </p:sp>
      <p:sp>
        <p:nvSpPr>
          <p:cNvPr id="42" name="Rectangle 41"/>
          <p:cNvSpPr/>
          <p:nvPr/>
        </p:nvSpPr>
        <p:spPr>
          <a:xfrm>
            <a:off x="8778240" y="3200400"/>
            <a:ext cx="3474720" cy="36576"/>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0" y="3291840"/>
            <a:ext cx="3200400" cy="320040"/>
          </a:xfrm>
          <a:prstGeom prst="rect">
            <a:avLst/>
          </a:prstGeom>
          <a:noFill/>
        </p:spPr>
        <p:txBody>
          <a:bodyPr wrap="square">
            <a:spAutoFit/>
          </a:bodyPr>
          <a:lstStyle/>
          <a:p>
            <a:pPr algn="l"/>
            <a:r>
              <a:rPr sz="1100" b="1">
                <a:solidFill>
                  <a:srgbClr val="C7D2FE"/>
                </a:solidFill>
                <a:latin typeface="Calibri"/>
              </a:rPr>
              <a:t>Live API (per user request)</a:t>
            </a:r>
          </a:p>
        </p:txBody>
      </p:sp>
      <p:sp>
        <p:nvSpPr>
          <p:cNvPr id="44" name="Rectangle 43"/>
          <p:cNvSpPr/>
          <p:nvPr/>
        </p:nvSpPr>
        <p:spPr>
          <a:xfrm>
            <a:off x="274320" y="3840480"/>
            <a:ext cx="11795760" cy="274320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31920"/>
            <a:ext cx="10972800" cy="320040"/>
          </a:xfrm>
          <a:prstGeom prst="rect">
            <a:avLst/>
          </a:prstGeom>
          <a:noFill/>
        </p:spPr>
        <p:txBody>
          <a:bodyPr wrap="square">
            <a:spAutoFit/>
          </a:bodyPr>
          <a:lstStyle/>
          <a:p>
            <a:pPr algn="l"/>
            <a:r>
              <a:rPr sz="1400" b="1">
                <a:solidFill>
                  <a:srgbClr val="10B981"/>
                </a:solidFill>
                <a:latin typeface="Calibri"/>
              </a:rPr>
              <a:t>Data at Each Stage</a:t>
            </a:r>
          </a:p>
        </p:txBody>
      </p:sp>
      <p:sp>
        <p:nvSpPr>
          <p:cNvPr id="46" name="TextBox 45"/>
          <p:cNvSpPr txBox="1"/>
          <p:nvPr/>
        </p:nvSpPr>
        <p:spPr>
          <a:xfrm>
            <a:off x="457200" y="4343400"/>
            <a:ext cx="3200400" cy="274320"/>
          </a:xfrm>
          <a:prstGeom prst="rect">
            <a:avLst/>
          </a:prstGeom>
          <a:noFill/>
        </p:spPr>
        <p:txBody>
          <a:bodyPr wrap="square">
            <a:spAutoFit/>
          </a:bodyPr>
          <a:lstStyle/>
          <a:p>
            <a:pPr algn="l"/>
            <a:r>
              <a:rPr sz="1200" b="1">
                <a:solidFill>
                  <a:srgbClr val="94A3B8"/>
                </a:solidFill>
                <a:latin typeface="Calibri"/>
              </a:rPr>
              <a:t>Raw CSV</a:t>
            </a:r>
          </a:p>
        </p:txBody>
      </p:sp>
      <p:sp>
        <p:nvSpPr>
          <p:cNvPr id="47" name="TextBox 46"/>
          <p:cNvSpPr txBox="1"/>
          <p:nvPr/>
        </p:nvSpPr>
        <p:spPr>
          <a:xfrm>
            <a:off x="3840480" y="4343400"/>
            <a:ext cx="8229600" cy="274320"/>
          </a:xfrm>
          <a:prstGeom prst="rect">
            <a:avLst/>
          </a:prstGeom>
          <a:noFill/>
        </p:spPr>
        <p:txBody>
          <a:bodyPr wrap="square">
            <a:spAutoFit/>
          </a:bodyPr>
          <a:lstStyle/>
          <a:p>
            <a:pPr algn="l"/>
            <a:r>
              <a:rPr sz="1200" b="0">
                <a:solidFill>
                  <a:srgbClr val="FFFFFF"/>
                </a:solidFill>
                <a:latin typeface="Calibri"/>
              </a:rPr>
              <a:t>15,000+ rows  ×  19 columns</a:t>
            </a:r>
          </a:p>
        </p:txBody>
      </p:sp>
      <p:sp>
        <p:nvSpPr>
          <p:cNvPr id="48" name="TextBox 47"/>
          <p:cNvSpPr txBox="1"/>
          <p:nvPr/>
        </p:nvSpPr>
        <p:spPr>
          <a:xfrm>
            <a:off x="457200" y="4663440"/>
            <a:ext cx="3200400" cy="274320"/>
          </a:xfrm>
          <a:prstGeom prst="rect">
            <a:avLst/>
          </a:prstGeom>
          <a:noFill/>
        </p:spPr>
        <p:txBody>
          <a:bodyPr wrap="square">
            <a:spAutoFit/>
          </a:bodyPr>
          <a:lstStyle/>
          <a:p>
            <a:pPr algn="l"/>
            <a:r>
              <a:rPr sz="1200" b="1">
                <a:solidFill>
                  <a:srgbClr val="94A3B8"/>
                </a:solidFill>
                <a:latin typeface="Calibri"/>
              </a:rPr>
              <a:t>After 6-month simulation</a:t>
            </a:r>
          </a:p>
        </p:txBody>
      </p:sp>
      <p:sp>
        <p:nvSpPr>
          <p:cNvPr id="49" name="TextBox 48"/>
          <p:cNvSpPr txBox="1"/>
          <p:nvPr/>
        </p:nvSpPr>
        <p:spPr>
          <a:xfrm>
            <a:off x="3840480" y="4663440"/>
            <a:ext cx="8229600" cy="274320"/>
          </a:xfrm>
          <a:prstGeom prst="rect">
            <a:avLst/>
          </a:prstGeom>
          <a:noFill/>
        </p:spPr>
        <p:txBody>
          <a:bodyPr wrap="square">
            <a:spAutoFit/>
          </a:bodyPr>
          <a:lstStyle/>
          <a:p>
            <a:pPr algn="l"/>
            <a:r>
              <a:rPr sz="1200" b="0">
                <a:solidFill>
                  <a:srgbClr val="FFFFFF"/>
                </a:solidFill>
                <a:latin typeface="Calibri"/>
              </a:rPr>
              <a:t>90,000+ rows  ×  22 columns  (user_id, month, email added)</a:t>
            </a:r>
          </a:p>
        </p:txBody>
      </p:sp>
      <p:sp>
        <p:nvSpPr>
          <p:cNvPr id="50" name="TextBox 49"/>
          <p:cNvSpPr txBox="1"/>
          <p:nvPr/>
        </p:nvSpPr>
        <p:spPr>
          <a:xfrm>
            <a:off x="457200" y="4983479"/>
            <a:ext cx="3200400" cy="274320"/>
          </a:xfrm>
          <a:prstGeom prst="rect">
            <a:avLst/>
          </a:prstGeom>
          <a:noFill/>
        </p:spPr>
        <p:txBody>
          <a:bodyPr wrap="square">
            <a:spAutoFit/>
          </a:bodyPr>
          <a:lstStyle/>
          <a:p>
            <a:pPr algn="l"/>
            <a:r>
              <a:rPr sz="1200" b="1">
                <a:solidFill>
                  <a:srgbClr val="94A3B8"/>
                </a:solidFill>
                <a:latin typeface="Calibri"/>
              </a:rPr>
              <a:t>After feature engineering</a:t>
            </a:r>
          </a:p>
        </p:txBody>
      </p:sp>
      <p:sp>
        <p:nvSpPr>
          <p:cNvPr id="51" name="TextBox 50"/>
          <p:cNvSpPr txBox="1"/>
          <p:nvPr/>
        </p:nvSpPr>
        <p:spPr>
          <a:xfrm>
            <a:off x="3840480" y="4983479"/>
            <a:ext cx="8229600" cy="274320"/>
          </a:xfrm>
          <a:prstGeom prst="rect">
            <a:avLst/>
          </a:prstGeom>
          <a:noFill/>
        </p:spPr>
        <p:txBody>
          <a:bodyPr wrap="square">
            <a:spAutoFit/>
          </a:bodyPr>
          <a:lstStyle/>
          <a:p>
            <a:pPr algn="l"/>
            <a:r>
              <a:rPr sz="1200" b="0">
                <a:solidFill>
                  <a:srgbClr val="FFFFFF"/>
                </a:solidFill>
                <a:latin typeface="Calibri"/>
              </a:rPr>
              <a:t>90,000+ rows  ×  27 columns  (shares, lags, target added)</a:t>
            </a:r>
          </a:p>
        </p:txBody>
      </p:sp>
      <p:sp>
        <p:nvSpPr>
          <p:cNvPr id="52" name="TextBox 51"/>
          <p:cNvSpPr txBox="1"/>
          <p:nvPr/>
        </p:nvSpPr>
        <p:spPr>
          <a:xfrm>
            <a:off x="457200" y="5303519"/>
            <a:ext cx="3200400" cy="274320"/>
          </a:xfrm>
          <a:prstGeom prst="rect">
            <a:avLst/>
          </a:prstGeom>
          <a:noFill/>
        </p:spPr>
        <p:txBody>
          <a:bodyPr wrap="square">
            <a:spAutoFit/>
          </a:bodyPr>
          <a:lstStyle/>
          <a:p>
            <a:pPr algn="l"/>
            <a:r>
              <a:rPr sz="1200" b="1">
                <a:solidFill>
                  <a:srgbClr val="94A3B8"/>
                </a:solidFill>
                <a:latin typeface="Calibri"/>
              </a:rPr>
              <a:t>Clustering training input</a:t>
            </a:r>
          </a:p>
        </p:txBody>
      </p:sp>
      <p:sp>
        <p:nvSpPr>
          <p:cNvPr id="53" name="TextBox 52"/>
          <p:cNvSpPr txBox="1"/>
          <p:nvPr/>
        </p:nvSpPr>
        <p:spPr>
          <a:xfrm>
            <a:off x="3840480" y="5303519"/>
            <a:ext cx="8229600" cy="274320"/>
          </a:xfrm>
          <a:prstGeom prst="rect">
            <a:avLst/>
          </a:prstGeom>
          <a:noFill/>
        </p:spPr>
        <p:txBody>
          <a:bodyPr wrap="square">
            <a:spAutoFit/>
          </a:bodyPr>
          <a:lstStyle/>
          <a:p>
            <a:pPr algn="l"/>
            <a:r>
              <a:rPr sz="1200" b="0">
                <a:solidFill>
                  <a:srgbClr val="FFFFFF"/>
                </a:solidFill>
                <a:latin typeface="Calibri"/>
              </a:rPr>
              <a:t>90,000+ rows  ×  12 features  (shares + savings_rate)</a:t>
            </a:r>
          </a:p>
        </p:txBody>
      </p:sp>
      <p:sp>
        <p:nvSpPr>
          <p:cNvPr id="54" name="TextBox 53"/>
          <p:cNvSpPr txBox="1"/>
          <p:nvPr/>
        </p:nvSpPr>
        <p:spPr>
          <a:xfrm>
            <a:off x="457200" y="5623559"/>
            <a:ext cx="3200400" cy="274320"/>
          </a:xfrm>
          <a:prstGeom prst="rect">
            <a:avLst/>
          </a:prstGeom>
          <a:noFill/>
        </p:spPr>
        <p:txBody>
          <a:bodyPr wrap="square">
            <a:spAutoFit/>
          </a:bodyPr>
          <a:lstStyle/>
          <a:p>
            <a:pPr algn="l"/>
            <a:r>
              <a:rPr sz="1200" b="1">
                <a:solidFill>
                  <a:srgbClr val="94A3B8"/>
                </a:solidFill>
                <a:latin typeface="Calibri"/>
              </a:rPr>
              <a:t>RF training input</a:t>
            </a:r>
          </a:p>
        </p:txBody>
      </p:sp>
      <p:sp>
        <p:nvSpPr>
          <p:cNvPr id="55" name="TextBox 54"/>
          <p:cNvSpPr txBox="1"/>
          <p:nvPr/>
        </p:nvSpPr>
        <p:spPr>
          <a:xfrm>
            <a:off x="3840480" y="5623559"/>
            <a:ext cx="8229600" cy="274320"/>
          </a:xfrm>
          <a:prstGeom prst="rect">
            <a:avLst/>
          </a:prstGeom>
          <a:noFill/>
        </p:spPr>
        <p:txBody>
          <a:bodyPr wrap="square">
            <a:spAutoFit/>
          </a:bodyPr>
          <a:lstStyle/>
          <a:p>
            <a:pPr algn="l"/>
            <a:r>
              <a:rPr sz="1200" b="0">
                <a:solidFill>
                  <a:srgbClr val="FFFFFF"/>
                </a:solidFill>
                <a:latin typeface="Calibri"/>
              </a:rPr>
              <a:t>~72,000 rows  ×  16 features  (NAs excluded, sampled to 15K)</a:t>
            </a:r>
          </a:p>
        </p:txBody>
      </p:sp>
      <p:sp>
        <p:nvSpPr>
          <p:cNvPr id="56" name="TextBox 55"/>
          <p:cNvSpPr txBox="1"/>
          <p:nvPr/>
        </p:nvSpPr>
        <p:spPr>
          <a:xfrm>
            <a:off x="457200" y="5943599"/>
            <a:ext cx="3200400" cy="274320"/>
          </a:xfrm>
          <a:prstGeom prst="rect">
            <a:avLst/>
          </a:prstGeom>
          <a:noFill/>
        </p:spPr>
        <p:txBody>
          <a:bodyPr wrap="square">
            <a:spAutoFit/>
          </a:bodyPr>
          <a:lstStyle/>
          <a:p>
            <a:pPr algn="l"/>
            <a:r>
              <a:rPr sz="1200" b="1">
                <a:solidFill>
                  <a:srgbClr val="94A3B8"/>
                </a:solidFill>
                <a:latin typeface="Calibri"/>
              </a:rPr>
              <a:t>Trained model files</a:t>
            </a:r>
          </a:p>
        </p:txBody>
      </p:sp>
      <p:sp>
        <p:nvSpPr>
          <p:cNvPr id="57" name="TextBox 56"/>
          <p:cNvSpPr txBox="1"/>
          <p:nvPr/>
        </p:nvSpPr>
        <p:spPr>
          <a:xfrm>
            <a:off x="3840480" y="5943599"/>
            <a:ext cx="8229600" cy="274320"/>
          </a:xfrm>
          <a:prstGeom prst="rect">
            <a:avLst/>
          </a:prstGeom>
          <a:noFill/>
        </p:spPr>
        <p:txBody>
          <a:bodyPr wrap="square">
            <a:spAutoFit/>
          </a:bodyPr>
          <a:lstStyle/>
          <a:p>
            <a:pPr algn="l"/>
            <a:r>
              <a:rPr sz="1200" b="0">
                <a:solidFill>
                  <a:srgbClr val="FFFFFF"/>
                </a:solidFill>
                <a:latin typeface="Calibri"/>
              </a:rPr>
              <a:t>kmeans_model.rds  +  scaler_params.rds  +  rf_savings_model.rds</a:t>
            </a:r>
          </a:p>
        </p:txBody>
      </p:sp>
      <p:sp>
        <p:nvSpPr>
          <p:cNvPr id="58" name="TextBox 57"/>
          <p:cNvSpPr txBox="1"/>
          <p:nvPr/>
        </p:nvSpPr>
        <p:spPr>
          <a:xfrm>
            <a:off x="457200" y="6263639"/>
            <a:ext cx="3200400" cy="274320"/>
          </a:xfrm>
          <a:prstGeom prst="rect">
            <a:avLst/>
          </a:prstGeom>
          <a:noFill/>
        </p:spPr>
        <p:txBody>
          <a:bodyPr wrap="square">
            <a:spAutoFit/>
          </a:bodyPr>
          <a:lstStyle/>
          <a:p>
            <a:pPr algn="l"/>
            <a:r>
              <a:rPr sz="1200" b="1">
                <a:solidFill>
                  <a:srgbClr val="94A3B8"/>
                </a:solidFill>
                <a:latin typeface="Calibri"/>
              </a:rPr>
              <a:t>Live API input</a:t>
            </a:r>
          </a:p>
        </p:txBody>
      </p:sp>
      <p:sp>
        <p:nvSpPr>
          <p:cNvPr id="59" name="TextBox 58"/>
          <p:cNvSpPr txBox="1"/>
          <p:nvPr/>
        </p:nvSpPr>
        <p:spPr>
          <a:xfrm>
            <a:off x="3840480" y="6263639"/>
            <a:ext cx="8229600" cy="274320"/>
          </a:xfrm>
          <a:prstGeom prst="rect">
            <a:avLst/>
          </a:prstGeom>
          <a:noFill/>
        </p:spPr>
        <p:txBody>
          <a:bodyPr wrap="square">
            <a:spAutoFit/>
          </a:bodyPr>
          <a:lstStyle/>
          <a:p>
            <a:pPr algn="l"/>
            <a:r>
              <a:rPr sz="1200" b="0">
                <a:solidFill>
                  <a:srgbClr val="FFFFFF"/>
                </a:solidFill>
                <a:latin typeface="Calibri"/>
              </a:rPr>
              <a:t>1 user feature vector per request → returns persona + prediction + flags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430000" cy="640080"/>
          </a:xfrm>
          <a:prstGeom prst="rect">
            <a:avLst/>
          </a:prstGeom>
          <a:noFill/>
        </p:spPr>
        <p:txBody>
          <a:bodyPr wrap="square">
            <a:spAutoFit/>
          </a:bodyPr>
          <a:lstStyle/>
          <a:p>
            <a:pPr algn="l"/>
            <a:r>
              <a:rPr sz="2700" b="1">
                <a:solidFill>
                  <a:srgbClr val="FFFFFF"/>
                </a:solidFill>
                <a:latin typeface="Calibri"/>
              </a:rPr>
              <a:t>19. Conclusion &amp; Suggestions</a:t>
            </a:r>
          </a:p>
        </p:txBody>
      </p:sp>
      <p:sp>
        <p:nvSpPr>
          <p:cNvPr id="4" name="Rectangle 3"/>
          <p:cNvSpPr/>
          <p:nvPr/>
        </p:nvSpPr>
        <p:spPr>
          <a:xfrm>
            <a:off x="274320" y="804672"/>
            <a:ext cx="11795760" cy="36576"/>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005840"/>
            <a:ext cx="5760720" cy="52120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78992"/>
            <a:ext cx="5486400" cy="365760"/>
          </a:xfrm>
          <a:prstGeom prst="rect">
            <a:avLst/>
          </a:prstGeom>
          <a:noFill/>
        </p:spPr>
        <p:txBody>
          <a:bodyPr wrap="square">
            <a:spAutoFit/>
          </a:bodyPr>
          <a:lstStyle/>
          <a:p>
            <a:pPr algn="l"/>
            <a:r>
              <a:rPr sz="1600" b="1">
                <a:solidFill>
                  <a:srgbClr val="C7D2FE"/>
                </a:solidFill>
                <a:latin typeface="Calibri"/>
              </a:rPr>
              <a:t>Conclusions</a:t>
            </a:r>
          </a:p>
        </p:txBody>
      </p:sp>
      <p:sp>
        <p:nvSpPr>
          <p:cNvPr id="7" name="TextBox 6"/>
          <p:cNvSpPr txBox="1"/>
          <p:nvPr/>
        </p:nvSpPr>
        <p:spPr>
          <a:xfrm>
            <a:off x="457200" y="1508760"/>
            <a:ext cx="5486400" cy="640080"/>
          </a:xfrm>
          <a:prstGeom prst="rect">
            <a:avLst/>
          </a:prstGeom>
          <a:noFill/>
        </p:spPr>
        <p:txBody>
          <a:bodyPr wrap="square">
            <a:spAutoFit/>
          </a:bodyPr>
          <a:lstStyle/>
          <a:p>
            <a:pPr algn="l"/>
            <a:r>
              <a:rPr sz="1150" b="0">
                <a:solidFill>
                  <a:srgbClr val="FFFFFF"/>
                </a:solidFill>
                <a:latin typeface="Calibri"/>
              </a:rPr>
              <a:t>1.  K-Means clustering successfully segments consumers
    into 4 distinct financial behavior personas.</a:t>
            </a:r>
          </a:p>
        </p:txBody>
      </p:sp>
      <p:sp>
        <p:nvSpPr>
          <p:cNvPr id="8" name="TextBox 7"/>
          <p:cNvSpPr txBox="1"/>
          <p:nvPr/>
        </p:nvSpPr>
        <p:spPr>
          <a:xfrm>
            <a:off x="457200" y="2020824"/>
            <a:ext cx="5486400" cy="640080"/>
          </a:xfrm>
          <a:prstGeom prst="rect">
            <a:avLst/>
          </a:prstGeom>
          <a:noFill/>
        </p:spPr>
        <p:txBody>
          <a:bodyPr wrap="square">
            <a:spAutoFit/>
          </a:bodyPr>
          <a:lstStyle/>
          <a:p>
            <a:pPr algn="l"/>
            <a:r>
              <a:rPr sz="1150" b="0">
                <a:solidFill>
                  <a:srgbClr val="FFFFFF"/>
                </a:solidFill>
                <a:latin typeface="Calibri"/>
              </a:rPr>
              <a:t>2.  Random Forest regression achieves strong predictive
    accuracy for next-month savings (high R²).</a:t>
            </a:r>
          </a:p>
        </p:txBody>
      </p:sp>
      <p:sp>
        <p:nvSpPr>
          <p:cNvPr id="9" name="TextBox 8"/>
          <p:cNvSpPr txBox="1"/>
          <p:nvPr/>
        </p:nvSpPr>
        <p:spPr>
          <a:xfrm>
            <a:off x="457200" y="2532888"/>
            <a:ext cx="5486400" cy="640080"/>
          </a:xfrm>
          <a:prstGeom prst="rect">
            <a:avLst/>
          </a:prstGeom>
          <a:noFill/>
        </p:spPr>
        <p:txBody>
          <a:bodyPr wrap="square">
            <a:spAutoFit/>
          </a:bodyPr>
          <a:lstStyle/>
          <a:p>
            <a:pPr algn="l"/>
            <a:r>
              <a:rPr sz="1150" b="0">
                <a:solidFill>
                  <a:srgbClr val="FFFFFF"/>
                </a:solidFill>
                <a:latin typeface="Calibri"/>
              </a:rPr>
              <a:t>3.  Income and total_expense are the most important
    features for savings prediction.</a:t>
            </a:r>
          </a:p>
        </p:txBody>
      </p:sp>
      <p:sp>
        <p:nvSpPr>
          <p:cNvPr id="10" name="TextBox 9"/>
          <p:cNvSpPr txBox="1"/>
          <p:nvPr/>
        </p:nvSpPr>
        <p:spPr>
          <a:xfrm>
            <a:off x="457200" y="3044952"/>
            <a:ext cx="5486400" cy="640080"/>
          </a:xfrm>
          <a:prstGeom prst="rect">
            <a:avLst/>
          </a:prstGeom>
          <a:noFill/>
        </p:spPr>
        <p:txBody>
          <a:bodyPr wrap="square">
            <a:spAutoFit/>
          </a:bodyPr>
          <a:lstStyle/>
          <a:p>
            <a:pPr algn="l"/>
            <a:r>
              <a:rPr sz="1150" b="0">
                <a:solidFill>
                  <a:srgbClr val="FFFFFF"/>
                </a:solidFill>
                <a:latin typeface="Calibri"/>
              </a:rPr>
              <a:t>4.  The 9-rule overspending engine provides interpretable,
    actionable alerts that complement ML outputs.</a:t>
            </a:r>
          </a:p>
        </p:txBody>
      </p:sp>
      <p:sp>
        <p:nvSpPr>
          <p:cNvPr id="11" name="TextBox 10"/>
          <p:cNvSpPr txBox="1"/>
          <p:nvPr/>
        </p:nvSpPr>
        <p:spPr>
          <a:xfrm>
            <a:off x="457200" y="3557016"/>
            <a:ext cx="5486400" cy="640080"/>
          </a:xfrm>
          <a:prstGeom prst="rect">
            <a:avLst/>
          </a:prstGeom>
          <a:noFill/>
        </p:spPr>
        <p:txBody>
          <a:bodyPr wrap="square">
            <a:spAutoFit/>
          </a:bodyPr>
          <a:lstStyle/>
          <a:p>
            <a:pPr algn="l"/>
            <a:r>
              <a:rPr sz="1150" b="0">
                <a:solidFill>
                  <a:srgbClr val="FFFFFF"/>
                </a:solidFill>
                <a:latin typeface="Calibri"/>
              </a:rPr>
              <a:t>5.  The Financial Health Score (0–100) provides a single
    intuitive metric summarizing financial status.</a:t>
            </a:r>
          </a:p>
        </p:txBody>
      </p:sp>
      <p:sp>
        <p:nvSpPr>
          <p:cNvPr id="12" name="TextBox 11"/>
          <p:cNvSpPr txBox="1"/>
          <p:nvPr/>
        </p:nvSpPr>
        <p:spPr>
          <a:xfrm>
            <a:off x="457200" y="4069080"/>
            <a:ext cx="5486400" cy="640080"/>
          </a:xfrm>
          <a:prstGeom prst="rect">
            <a:avLst/>
          </a:prstGeom>
          <a:noFill/>
        </p:spPr>
        <p:txBody>
          <a:bodyPr wrap="square">
            <a:spAutoFit/>
          </a:bodyPr>
          <a:lstStyle/>
          <a:p>
            <a:pPr algn="l"/>
            <a:r>
              <a:rPr sz="1150" b="0">
                <a:solidFill>
                  <a:srgbClr val="FFFFFF"/>
                </a:solidFill>
                <a:latin typeface="Calibri"/>
              </a:rPr>
              <a:t>6.  Full-stack deployment (R API + Next.js) bridges
    the gap between analytics and real user value.</a:t>
            </a:r>
          </a:p>
        </p:txBody>
      </p:sp>
      <p:sp>
        <p:nvSpPr>
          <p:cNvPr id="13" name="TextBox 12"/>
          <p:cNvSpPr txBox="1"/>
          <p:nvPr/>
        </p:nvSpPr>
        <p:spPr>
          <a:xfrm>
            <a:off x="457200" y="4581144"/>
            <a:ext cx="5486400" cy="640080"/>
          </a:xfrm>
          <a:prstGeom prst="rect">
            <a:avLst/>
          </a:prstGeom>
          <a:noFill/>
        </p:spPr>
        <p:txBody>
          <a:bodyPr wrap="square">
            <a:spAutoFit/>
          </a:bodyPr>
          <a:lstStyle/>
          <a:p>
            <a:pPr algn="l"/>
            <a:r>
              <a:rPr sz="1150" b="0">
                <a:solidFill>
                  <a:srgbClr val="FFFFFF"/>
                </a:solidFill>
                <a:latin typeface="Calibri"/>
              </a:rPr>
              <a:t>7.  All results are reproducible via set.seed(42) and
    documented diagnostic prints in every script.</a:t>
            </a:r>
          </a:p>
        </p:txBody>
      </p:sp>
      <p:sp>
        <p:nvSpPr>
          <p:cNvPr id="14" name="Rectangle 13"/>
          <p:cNvSpPr/>
          <p:nvPr/>
        </p:nvSpPr>
        <p:spPr>
          <a:xfrm>
            <a:off x="6263640" y="1005840"/>
            <a:ext cx="5623560" cy="521208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078992"/>
            <a:ext cx="5303520" cy="365760"/>
          </a:xfrm>
          <a:prstGeom prst="rect">
            <a:avLst/>
          </a:prstGeom>
          <a:noFill/>
        </p:spPr>
        <p:txBody>
          <a:bodyPr wrap="square">
            <a:spAutoFit/>
          </a:bodyPr>
          <a:lstStyle/>
          <a:p>
            <a:pPr algn="l"/>
            <a:r>
              <a:rPr sz="1600" b="1">
                <a:solidFill>
                  <a:srgbClr val="10B981"/>
                </a:solidFill>
                <a:latin typeface="Calibri"/>
              </a:rPr>
              <a:t>Suggestions for Future Work</a:t>
            </a:r>
          </a:p>
        </p:txBody>
      </p:sp>
      <p:sp>
        <p:nvSpPr>
          <p:cNvPr id="16" name="TextBox 15"/>
          <p:cNvSpPr txBox="1"/>
          <p:nvPr/>
        </p:nvSpPr>
        <p:spPr>
          <a:xfrm>
            <a:off x="6446520" y="1508760"/>
            <a:ext cx="5303520" cy="320040"/>
          </a:xfrm>
          <a:prstGeom prst="rect">
            <a:avLst/>
          </a:prstGeom>
          <a:noFill/>
        </p:spPr>
        <p:txBody>
          <a:bodyPr wrap="square">
            <a:spAutoFit/>
          </a:bodyPr>
          <a:lstStyle/>
          <a:p>
            <a:pPr algn="l"/>
            <a:r>
              <a:rPr sz="1200" b="1">
                <a:solidFill>
                  <a:srgbClr val="10B981"/>
                </a:solidFill>
                <a:latin typeface="Calibri"/>
              </a:rPr>
              <a:t>→  Real longitudinal data</a:t>
            </a:r>
          </a:p>
        </p:txBody>
      </p:sp>
      <p:sp>
        <p:nvSpPr>
          <p:cNvPr id="17" name="TextBox 16"/>
          <p:cNvSpPr txBox="1"/>
          <p:nvPr/>
        </p:nvSpPr>
        <p:spPr>
          <a:xfrm>
            <a:off x="6766560" y="1801368"/>
            <a:ext cx="5029200" cy="438912"/>
          </a:xfrm>
          <a:prstGeom prst="rect">
            <a:avLst/>
          </a:prstGeom>
          <a:noFill/>
        </p:spPr>
        <p:txBody>
          <a:bodyPr wrap="square">
            <a:spAutoFit/>
          </a:bodyPr>
          <a:lstStyle/>
          <a:p>
            <a:pPr algn="l"/>
            <a:r>
              <a:rPr sz="1100" b="0">
                <a:solidFill>
                  <a:srgbClr val="FFFFFF"/>
                </a:solidFill>
                <a:latin typeface="Calibri"/>
              </a:rPr>
              <a:t>Replace simulated 6-month history with
actual transaction panel data.</a:t>
            </a:r>
          </a:p>
        </p:txBody>
      </p:sp>
      <p:sp>
        <p:nvSpPr>
          <p:cNvPr id="18" name="TextBox 17"/>
          <p:cNvSpPr txBox="1"/>
          <p:nvPr/>
        </p:nvSpPr>
        <p:spPr>
          <a:xfrm>
            <a:off x="6446520" y="2011680"/>
            <a:ext cx="5303520" cy="320040"/>
          </a:xfrm>
          <a:prstGeom prst="rect">
            <a:avLst/>
          </a:prstGeom>
          <a:noFill/>
        </p:spPr>
        <p:txBody>
          <a:bodyPr wrap="square">
            <a:spAutoFit/>
          </a:bodyPr>
          <a:lstStyle/>
          <a:p>
            <a:pPr algn="l"/>
            <a:r>
              <a:rPr sz="1200" b="1">
                <a:solidFill>
                  <a:srgbClr val="10B981"/>
                </a:solidFill>
                <a:latin typeface="Calibri"/>
              </a:rPr>
              <a:t>→  More clusters</a:t>
            </a:r>
          </a:p>
        </p:txBody>
      </p:sp>
      <p:sp>
        <p:nvSpPr>
          <p:cNvPr id="19" name="TextBox 18"/>
          <p:cNvSpPr txBox="1"/>
          <p:nvPr/>
        </p:nvSpPr>
        <p:spPr>
          <a:xfrm>
            <a:off x="6766560" y="2304288"/>
            <a:ext cx="5029200" cy="438912"/>
          </a:xfrm>
          <a:prstGeom prst="rect">
            <a:avLst/>
          </a:prstGeom>
          <a:noFill/>
        </p:spPr>
        <p:txBody>
          <a:bodyPr wrap="square">
            <a:spAutoFit/>
          </a:bodyPr>
          <a:lstStyle/>
          <a:p>
            <a:pPr algn="l"/>
            <a:r>
              <a:rPr sz="1100" b="0">
                <a:solidFill>
                  <a:srgbClr val="FFFFFF"/>
                </a:solidFill>
                <a:latin typeface="Calibri"/>
              </a:rPr>
              <a:t>Experiment with k=5,6,7 and use silhouette
scores or elbow method for optimal k.</a:t>
            </a:r>
          </a:p>
        </p:txBody>
      </p:sp>
      <p:sp>
        <p:nvSpPr>
          <p:cNvPr id="20" name="TextBox 19"/>
          <p:cNvSpPr txBox="1"/>
          <p:nvPr/>
        </p:nvSpPr>
        <p:spPr>
          <a:xfrm>
            <a:off x="6446520" y="2514600"/>
            <a:ext cx="5303520" cy="320040"/>
          </a:xfrm>
          <a:prstGeom prst="rect">
            <a:avLst/>
          </a:prstGeom>
          <a:noFill/>
        </p:spPr>
        <p:txBody>
          <a:bodyPr wrap="square">
            <a:spAutoFit/>
          </a:bodyPr>
          <a:lstStyle/>
          <a:p>
            <a:pPr algn="l"/>
            <a:r>
              <a:rPr sz="1200" b="1">
                <a:solidFill>
                  <a:srgbClr val="10B981"/>
                </a:solidFill>
                <a:latin typeface="Calibri"/>
              </a:rPr>
              <a:t>→  Deep learning</a:t>
            </a:r>
          </a:p>
        </p:txBody>
      </p:sp>
      <p:sp>
        <p:nvSpPr>
          <p:cNvPr id="21" name="TextBox 20"/>
          <p:cNvSpPr txBox="1"/>
          <p:nvPr/>
        </p:nvSpPr>
        <p:spPr>
          <a:xfrm>
            <a:off x="6766560" y="2807208"/>
            <a:ext cx="5029200" cy="438912"/>
          </a:xfrm>
          <a:prstGeom prst="rect">
            <a:avLst/>
          </a:prstGeom>
          <a:noFill/>
        </p:spPr>
        <p:txBody>
          <a:bodyPr wrap="square">
            <a:spAutoFit/>
          </a:bodyPr>
          <a:lstStyle/>
          <a:p>
            <a:pPr algn="l"/>
            <a:r>
              <a:rPr sz="1100" b="0">
                <a:solidFill>
                  <a:srgbClr val="FFFFFF"/>
                </a:solidFill>
                <a:latin typeface="Calibri"/>
              </a:rPr>
              <a:t>Try LSTM or GRU neural networks for
time-series savings forecasting.</a:t>
            </a:r>
          </a:p>
        </p:txBody>
      </p:sp>
      <p:sp>
        <p:nvSpPr>
          <p:cNvPr id="22" name="TextBox 21"/>
          <p:cNvSpPr txBox="1"/>
          <p:nvPr/>
        </p:nvSpPr>
        <p:spPr>
          <a:xfrm>
            <a:off x="6446520" y="3017520"/>
            <a:ext cx="5303520" cy="320040"/>
          </a:xfrm>
          <a:prstGeom prst="rect">
            <a:avLst/>
          </a:prstGeom>
          <a:noFill/>
        </p:spPr>
        <p:txBody>
          <a:bodyPr wrap="square">
            <a:spAutoFit/>
          </a:bodyPr>
          <a:lstStyle/>
          <a:p>
            <a:pPr algn="l"/>
            <a:r>
              <a:rPr sz="1200" b="1">
                <a:solidFill>
                  <a:srgbClr val="10B981"/>
                </a:solidFill>
                <a:latin typeface="Calibri"/>
              </a:rPr>
              <a:t>→  Adaptive thresholds</a:t>
            </a:r>
          </a:p>
        </p:txBody>
      </p:sp>
      <p:sp>
        <p:nvSpPr>
          <p:cNvPr id="23" name="TextBox 22"/>
          <p:cNvSpPr txBox="1"/>
          <p:nvPr/>
        </p:nvSpPr>
        <p:spPr>
          <a:xfrm>
            <a:off x="6766560" y="3310127"/>
            <a:ext cx="5029200" cy="438912"/>
          </a:xfrm>
          <a:prstGeom prst="rect">
            <a:avLst/>
          </a:prstGeom>
          <a:noFill/>
        </p:spPr>
        <p:txBody>
          <a:bodyPr wrap="square">
            <a:spAutoFit/>
          </a:bodyPr>
          <a:lstStyle/>
          <a:p>
            <a:pPr algn="l"/>
            <a:r>
              <a:rPr sz="1100" b="0">
                <a:solidFill>
                  <a:srgbClr val="FFFFFF"/>
                </a:solidFill>
                <a:latin typeface="Calibri"/>
              </a:rPr>
              <a:t>Let rule thresholds adjust based on
user's income bracket or city tier.</a:t>
            </a:r>
          </a:p>
        </p:txBody>
      </p:sp>
      <p:sp>
        <p:nvSpPr>
          <p:cNvPr id="24" name="TextBox 23"/>
          <p:cNvSpPr txBox="1"/>
          <p:nvPr/>
        </p:nvSpPr>
        <p:spPr>
          <a:xfrm>
            <a:off x="6446520" y="3520439"/>
            <a:ext cx="5303520" cy="320040"/>
          </a:xfrm>
          <a:prstGeom prst="rect">
            <a:avLst/>
          </a:prstGeom>
          <a:noFill/>
        </p:spPr>
        <p:txBody>
          <a:bodyPr wrap="square">
            <a:spAutoFit/>
          </a:bodyPr>
          <a:lstStyle/>
          <a:p>
            <a:pPr algn="l"/>
            <a:r>
              <a:rPr sz="1200" b="1">
                <a:solidFill>
                  <a:srgbClr val="10B981"/>
                </a:solidFill>
                <a:latin typeface="Calibri"/>
              </a:rPr>
              <a:t>→  A/B testing</a:t>
            </a:r>
          </a:p>
        </p:txBody>
      </p:sp>
      <p:sp>
        <p:nvSpPr>
          <p:cNvPr id="25" name="TextBox 24"/>
          <p:cNvSpPr txBox="1"/>
          <p:nvPr/>
        </p:nvSpPr>
        <p:spPr>
          <a:xfrm>
            <a:off x="6766560" y="3813048"/>
            <a:ext cx="5029200" cy="438912"/>
          </a:xfrm>
          <a:prstGeom prst="rect">
            <a:avLst/>
          </a:prstGeom>
          <a:noFill/>
        </p:spPr>
        <p:txBody>
          <a:bodyPr wrap="square">
            <a:spAutoFit/>
          </a:bodyPr>
          <a:lstStyle/>
          <a:p>
            <a:pPr algn="l"/>
            <a:r>
              <a:rPr sz="1100" b="0">
                <a:solidFill>
                  <a:srgbClr val="FFFFFF"/>
                </a:solidFill>
                <a:latin typeface="Calibri"/>
              </a:rPr>
              <a:t>Test whether ML-powered recommendations
improve savings behavior vs. control group.</a:t>
            </a:r>
          </a:p>
        </p:txBody>
      </p:sp>
      <p:sp>
        <p:nvSpPr>
          <p:cNvPr id="26" name="TextBox 25"/>
          <p:cNvSpPr txBox="1"/>
          <p:nvPr/>
        </p:nvSpPr>
        <p:spPr>
          <a:xfrm>
            <a:off x="6446520" y="4023359"/>
            <a:ext cx="5303520" cy="320040"/>
          </a:xfrm>
          <a:prstGeom prst="rect">
            <a:avLst/>
          </a:prstGeom>
          <a:noFill/>
        </p:spPr>
        <p:txBody>
          <a:bodyPr wrap="square">
            <a:spAutoFit/>
          </a:bodyPr>
          <a:lstStyle/>
          <a:p>
            <a:pPr algn="l"/>
            <a:r>
              <a:rPr sz="1200" b="1">
                <a:solidFill>
                  <a:srgbClr val="10B981"/>
                </a:solidFill>
                <a:latin typeface="Calibri"/>
              </a:rPr>
              <a:t>→  Mobile app</a:t>
            </a:r>
          </a:p>
        </p:txBody>
      </p:sp>
      <p:sp>
        <p:nvSpPr>
          <p:cNvPr id="27" name="TextBox 26"/>
          <p:cNvSpPr txBox="1"/>
          <p:nvPr/>
        </p:nvSpPr>
        <p:spPr>
          <a:xfrm>
            <a:off x="6766560" y="4315968"/>
            <a:ext cx="5029200" cy="438912"/>
          </a:xfrm>
          <a:prstGeom prst="rect">
            <a:avLst/>
          </a:prstGeom>
          <a:noFill/>
        </p:spPr>
        <p:txBody>
          <a:bodyPr wrap="square">
            <a:spAutoFit/>
          </a:bodyPr>
          <a:lstStyle/>
          <a:p>
            <a:pPr algn="l"/>
            <a:r>
              <a:rPr sz="1100" b="0">
                <a:solidFill>
                  <a:srgbClr val="FFFFFF"/>
                </a:solidFill>
                <a:latin typeface="Calibri"/>
              </a:rPr>
              <a:t>Extend the web app to a React Native mobile
app with push notification alerts.</a:t>
            </a:r>
          </a:p>
        </p:txBody>
      </p:sp>
      <p:sp>
        <p:nvSpPr>
          <p:cNvPr id="28" name="TextBox 27"/>
          <p:cNvSpPr txBox="1"/>
          <p:nvPr/>
        </p:nvSpPr>
        <p:spPr>
          <a:xfrm>
            <a:off x="6446520" y="4526279"/>
            <a:ext cx="5303520" cy="320040"/>
          </a:xfrm>
          <a:prstGeom prst="rect">
            <a:avLst/>
          </a:prstGeom>
          <a:noFill/>
        </p:spPr>
        <p:txBody>
          <a:bodyPr wrap="square">
            <a:spAutoFit/>
          </a:bodyPr>
          <a:lstStyle/>
          <a:p>
            <a:pPr algn="l"/>
            <a:r>
              <a:rPr sz="1200" b="1">
                <a:solidFill>
                  <a:srgbClr val="10B981"/>
                </a:solidFill>
                <a:latin typeface="Calibri"/>
              </a:rPr>
              <a:t>→  Anomaly detection</a:t>
            </a:r>
          </a:p>
        </p:txBody>
      </p:sp>
      <p:sp>
        <p:nvSpPr>
          <p:cNvPr id="29" name="TextBox 28"/>
          <p:cNvSpPr txBox="1"/>
          <p:nvPr/>
        </p:nvSpPr>
        <p:spPr>
          <a:xfrm>
            <a:off x="6766560" y="4818888"/>
            <a:ext cx="5029200" cy="438912"/>
          </a:xfrm>
          <a:prstGeom prst="rect">
            <a:avLst/>
          </a:prstGeom>
          <a:noFill/>
        </p:spPr>
        <p:txBody>
          <a:bodyPr wrap="square">
            <a:spAutoFit/>
          </a:bodyPr>
          <a:lstStyle/>
          <a:p>
            <a:pPr algn="l"/>
            <a:r>
              <a:rPr sz="1100" b="0">
                <a:solidFill>
                  <a:srgbClr val="FFFFFF"/>
                </a:solidFill>
                <a:latin typeface="Calibri"/>
              </a:rPr>
              <a:t>Use Isolation Forest or Autoencoder for
unusual spending pattern detection.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0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3474720"/>
            <a:ext cx="1211580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1097280"/>
          </a:xfrm>
          <a:prstGeom prst="rect">
            <a:avLst/>
          </a:prstGeom>
          <a:noFill/>
        </p:spPr>
        <p:txBody>
          <a:bodyPr wrap="square">
            <a:spAutoFit/>
          </a:bodyPr>
          <a:lstStyle/>
          <a:p>
            <a:pPr algn="ctr"/>
            <a:r>
              <a:rPr sz="5200" b="1">
                <a:solidFill>
                  <a:srgbClr val="C7D2FE"/>
                </a:solidFill>
                <a:latin typeface="Calibri"/>
              </a:rPr>
              <a:t>Thank You</a:t>
            </a:r>
          </a:p>
        </p:txBody>
      </p:sp>
      <p:sp>
        <p:nvSpPr>
          <p:cNvPr id="5" name="TextBox 4"/>
          <p:cNvSpPr txBox="1"/>
          <p:nvPr/>
        </p:nvSpPr>
        <p:spPr>
          <a:xfrm>
            <a:off x="457200" y="2560320"/>
            <a:ext cx="10972800" cy="548640"/>
          </a:xfrm>
          <a:prstGeom prst="rect">
            <a:avLst/>
          </a:prstGeom>
          <a:noFill/>
        </p:spPr>
        <p:txBody>
          <a:bodyPr wrap="square">
            <a:spAutoFit/>
          </a:bodyPr>
          <a:lstStyle/>
          <a:p>
            <a:pPr algn="ctr"/>
            <a:r>
              <a:rPr sz="1800" b="0">
                <a:solidFill>
                  <a:srgbClr val="FFFFFF"/>
                </a:solidFill>
                <a:latin typeface="Calibri"/>
              </a:rPr>
              <a:t>FinTeach — Predictive Analytics for Personal Financial Health</a:t>
            </a:r>
          </a:p>
        </p:txBody>
      </p:sp>
      <p:sp>
        <p:nvSpPr>
          <p:cNvPr id="6" name="TextBox 5"/>
          <p:cNvSpPr txBox="1"/>
          <p:nvPr/>
        </p:nvSpPr>
        <p:spPr>
          <a:xfrm>
            <a:off x="457200" y="3840480"/>
            <a:ext cx="10972800" cy="548640"/>
          </a:xfrm>
          <a:prstGeom prst="rect">
            <a:avLst/>
          </a:prstGeom>
          <a:noFill/>
        </p:spPr>
        <p:txBody>
          <a:bodyPr wrap="square">
            <a:spAutoFit/>
          </a:bodyPr>
          <a:lstStyle/>
          <a:p>
            <a:pPr algn="ctr"/>
            <a:r>
              <a:rPr sz="2200" b="0">
                <a:solidFill>
                  <a:srgbClr val="FFFFFF"/>
                </a:solidFill>
                <a:latin typeface="Calibri"/>
              </a:rPr>
              <a:t>Questions &amp; Discussion</a:t>
            </a:r>
          </a:p>
        </p:txBody>
      </p:sp>
      <p:sp>
        <p:nvSpPr>
          <p:cNvPr id="7" name="Rectangle 6"/>
          <p:cNvSpPr/>
          <p:nvPr/>
        </p:nvSpPr>
        <p:spPr>
          <a:xfrm>
            <a:off x="548640" y="4754880"/>
            <a:ext cx="1783080" cy="411480"/>
          </a:xfrm>
          <a:prstGeom prst="rect">
            <a:avLst/>
          </a:prstGeom>
          <a:solidFill>
            <a:srgbClr val="312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773168"/>
            <a:ext cx="1600200" cy="365760"/>
          </a:xfrm>
          <a:prstGeom prst="rect">
            <a:avLst/>
          </a:prstGeom>
          <a:noFill/>
        </p:spPr>
        <p:txBody>
          <a:bodyPr wrap="square">
            <a:spAutoFit/>
          </a:bodyPr>
          <a:lstStyle/>
          <a:p>
            <a:pPr algn="ctr"/>
            <a:r>
              <a:rPr sz="1100" b="1">
                <a:solidFill>
                  <a:srgbClr val="FFFFFF"/>
                </a:solidFill>
                <a:latin typeface="Calibri"/>
              </a:rPr>
              <a:t>R 4.6 + Plumber</a:t>
            </a:r>
          </a:p>
        </p:txBody>
      </p:sp>
      <p:sp>
        <p:nvSpPr>
          <p:cNvPr id="9" name="Rectangle 8"/>
          <p:cNvSpPr/>
          <p:nvPr/>
        </p:nvSpPr>
        <p:spPr>
          <a:xfrm>
            <a:off x="2468880" y="4754880"/>
            <a:ext cx="178308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4773168"/>
            <a:ext cx="1600200" cy="365760"/>
          </a:xfrm>
          <a:prstGeom prst="rect">
            <a:avLst/>
          </a:prstGeom>
          <a:noFill/>
        </p:spPr>
        <p:txBody>
          <a:bodyPr wrap="square">
            <a:spAutoFit/>
          </a:bodyPr>
          <a:lstStyle/>
          <a:p>
            <a:pPr algn="ctr"/>
            <a:r>
              <a:rPr sz="1100" b="1">
                <a:solidFill>
                  <a:srgbClr val="FFFFFF"/>
                </a:solidFill>
                <a:latin typeface="Calibri"/>
              </a:rPr>
              <a:t>K-Means</a:t>
            </a:r>
          </a:p>
        </p:txBody>
      </p:sp>
      <p:sp>
        <p:nvSpPr>
          <p:cNvPr id="11" name="Rectangle 10"/>
          <p:cNvSpPr/>
          <p:nvPr/>
        </p:nvSpPr>
        <p:spPr>
          <a:xfrm>
            <a:off x="4389120" y="4754880"/>
            <a:ext cx="178308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4773168"/>
            <a:ext cx="1600200" cy="365760"/>
          </a:xfrm>
          <a:prstGeom prst="rect">
            <a:avLst/>
          </a:prstGeom>
          <a:noFill/>
        </p:spPr>
        <p:txBody>
          <a:bodyPr wrap="square">
            <a:spAutoFit/>
          </a:bodyPr>
          <a:lstStyle/>
          <a:p>
            <a:pPr algn="ctr"/>
            <a:r>
              <a:rPr sz="1100" b="1">
                <a:solidFill>
                  <a:srgbClr val="FFFFFF"/>
                </a:solidFill>
                <a:latin typeface="Calibri"/>
              </a:rPr>
              <a:t>Random Forest</a:t>
            </a:r>
          </a:p>
        </p:txBody>
      </p:sp>
      <p:sp>
        <p:nvSpPr>
          <p:cNvPr id="13" name="Rectangle 12"/>
          <p:cNvSpPr/>
          <p:nvPr/>
        </p:nvSpPr>
        <p:spPr>
          <a:xfrm>
            <a:off x="6309360" y="4754880"/>
            <a:ext cx="1783080"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773168"/>
            <a:ext cx="1600200" cy="365760"/>
          </a:xfrm>
          <a:prstGeom prst="rect">
            <a:avLst/>
          </a:prstGeom>
          <a:noFill/>
        </p:spPr>
        <p:txBody>
          <a:bodyPr wrap="square">
            <a:spAutoFit/>
          </a:bodyPr>
          <a:lstStyle/>
          <a:p>
            <a:pPr algn="ctr"/>
            <a:r>
              <a:rPr sz="1100" b="1">
                <a:solidFill>
                  <a:srgbClr val="FFFFFF"/>
                </a:solidFill>
                <a:latin typeface="Calibri"/>
              </a:rPr>
              <a:t>9 Rules Engine</a:t>
            </a:r>
          </a:p>
        </p:txBody>
      </p:sp>
      <p:sp>
        <p:nvSpPr>
          <p:cNvPr id="15" name="Rectangle 14"/>
          <p:cNvSpPr/>
          <p:nvPr/>
        </p:nvSpPr>
        <p:spPr>
          <a:xfrm>
            <a:off x="8229600" y="4754880"/>
            <a:ext cx="178308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4773168"/>
            <a:ext cx="1600200" cy="365760"/>
          </a:xfrm>
          <a:prstGeom prst="rect">
            <a:avLst/>
          </a:prstGeom>
          <a:noFill/>
        </p:spPr>
        <p:txBody>
          <a:bodyPr wrap="square">
            <a:spAutoFit/>
          </a:bodyPr>
          <a:lstStyle/>
          <a:p>
            <a:pPr algn="ctr"/>
            <a:r>
              <a:rPr sz="1100" b="1">
                <a:solidFill>
                  <a:srgbClr val="FFFFFF"/>
                </a:solidFill>
                <a:latin typeface="Calibri"/>
              </a:rPr>
              <a:t>ggplot2</a:t>
            </a:r>
          </a:p>
        </p:txBody>
      </p:sp>
      <p:sp>
        <p:nvSpPr>
          <p:cNvPr id="17" name="Rectangle 16"/>
          <p:cNvSpPr/>
          <p:nvPr/>
        </p:nvSpPr>
        <p:spPr>
          <a:xfrm>
            <a:off x="10149840" y="4754880"/>
            <a:ext cx="1783080" cy="411480"/>
          </a:xfrm>
          <a:prstGeom prst="rect">
            <a:avLst/>
          </a:prstGeom>
          <a:solidFill>
            <a:srgbClr val="312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0" y="4773168"/>
            <a:ext cx="1600200" cy="365760"/>
          </a:xfrm>
          <a:prstGeom prst="rect">
            <a:avLst/>
          </a:prstGeom>
          <a:noFill/>
        </p:spPr>
        <p:txBody>
          <a:bodyPr wrap="square">
            <a:spAutoFit/>
          </a:bodyPr>
          <a:lstStyle/>
          <a:p>
            <a:pPr algn="ctr"/>
            <a:r>
              <a:rPr sz="1100" b="1">
                <a:solidFill>
                  <a:srgbClr val="FFFFFF"/>
                </a:solidFill>
                <a:latin typeface="Calibri"/>
              </a:rPr>
              <a:t>Next.js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